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3" r:id="rId14"/>
    <p:sldId id="268" r:id="rId15"/>
    <p:sldId id="269" r:id="rId16"/>
    <p:sldId id="270" r:id="rId17"/>
    <p:sldId id="271" r:id="rId18"/>
    <p:sldId id="272" r:id="rId19"/>
    <p:sldId id="274" r:id="rId20"/>
    <p:sldId id="284" r:id="rId21"/>
    <p:sldId id="286" r:id="rId22"/>
    <p:sldId id="288" r:id="rId23"/>
    <p:sldId id="285" r:id="rId24"/>
    <p:sldId id="287" r:id="rId25"/>
    <p:sldId id="281" r:id="rId26"/>
    <p:sldId id="282" r:id="rId27"/>
  </p:sldIdLst>
  <p:sldSz cx="12192000" cy="6858000"/>
  <p:notesSz cx="7559675" cy="10691813"/>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73"/>
    <p:restoredTop sz="91822"/>
  </p:normalViewPr>
  <p:slideViewPr>
    <p:cSldViewPr snapToGrid="0">
      <p:cViewPr varScale="1">
        <p:scale>
          <a:sx n="115" d="100"/>
          <a:sy n="115" d="100"/>
        </p:scale>
        <p:origin x="1408"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Lai" userId="2a5147f875e28a6c" providerId="LiveId" clId="{A196B8D3-0F41-5880-89EE-3F6E5C586C5D}"/>
    <pc:docChg chg="delSld">
      <pc:chgData name="Hung Lai" userId="2a5147f875e28a6c" providerId="LiveId" clId="{A196B8D3-0F41-5880-89EE-3F6E5C586C5D}" dt="2026-01-14T15:53:40.646" v="0" actId="2696"/>
      <pc:docMkLst>
        <pc:docMk/>
      </pc:docMkLst>
      <pc:sldChg chg="del">
        <pc:chgData name="Hung Lai" userId="2a5147f875e28a6c" providerId="LiveId" clId="{A196B8D3-0F41-5880-89EE-3F6E5C586C5D}" dt="2026-01-14T15:53:40.646" v="0" actId="2696"/>
        <pc:sldMkLst>
          <pc:docMk/>
          <pc:sldMk cId="0"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4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4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46"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47"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48"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62137B6E-73CD-4FB7-9D24-90B4FCFA844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vi.wikipedia.org/wiki/%C4%90%E1%BB%93_h%E1%BB%8Da_m%C3%A1y_t%C3%ADnh" TargetMode="External"/><Relationship Id="rId7" Type="http://schemas.openxmlformats.org/officeDocument/2006/relationships/hyperlink" Target="https://vi.wikipedia.org/wiki/Bitmap"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vi.wikipedia.org/wiki/Phim_ho%E1%BA%A1t_h%C3%ACnh" TargetMode="External"/><Relationship Id="rId5" Type="http://schemas.openxmlformats.org/officeDocument/2006/relationships/hyperlink" Target="https://vi.wikipedia.org/wiki/Kh%C3%B4ng_gian_hai_chi%E1%BB%81u" TargetMode="External"/><Relationship Id="rId4" Type="http://schemas.openxmlformats.org/officeDocument/2006/relationships/hyperlink" Target="https://vi.wikipedia.org/wiki/H%C3%ACnh_%E1%BA%A3nh"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unity3d.com/Packages/com.unity.entities@0.1/manual/ecs_components.html"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docs.unity3d.com/ScriptReference/Component.html" TargetMode="External"/><Relationship Id="rId4" Type="http://schemas.openxmlformats.org/officeDocument/2006/relationships/hyperlink" Target="https://www.kodeco.com/7630142-entity-component-system-for-unity-getting-started"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unity3d.com/ScriptReference/Renderer.html"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docs.unity3d.com/ScriptReference/Rigidbody.html" TargetMode="External"/><Relationship Id="rId4" Type="http://schemas.openxmlformats.org/officeDocument/2006/relationships/hyperlink" Target="https://docs.unity3d.com/560/Documentation/Manual/CollidersOverview.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noRot="1" noChangeAspect="1"/>
          </p:cNvSpPr>
          <p:nvPr>
            <p:ph type="sldImg"/>
          </p:nvPr>
        </p:nvSpPr>
        <p:spPr>
          <a:xfrm>
            <a:off x="219075" y="812800"/>
            <a:ext cx="7113588" cy="4002088"/>
          </a:xfrm>
          <a:prstGeom prst="rect">
            <a:avLst/>
          </a:prstGeom>
          <a:ln w="0">
            <a:noFill/>
          </a:ln>
        </p:spPr>
      </p:sp>
      <p:sp>
        <p:nvSpPr>
          <p:cNvPr id="166" name="PlaceHolder 2"/>
          <p:cNvSpPr>
            <a:spLocks noGrp="1"/>
          </p:cNvSpPr>
          <p:nvPr>
            <p:ph type="body"/>
          </p:nvPr>
        </p:nvSpPr>
        <p:spPr>
          <a:xfrm>
            <a:off x="756000" y="5078520"/>
            <a:ext cx="6040800" cy="480420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ECS is a framework / software architectural </a:t>
            </a: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r>
              <a:rPr lang="en-US" sz="2000" b="0" strike="noStrike" spc="-1">
                <a:solidFill>
                  <a:srgbClr val="000000"/>
                </a:solidFill>
                <a:latin typeface="Arial"/>
              </a:rPr>
              <a:t>https://docs.unity3d.com/Packages/com.unity.entities@0.17/manual/index.html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219075" y="812800"/>
            <a:ext cx="7113588" cy="4002088"/>
          </a:xfrm>
          <a:prstGeom prst="rect">
            <a:avLst/>
          </a:prstGeom>
          <a:ln w="0">
            <a:noFill/>
          </a:ln>
        </p:spPr>
      </p:sp>
      <p:sp>
        <p:nvSpPr>
          <p:cNvPr id="168" name="PlaceHolder 2"/>
          <p:cNvSpPr>
            <a:spLocks noGrp="1"/>
          </p:cNvSpPr>
          <p:nvPr>
            <p:ph type="body"/>
          </p:nvPr>
        </p:nvSpPr>
        <p:spPr>
          <a:xfrm>
            <a:off x="756000" y="5078520"/>
            <a:ext cx="6040800" cy="4804200"/>
          </a:xfrm>
          <a:prstGeom prst="rect">
            <a:avLst/>
          </a:prstGeom>
          <a:noFill/>
          <a:ln w="0">
            <a:noFill/>
          </a:ln>
        </p:spPr>
        <p:txBody>
          <a:bodyPr lIns="0" tIns="0" rIns="0" bIns="0" anchor="t">
            <a:noAutofit/>
          </a:bodyPr>
          <a:lstStyle/>
          <a:p>
            <a:pPr marL="216000" indent="0">
              <a:lnSpc>
                <a:spcPct val="100000"/>
              </a:lnSpc>
              <a:buNone/>
              <a:tabLst>
                <a:tab pos="0" algn="l"/>
              </a:tabLst>
            </a:pPr>
            <a:r>
              <a:rPr lang="vi-VN" sz="3200" b="0" i="0" dirty="0">
                <a:solidFill>
                  <a:srgbClr val="202122"/>
                </a:solidFill>
                <a:effectLst/>
                <a:latin typeface="Arial" panose="020B0604020202020204" pitchFamily="34" charset="0"/>
              </a:rPr>
              <a:t>Trong </a:t>
            </a:r>
            <a:r>
              <a:rPr lang="vi-VN" sz="3200" b="0" i="0" u="none" strike="noStrike" dirty="0">
                <a:effectLst/>
                <a:latin typeface="Arial" panose="020B0604020202020204" pitchFamily="34" charset="0"/>
                <a:hlinkClick r:id="rId3" tooltip="Đồ họa máy tính"/>
              </a:rPr>
              <a:t>đồ họa máy tính</a:t>
            </a:r>
            <a:r>
              <a:rPr lang="vi-VN" sz="3200" b="0" i="0" dirty="0">
                <a:solidFill>
                  <a:srgbClr val="202122"/>
                </a:solidFill>
                <a:effectLst/>
                <a:latin typeface="Arial" panose="020B0604020202020204" pitchFamily="34" charset="0"/>
              </a:rPr>
              <a:t>, </a:t>
            </a:r>
            <a:r>
              <a:rPr lang="vi-VN" sz="3200" b="1" i="0" dirty="0">
                <a:solidFill>
                  <a:srgbClr val="202122"/>
                </a:solidFill>
                <a:effectLst/>
                <a:latin typeface="Arial" panose="020B0604020202020204" pitchFamily="34" charset="0"/>
              </a:rPr>
              <a:t>sprite</a:t>
            </a:r>
            <a:r>
              <a:rPr lang="vi-VN" sz="3200" b="0" i="0" dirty="0">
                <a:solidFill>
                  <a:srgbClr val="202122"/>
                </a:solidFill>
                <a:effectLst/>
                <a:latin typeface="Arial" panose="020B0604020202020204" pitchFamily="34" charset="0"/>
              </a:rPr>
              <a:t> là một </a:t>
            </a:r>
            <a:r>
              <a:rPr lang="vi-VN" sz="3200" b="0" i="0" u="none" strike="noStrike" dirty="0">
                <a:effectLst/>
                <a:latin typeface="Arial" panose="020B0604020202020204" pitchFamily="34" charset="0"/>
                <a:hlinkClick r:id="rId4" tooltip="Hình ảnh"/>
              </a:rPr>
              <a:t>hình ảnh</a:t>
            </a:r>
            <a:r>
              <a:rPr lang="vi-VN" sz="3200" b="0" i="0" dirty="0">
                <a:solidFill>
                  <a:srgbClr val="202122"/>
                </a:solidFill>
                <a:effectLst/>
                <a:latin typeface="Arial" panose="020B0604020202020204" pitchFamily="34" charset="0"/>
              </a:rPr>
              <a:t> </a:t>
            </a:r>
            <a:r>
              <a:rPr lang="vi-VN" sz="3200" b="0" i="0" u="none" strike="noStrike" dirty="0">
                <a:effectLst/>
                <a:latin typeface="Arial" panose="020B0604020202020204" pitchFamily="34" charset="0"/>
                <a:hlinkClick r:id="rId5" tooltip="Không gian hai chiều"/>
              </a:rPr>
              <a:t>hai chiều</a:t>
            </a:r>
            <a:r>
              <a:rPr lang="vi-VN" sz="3200" b="0" i="0" dirty="0">
                <a:solidFill>
                  <a:srgbClr val="202122"/>
                </a:solidFill>
                <a:effectLst/>
                <a:latin typeface="Arial" panose="020B0604020202020204" pitchFamily="34" charset="0"/>
              </a:rPr>
              <a:t> hoặc </a:t>
            </a:r>
            <a:r>
              <a:rPr lang="vi-VN" sz="3200" b="0" i="0" u="none" strike="noStrike" dirty="0">
                <a:effectLst/>
                <a:latin typeface="Arial" panose="020B0604020202020204" pitchFamily="34" charset="0"/>
                <a:hlinkClick r:id="rId6" tooltip="Phim hoạt hình"/>
              </a:rPr>
              <a:t>hình ảnh động</a:t>
            </a:r>
            <a:r>
              <a:rPr lang="vi-VN" sz="3200" b="0" i="0" dirty="0">
                <a:solidFill>
                  <a:srgbClr val="202122"/>
                </a:solidFill>
                <a:effectLst/>
                <a:latin typeface="Arial" panose="020B0604020202020204" pitchFamily="34" charset="0"/>
              </a:rPr>
              <a:t> được tích hợp vào một cảnh lớn hơn. Ban đầu nó chỉ bao gồm đối tượng đồ họa xử lý riêng lẻ với bộ nhớ </a:t>
            </a:r>
            <a:r>
              <a:rPr lang="vi-VN" sz="3200" b="0" i="0" u="none" strike="noStrike" dirty="0">
                <a:effectLst/>
                <a:latin typeface="Arial" panose="020B0604020202020204" pitchFamily="34" charset="0"/>
                <a:hlinkClick r:id="rId7" tooltip="Bitmap"/>
              </a:rPr>
              <a:t>bitmap</a:t>
            </a:r>
            <a:r>
              <a:rPr lang="vi-VN" sz="3200" b="0" i="0" dirty="0">
                <a:solidFill>
                  <a:srgbClr val="202122"/>
                </a:solidFill>
                <a:effectLst/>
                <a:latin typeface="Arial" panose="020B0604020202020204" pitchFamily="34" charset="0"/>
              </a:rPr>
              <a:t> của một màn hình video, nhưng hiện nay nó bao gồm nhiều lớp đồ họa với các sắc thái khác nhau.</a:t>
            </a: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err="1">
                <a:solidFill>
                  <a:srgbClr val="000000"/>
                </a:solidFill>
                <a:latin typeface="Arial"/>
              </a:rPr>
              <a:t>GameObject</a:t>
            </a:r>
            <a:r>
              <a:rPr lang="en-US" sz="2000" b="0" strike="noStrike" spc="-1" dirty="0">
                <a:solidFill>
                  <a:srgbClr val="000000"/>
                </a:solidFill>
                <a:latin typeface="Arial"/>
              </a:rPr>
              <a:t> </a:t>
            </a:r>
            <a:r>
              <a:rPr lang="en-US" sz="2000" b="0" strike="noStrike" spc="-1" dirty="0" err="1">
                <a:solidFill>
                  <a:srgbClr val="000000"/>
                </a:solidFill>
                <a:latin typeface="Arial"/>
              </a:rPr>
              <a:t>là</a:t>
            </a:r>
            <a:r>
              <a:rPr lang="en-US" sz="2000" b="0" strike="noStrike" spc="-1" dirty="0">
                <a:solidFill>
                  <a:srgbClr val="000000"/>
                </a:solidFill>
                <a:latin typeface="Arial"/>
              </a:rPr>
              <a:t> </a:t>
            </a:r>
            <a:r>
              <a:rPr lang="en-US" sz="2000" b="0" strike="noStrike" spc="-1" dirty="0" err="1">
                <a:solidFill>
                  <a:srgbClr val="000000"/>
                </a:solidFill>
                <a:latin typeface="Arial"/>
              </a:rPr>
              <a:t>một</a:t>
            </a:r>
            <a:r>
              <a:rPr lang="en-US" sz="2000" b="0" strike="noStrike" spc="-1" dirty="0">
                <a:solidFill>
                  <a:srgbClr val="000000"/>
                </a:solidFill>
                <a:latin typeface="Arial"/>
              </a:rPr>
              <a:t> container </a:t>
            </a:r>
            <a:r>
              <a:rPr lang="en-US" sz="2000" b="0" strike="noStrike" spc="-1" dirty="0" err="1">
                <a:solidFill>
                  <a:srgbClr val="000000"/>
                </a:solidFill>
                <a:latin typeface="Arial"/>
              </a:rPr>
              <a:t>để</a:t>
            </a:r>
            <a:r>
              <a:rPr lang="en-US" sz="2000" b="0" strike="noStrike" spc="-1" dirty="0">
                <a:solidFill>
                  <a:srgbClr val="000000"/>
                </a:solidFill>
                <a:latin typeface="Arial"/>
              </a:rPr>
              <a:t> “</a:t>
            </a:r>
            <a:r>
              <a:rPr lang="en-US" sz="2000" b="0" strike="noStrike" spc="-1" dirty="0" err="1">
                <a:solidFill>
                  <a:srgbClr val="000000"/>
                </a:solidFill>
                <a:latin typeface="Arial"/>
              </a:rPr>
              <a:t>chứa</a:t>
            </a:r>
            <a:r>
              <a:rPr lang="en-US" sz="2000" b="0" strike="noStrike" spc="-1" dirty="0">
                <a:solidFill>
                  <a:srgbClr val="000000"/>
                </a:solidFill>
                <a:latin typeface="Arial"/>
              </a:rPr>
              <a:t>” </a:t>
            </a:r>
            <a:r>
              <a:rPr lang="en-US" sz="2000" b="0" strike="noStrike" spc="-1" dirty="0" err="1">
                <a:solidFill>
                  <a:srgbClr val="000000"/>
                </a:solidFill>
                <a:latin typeface="Arial"/>
              </a:rPr>
              <a:t>các</a:t>
            </a:r>
            <a:r>
              <a:rPr lang="en-US" sz="2000" b="0" strike="noStrike" spc="-1" dirty="0">
                <a:solidFill>
                  <a:srgbClr val="000000"/>
                </a:solidFill>
                <a:latin typeface="Arial"/>
              </a:rPr>
              <a:t> components</a:t>
            </a:r>
          </a:p>
          <a:p>
            <a:pPr marL="216000" indent="0">
              <a:lnSpc>
                <a:spcPct val="100000"/>
              </a:lnSpc>
              <a:buNone/>
              <a:tabLst>
                <a:tab pos="0" algn="l"/>
              </a:tabLst>
            </a:pPr>
            <a:endParaRPr lang="en-US" sz="2000" b="0" strike="noStrike" spc="-1" dirty="0">
              <a:solidFill>
                <a:srgbClr val="000000"/>
              </a:solidFill>
              <a:latin typeface="Arial"/>
            </a:endParaRPr>
          </a:p>
          <a:p>
            <a:pPr marL="216000" indent="0">
              <a:lnSpc>
                <a:spcPct val="100000"/>
              </a:lnSpc>
              <a:buNone/>
              <a:tabLst>
                <a:tab pos="0" algn="l"/>
              </a:tabLst>
            </a:pPr>
            <a:r>
              <a:rPr lang="en-US" sz="2000" b="0" strike="noStrike" spc="-1" dirty="0">
                <a:solidFill>
                  <a:srgbClr val="000000"/>
                </a:solidFill>
                <a:latin typeface="Arial"/>
              </a:rPr>
              <a:t>Component </a:t>
            </a:r>
            <a:r>
              <a:rPr lang="en-US" sz="2000" b="0" strike="noStrike" spc="-1" dirty="0" err="1">
                <a:solidFill>
                  <a:srgbClr val="000000"/>
                </a:solidFill>
                <a:latin typeface="Arial"/>
              </a:rPr>
              <a:t>trong</a:t>
            </a:r>
            <a:r>
              <a:rPr lang="en-US" sz="2000" b="0" strike="noStrike" spc="-1" dirty="0">
                <a:solidFill>
                  <a:srgbClr val="000000"/>
                </a:solidFill>
                <a:latin typeface="Arial"/>
              </a:rPr>
              <a:t> Unity </a:t>
            </a:r>
            <a:r>
              <a:rPr lang="en-US" sz="2000" b="0" strike="noStrike" spc="-1" dirty="0" err="1">
                <a:solidFill>
                  <a:srgbClr val="000000"/>
                </a:solidFill>
                <a:latin typeface="Arial"/>
              </a:rPr>
              <a:t>đều</a:t>
            </a:r>
            <a:r>
              <a:rPr lang="en-US" sz="2000" b="0" strike="noStrike" spc="-1" dirty="0">
                <a:solidFill>
                  <a:srgbClr val="000000"/>
                </a:solidFill>
                <a:latin typeface="Arial"/>
              </a:rPr>
              <a:t> </a:t>
            </a:r>
            <a:r>
              <a:rPr lang="en-US" sz="2000" b="0" strike="noStrike" spc="-1" dirty="0" err="1">
                <a:solidFill>
                  <a:srgbClr val="000000"/>
                </a:solidFill>
                <a:latin typeface="Arial"/>
              </a:rPr>
              <a:t>kế</a:t>
            </a:r>
            <a:r>
              <a:rPr lang="en-US" sz="2000" b="0" strike="noStrike" spc="-1" dirty="0">
                <a:solidFill>
                  <a:srgbClr val="000000"/>
                </a:solidFill>
                <a:latin typeface="Arial"/>
              </a:rPr>
              <a:t> </a:t>
            </a:r>
            <a:r>
              <a:rPr lang="en-US" sz="2000" b="0" strike="noStrike" spc="-1" dirty="0" err="1">
                <a:solidFill>
                  <a:srgbClr val="000000"/>
                </a:solidFill>
                <a:latin typeface="Arial"/>
              </a:rPr>
              <a:t>thừa</a:t>
            </a:r>
            <a:r>
              <a:rPr lang="en-US" sz="2000" b="0" strike="noStrike" spc="-1" dirty="0">
                <a:solidFill>
                  <a:srgbClr val="000000"/>
                </a:solidFill>
                <a:latin typeface="Arial"/>
              </a:rPr>
              <a:t> </a:t>
            </a:r>
            <a:r>
              <a:rPr lang="en-US" sz="2000" b="0" strike="noStrike" spc="-1" dirty="0" err="1">
                <a:solidFill>
                  <a:srgbClr val="000000"/>
                </a:solidFill>
                <a:latin typeface="Arial"/>
              </a:rPr>
              <a:t>từ</a:t>
            </a:r>
            <a:r>
              <a:rPr lang="en-US" sz="2000" b="0" strike="noStrike" spc="-1" dirty="0">
                <a:solidFill>
                  <a:srgbClr val="000000"/>
                </a:solidFill>
                <a:latin typeface="Arial"/>
              </a:rPr>
              <a:t> class Component. </a:t>
            </a:r>
            <a:r>
              <a:rPr lang="en-US" sz="2000" b="0" strike="noStrike" spc="-1" dirty="0" err="1">
                <a:solidFill>
                  <a:srgbClr val="000000"/>
                </a:solidFill>
                <a:latin typeface="Arial"/>
              </a:rPr>
              <a:t>Và</a:t>
            </a:r>
            <a:r>
              <a:rPr lang="en-US" sz="2000" b="0" strike="noStrike" spc="-1" dirty="0">
                <a:solidFill>
                  <a:srgbClr val="000000"/>
                </a:solidFill>
                <a:latin typeface="Arial"/>
              </a:rPr>
              <a:t> </a:t>
            </a:r>
            <a:r>
              <a:rPr lang="en-US" sz="2000" b="0" strike="noStrike" spc="-1" dirty="0" err="1">
                <a:solidFill>
                  <a:srgbClr val="000000"/>
                </a:solidFill>
                <a:latin typeface="Arial"/>
              </a:rPr>
              <a:t>các</a:t>
            </a:r>
            <a:r>
              <a:rPr lang="en-US" sz="2000" b="0" strike="noStrike" spc="-1" dirty="0">
                <a:solidFill>
                  <a:srgbClr val="000000"/>
                </a:solidFill>
                <a:latin typeface="Arial"/>
              </a:rPr>
              <a:t> script </a:t>
            </a:r>
            <a:r>
              <a:rPr lang="en-US" sz="2000" b="0" strike="noStrike" spc="-1" dirty="0" err="1">
                <a:solidFill>
                  <a:srgbClr val="000000"/>
                </a:solidFill>
                <a:latin typeface="Arial"/>
              </a:rPr>
              <a:t>mà</a:t>
            </a:r>
            <a:r>
              <a:rPr lang="en-US" sz="2000" b="0" strike="noStrike" spc="-1" dirty="0">
                <a:solidFill>
                  <a:srgbClr val="000000"/>
                </a:solidFill>
                <a:latin typeface="Arial"/>
              </a:rPr>
              <a:t> </a:t>
            </a:r>
            <a:r>
              <a:rPr lang="en-US" sz="2000" b="0" strike="noStrike" spc="-1" dirty="0" err="1">
                <a:solidFill>
                  <a:srgbClr val="000000"/>
                </a:solidFill>
                <a:latin typeface="Arial"/>
              </a:rPr>
              <a:t>các</a:t>
            </a:r>
            <a:r>
              <a:rPr lang="en-US" sz="2000" b="0" strike="noStrike" spc="-1" dirty="0">
                <a:solidFill>
                  <a:srgbClr val="000000"/>
                </a:solidFill>
                <a:latin typeface="Arial"/>
              </a:rPr>
              <a:t> </a:t>
            </a:r>
            <a:r>
              <a:rPr lang="en-US" sz="2000" b="0" strike="noStrike" spc="-1" dirty="0" err="1">
                <a:solidFill>
                  <a:srgbClr val="000000"/>
                </a:solidFill>
                <a:latin typeface="Arial"/>
              </a:rPr>
              <a:t>bạn</a:t>
            </a:r>
            <a:r>
              <a:rPr lang="en-US" sz="2000" b="0" strike="noStrike" spc="-1" dirty="0">
                <a:solidFill>
                  <a:srgbClr val="000000"/>
                </a:solidFill>
                <a:latin typeface="Arial"/>
              </a:rPr>
              <a:t> </a:t>
            </a:r>
            <a:r>
              <a:rPr lang="en-US" sz="2000" b="0" strike="noStrike" spc="-1" dirty="0" err="1">
                <a:solidFill>
                  <a:srgbClr val="000000"/>
                </a:solidFill>
                <a:latin typeface="Arial"/>
              </a:rPr>
              <a:t>viết</a:t>
            </a:r>
            <a:r>
              <a:rPr lang="en-US" sz="2000" b="0" strike="noStrike" spc="-1" dirty="0">
                <a:solidFill>
                  <a:srgbClr val="000000"/>
                </a:solidFill>
                <a:latin typeface="Arial"/>
              </a:rPr>
              <a:t> </a:t>
            </a:r>
            <a:r>
              <a:rPr lang="en-US" sz="2000" b="0" strike="noStrike" spc="-1" dirty="0" err="1">
                <a:solidFill>
                  <a:srgbClr val="000000"/>
                </a:solidFill>
                <a:latin typeface="Arial"/>
              </a:rPr>
              <a:t>kế</a:t>
            </a:r>
            <a:r>
              <a:rPr lang="en-US" sz="2000" b="0" strike="noStrike" spc="-1" dirty="0">
                <a:solidFill>
                  <a:srgbClr val="000000"/>
                </a:solidFill>
                <a:latin typeface="Arial"/>
              </a:rPr>
              <a:t> </a:t>
            </a:r>
            <a:r>
              <a:rPr lang="en-US" sz="2000" b="0" strike="noStrike" spc="-1" dirty="0" err="1">
                <a:solidFill>
                  <a:srgbClr val="000000"/>
                </a:solidFill>
                <a:latin typeface="Arial"/>
              </a:rPr>
              <a:t>thừa</a:t>
            </a:r>
            <a:r>
              <a:rPr lang="en-US" sz="2000" b="0" strike="noStrike" spc="-1" dirty="0">
                <a:solidFill>
                  <a:srgbClr val="000000"/>
                </a:solidFill>
                <a:latin typeface="Arial"/>
              </a:rPr>
              <a:t> </a:t>
            </a:r>
            <a:r>
              <a:rPr lang="en-US" sz="2000" b="0" strike="noStrike" spc="-1" dirty="0" err="1">
                <a:solidFill>
                  <a:srgbClr val="000000"/>
                </a:solidFill>
                <a:latin typeface="Arial"/>
              </a:rPr>
              <a:t>từ</a:t>
            </a:r>
            <a:r>
              <a:rPr lang="en-US" sz="2000" b="0" strike="noStrike" spc="-1" dirty="0">
                <a:solidFill>
                  <a:srgbClr val="000000"/>
                </a:solidFill>
                <a:latin typeface="Arial"/>
              </a:rPr>
              <a:t> </a:t>
            </a:r>
            <a:r>
              <a:rPr lang="en-US" sz="2000" b="0" strike="noStrike" spc="-1" dirty="0" err="1">
                <a:solidFill>
                  <a:srgbClr val="000000"/>
                </a:solidFill>
                <a:latin typeface="Arial"/>
              </a:rPr>
              <a:t>MonoBehaviour</a:t>
            </a:r>
            <a:r>
              <a:rPr lang="en-US" sz="2000" b="0" strike="noStrike" spc="-1" dirty="0">
                <a:solidFill>
                  <a:srgbClr val="000000"/>
                </a:solidFill>
                <a:latin typeface="Arial"/>
              </a:rPr>
              <a:t>, </a:t>
            </a:r>
            <a:r>
              <a:rPr lang="en-US" sz="2000" b="0" strike="noStrike" spc="-1" dirty="0" err="1">
                <a:solidFill>
                  <a:srgbClr val="000000"/>
                </a:solidFill>
                <a:latin typeface="Arial"/>
              </a:rPr>
              <a:t>cũng</a:t>
            </a:r>
            <a:r>
              <a:rPr lang="en-US" sz="2000" b="0" strike="noStrike" spc="-1" dirty="0">
                <a:solidFill>
                  <a:srgbClr val="000000"/>
                </a:solidFill>
                <a:latin typeface="Arial"/>
              </a:rPr>
              <a:t> </a:t>
            </a:r>
            <a:r>
              <a:rPr lang="en-US" sz="2000" b="0" strike="noStrike" spc="-1" dirty="0" err="1">
                <a:solidFill>
                  <a:srgbClr val="000000"/>
                </a:solidFill>
                <a:latin typeface="Arial"/>
              </a:rPr>
              <a:t>là</a:t>
            </a:r>
            <a:r>
              <a:rPr lang="en-US" sz="2000" b="0" strike="noStrike" spc="-1" dirty="0">
                <a:solidFill>
                  <a:srgbClr val="000000"/>
                </a:solidFill>
                <a:latin typeface="Arial"/>
              </a:rPr>
              <a:t> class con </a:t>
            </a:r>
            <a:r>
              <a:rPr lang="en-US" sz="2000" b="0" strike="noStrike" spc="-1" dirty="0" err="1">
                <a:solidFill>
                  <a:srgbClr val="000000"/>
                </a:solidFill>
                <a:latin typeface="Arial"/>
              </a:rPr>
              <a:t>của</a:t>
            </a:r>
            <a:r>
              <a:rPr lang="en-US" sz="2000" b="0" strike="noStrike" spc="-1" dirty="0">
                <a:solidFill>
                  <a:srgbClr val="000000"/>
                </a:solidFill>
                <a:latin typeface="Arial"/>
              </a:rPr>
              <a:t> Component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noRot="1" noChangeAspect="1"/>
          </p:cNvSpPr>
          <p:nvPr>
            <p:ph type="sldImg"/>
          </p:nvPr>
        </p:nvSpPr>
        <p:spPr>
          <a:xfrm>
            <a:off x="216000" y="812520"/>
            <a:ext cx="7120800" cy="4002480"/>
          </a:xfrm>
          <a:prstGeom prst="rect">
            <a:avLst/>
          </a:prstGeom>
          <a:ln w="0">
            <a:noFill/>
          </a:ln>
        </p:spPr>
      </p:sp>
      <p:sp>
        <p:nvSpPr>
          <p:cNvPr id="170" name="PlaceHolder 2"/>
          <p:cNvSpPr>
            <a:spLocks noGrp="1"/>
          </p:cNvSpPr>
          <p:nvPr>
            <p:ph type="body"/>
          </p:nvPr>
        </p:nvSpPr>
        <p:spPr>
          <a:xfrm>
            <a:off x="756000" y="5078520"/>
            <a:ext cx="6041160" cy="480456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u="sng" strike="noStrike" spc="-1">
                <a:solidFill>
                  <a:srgbClr val="000000"/>
                </a:solidFill>
                <a:uFillTx/>
                <a:latin typeface="Arial"/>
                <a:hlinkClick r:id="rId3"/>
              </a:rPr>
              <a:t>https://docs.unity3d.com/Packages/com.unity.entities@0.1/manual/ecs_components.html</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r>
              <a:rPr lang="en-US" sz="2000" b="0" strike="noStrike" spc="-1">
                <a:solidFill>
                  <a:srgbClr val="000000"/>
                </a:solidFill>
                <a:latin typeface="Arial"/>
              </a:rPr>
              <a:t>Components are the actual data containers. They are structs that hold values without any logic, and you’ll no doubt have a lot of them. ECS revolves around storing these small Components in a clever way.</a:t>
            </a:r>
          </a:p>
          <a:p>
            <a:pPr marL="216000" indent="0">
              <a:lnSpc>
                <a:spcPct val="100000"/>
              </a:lnSpc>
              <a:buNone/>
              <a:tabLst>
                <a:tab pos="0" algn="l"/>
              </a:tabLst>
            </a:pPr>
            <a:r>
              <a:rPr lang="en-US" sz="2000" b="0" u="sng" strike="noStrike" spc="-1">
                <a:solidFill>
                  <a:srgbClr val="000000"/>
                </a:solidFill>
                <a:uFillTx/>
                <a:latin typeface="Arial"/>
                <a:hlinkClick r:id="rId4"/>
              </a:rPr>
              <a:t>https://www.kodeco.com/7630142-entity-component-system-for-unity-getting-started</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r>
              <a:rPr lang="en-US" sz="2000" b="0" u="sng" strike="noStrike" spc="-1">
                <a:solidFill>
                  <a:srgbClr val="000000"/>
                </a:solidFill>
                <a:uFillTx/>
                <a:latin typeface="Arial"/>
                <a:hlinkClick r:id="rId5"/>
              </a:rPr>
              <a:t>https://docs.unity3d.com/ScriptReference/Component.html</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noRot="1" noChangeAspect="1"/>
          </p:cNvSpPr>
          <p:nvPr>
            <p:ph type="sldImg"/>
          </p:nvPr>
        </p:nvSpPr>
        <p:spPr>
          <a:xfrm>
            <a:off x="219075" y="812800"/>
            <a:ext cx="7115175" cy="4002088"/>
          </a:xfrm>
          <a:prstGeom prst="rect">
            <a:avLst/>
          </a:prstGeom>
          <a:ln w="0">
            <a:noFill/>
          </a:ln>
        </p:spPr>
      </p:sp>
      <p:sp>
        <p:nvSpPr>
          <p:cNvPr id="172" name="PlaceHolder 2"/>
          <p:cNvSpPr>
            <a:spLocks noGrp="1"/>
          </p:cNvSpPr>
          <p:nvPr>
            <p:ph type="body"/>
          </p:nvPr>
        </p:nvSpPr>
        <p:spPr>
          <a:xfrm>
            <a:off x="756000" y="5078520"/>
            <a:ext cx="6041160" cy="480456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u="sng" strike="noStrike" spc="-1">
                <a:solidFill>
                  <a:srgbClr val="000000"/>
                </a:solidFill>
                <a:uFillTx/>
                <a:latin typeface="Arial"/>
                <a:hlinkClick r:id="rId3"/>
              </a:rPr>
              <a:t>https://docs.unity3d.com/ScriptReference/Renderer.html</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r>
              <a:rPr lang="en-US" sz="2000" b="0" u="sng" strike="noStrike" spc="-1">
                <a:solidFill>
                  <a:srgbClr val="000000"/>
                </a:solidFill>
                <a:uFillTx/>
                <a:latin typeface="Arial"/>
                <a:hlinkClick r:id="rId4"/>
              </a:rPr>
              <a:t>https://docs.unity3d.com/560/Documentation/Manual/CollidersOverview.html</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r>
              <a:rPr lang="en-US" sz="2000" b="0" u="sng" strike="noStrike" spc="-1">
                <a:solidFill>
                  <a:srgbClr val="000000"/>
                </a:solidFill>
                <a:uFillTx/>
                <a:latin typeface="Arial"/>
                <a:hlinkClick r:id="rId5"/>
              </a:rPr>
              <a:t>https://docs.unity3d.com/ScriptReference/Rigidbody.html</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noRot="1" noChangeAspect="1"/>
          </p:cNvSpPr>
          <p:nvPr>
            <p:ph type="sldImg"/>
          </p:nvPr>
        </p:nvSpPr>
        <p:spPr>
          <a:xfrm>
            <a:off x="216000" y="812520"/>
            <a:ext cx="7123320" cy="4005000"/>
          </a:xfrm>
          <a:prstGeom prst="rect">
            <a:avLst/>
          </a:prstGeom>
          <a:ln w="0">
            <a:noFill/>
          </a:ln>
        </p:spPr>
      </p:sp>
      <p:sp>
        <p:nvSpPr>
          <p:cNvPr id="174"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https://docs.unity3d.com/Manual/class-Transform.html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noRot="1" noChangeAspect="1"/>
          </p:cNvSpPr>
          <p:nvPr>
            <p:ph type="sldImg"/>
          </p:nvPr>
        </p:nvSpPr>
        <p:spPr>
          <a:xfrm>
            <a:off x="217488" y="812800"/>
            <a:ext cx="7119937" cy="4005263"/>
          </a:xfrm>
          <a:prstGeom prst="rect">
            <a:avLst/>
          </a:prstGeom>
          <a:ln w="0">
            <a:noFill/>
          </a:ln>
        </p:spPr>
      </p:sp>
      <p:sp>
        <p:nvSpPr>
          <p:cNvPr id="176"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https://docs.unity3d.com/Manual/class-</a:t>
            </a:r>
            <a:r>
              <a:rPr lang="en-US" sz="2000" b="0" strike="noStrike" spc="-1" dirty="0" err="1">
                <a:solidFill>
                  <a:srgbClr val="000000"/>
                </a:solidFill>
                <a:latin typeface="Arial"/>
              </a:rPr>
              <a:t>MeshFilter.html</a:t>
            </a:r>
            <a:endParaRPr lang="en-US" sz="2000" b="0" strike="noStrike" spc="-1" dirty="0">
              <a:solidFill>
                <a:srgbClr val="000000"/>
              </a:solidFill>
              <a:latin typeface="Arial"/>
            </a:endParaRPr>
          </a:p>
          <a:p>
            <a:pPr marL="216000" indent="0">
              <a:lnSpc>
                <a:spcPct val="100000"/>
              </a:lnSpc>
              <a:buNone/>
              <a:tabLst>
                <a:tab pos="0" algn="l"/>
              </a:tabLst>
            </a:pPr>
            <a:r>
              <a:rPr lang="en-US" sz="2000" dirty="0" err="1"/>
              <a:t>MeshFilter</a:t>
            </a:r>
            <a:r>
              <a:rPr lang="en-US" sz="2000" dirty="0"/>
              <a:t>: </a:t>
            </a:r>
            <a:r>
              <a:rPr lang="vi-VN" sz="2000" dirty="0"/>
              <a:t>Chứa dữ liệu hình học (geometry) của đối tượng - tức là thông tin về các đỉnh (vertices), tam giác (triangles), UV mapping.</a:t>
            </a:r>
            <a:br>
              <a:rPr lang="vi-VN" sz="2000" dirty="0"/>
            </a:br>
            <a:r>
              <a:rPr lang="en-US" sz="2000" dirty="0" err="1"/>
              <a:t>MeshRenderer</a:t>
            </a:r>
            <a:r>
              <a:rPr lang="en-US" sz="2000" dirty="0"/>
              <a:t>: </a:t>
            </a:r>
            <a:r>
              <a:rPr lang="en-US" sz="2000" b="0" dirty="0" err="1"/>
              <a:t>Bộ</a:t>
            </a:r>
            <a:r>
              <a:rPr lang="en-US" sz="2000" b="0" dirty="0"/>
              <a:t> </a:t>
            </a:r>
            <a:r>
              <a:rPr lang="en-US" sz="2000" b="0" dirty="0" err="1"/>
              <a:t>kết</a:t>
            </a:r>
            <a:r>
              <a:rPr lang="en-US" sz="2000" b="0" dirty="0"/>
              <a:t> </a:t>
            </a:r>
            <a:r>
              <a:rPr lang="en-US" sz="2000" b="0" dirty="0" err="1"/>
              <a:t>xuất</a:t>
            </a:r>
            <a:r>
              <a:rPr lang="en-US" sz="2000" b="0" dirty="0"/>
              <a:t> Mesh: </a:t>
            </a:r>
            <a:r>
              <a:rPr lang="en-US" sz="2000" dirty="0"/>
              <a:t>Render (</a:t>
            </a:r>
            <a:r>
              <a:rPr lang="en-US" sz="2000" dirty="0" err="1"/>
              <a:t>vẽ</a:t>
            </a:r>
            <a:r>
              <a:rPr lang="en-US" sz="2000" dirty="0"/>
              <a:t>) mesh </a:t>
            </a:r>
            <a:r>
              <a:rPr lang="en-US" sz="2000" dirty="0" err="1"/>
              <a:t>lên</a:t>
            </a:r>
            <a:r>
              <a:rPr lang="en-US" sz="2000" dirty="0"/>
              <a:t> </a:t>
            </a:r>
            <a:r>
              <a:rPr lang="en-US" sz="2000" dirty="0" err="1"/>
              <a:t>màn</a:t>
            </a:r>
            <a:r>
              <a:rPr lang="en-US" sz="2000" dirty="0"/>
              <a:t> </a:t>
            </a:r>
            <a:r>
              <a:rPr lang="en-US" sz="2000" dirty="0" err="1"/>
              <a:t>hình</a:t>
            </a:r>
            <a:r>
              <a:rPr lang="en-US" sz="2000" dirty="0"/>
              <a:t>, </a:t>
            </a:r>
            <a:r>
              <a:rPr lang="en-US" sz="2000" dirty="0" err="1"/>
              <a:t>sử</a:t>
            </a:r>
            <a:r>
              <a:rPr lang="en-US" sz="2000" dirty="0"/>
              <a:t> </a:t>
            </a:r>
            <a:r>
              <a:rPr lang="en-US" sz="2000" dirty="0" err="1"/>
              <a:t>dụng</a:t>
            </a:r>
            <a:r>
              <a:rPr lang="en-US" sz="2000" dirty="0"/>
              <a:t> materials </a:t>
            </a:r>
            <a:r>
              <a:rPr lang="en-US" sz="2000" dirty="0" err="1"/>
              <a:t>và</a:t>
            </a:r>
            <a:r>
              <a:rPr lang="en-US" sz="2000" dirty="0"/>
              <a:t> shaders </a:t>
            </a:r>
            <a:r>
              <a:rPr lang="en-US" sz="2000" dirty="0" err="1"/>
              <a:t>để</a:t>
            </a:r>
            <a:r>
              <a:rPr lang="en-US" sz="2000" dirty="0"/>
              <a:t> </a:t>
            </a:r>
            <a:r>
              <a:rPr lang="en-US" sz="2000" dirty="0" err="1"/>
              <a:t>tạo</a:t>
            </a:r>
            <a:r>
              <a:rPr lang="en-US" sz="2000" dirty="0"/>
              <a:t> </a:t>
            </a:r>
            <a:r>
              <a:rPr lang="en-US" sz="2000" dirty="0" err="1"/>
              <a:t>ra</a:t>
            </a:r>
            <a:r>
              <a:rPr lang="en-US" sz="2000" dirty="0"/>
              <a:t> </a:t>
            </a:r>
            <a:r>
              <a:rPr lang="en-US" sz="2000" dirty="0" err="1"/>
              <a:t>hình</a:t>
            </a:r>
            <a:r>
              <a:rPr lang="en-US" sz="2000" dirty="0"/>
              <a:t> </a:t>
            </a:r>
            <a:r>
              <a:rPr lang="en-US" sz="2000" dirty="0" err="1"/>
              <a:t>ảnh</a:t>
            </a:r>
            <a:r>
              <a:rPr lang="en-US" sz="2000" dirty="0"/>
              <a:t> </a:t>
            </a:r>
            <a:r>
              <a:rPr lang="en-US" sz="2000" dirty="0" err="1"/>
              <a:t>cuối</a:t>
            </a:r>
            <a:r>
              <a:rPr lang="en-US" sz="2000" dirty="0"/>
              <a:t> </a:t>
            </a:r>
            <a:r>
              <a:rPr lang="en-US" sz="2000" dirty="0" err="1"/>
              <a:t>cùng</a:t>
            </a:r>
            <a:r>
              <a:rPr lang="en-US" sz="2000" dirty="0"/>
              <a:t>.</a:t>
            </a:r>
          </a:p>
          <a:p>
            <a:pPr marL="216000" indent="0">
              <a:lnSpc>
                <a:spcPct val="100000"/>
              </a:lnSpc>
              <a:buNone/>
              <a:tabLst>
                <a:tab pos="0" algn="l"/>
              </a:tabLst>
            </a:pPr>
            <a:endParaRPr lang="vi-VN" sz="2000" b="0" dirty="0"/>
          </a:p>
          <a:p>
            <a:pPr marL="216000" indent="0">
              <a:lnSpc>
                <a:spcPct val="100000"/>
              </a:lnSpc>
              <a:buNone/>
              <a:tabLst>
                <a:tab pos="0" algn="l"/>
              </a:tabLst>
            </a:pPr>
            <a:endParaRPr lang="en-US" sz="2000" b="0" strike="noStrike" spc="-1" dirty="0">
              <a:solidFill>
                <a:srgbClr val="000000"/>
              </a:solidFill>
              <a:latin typeface="Arial"/>
            </a:endParaRPr>
          </a:p>
          <a:p>
            <a:pPr marL="216000" indent="0">
              <a:lnSpc>
                <a:spcPct val="100000"/>
              </a:lnSpc>
              <a:buNone/>
              <a:tabLst>
                <a:tab pos="0" algn="l"/>
              </a:tabLst>
            </a:pPr>
            <a:endParaRPr lang="en-US" sz="2000" b="0" strike="noStrike" spc="-1" dirty="0">
              <a:solidFill>
                <a:srgbClr val="000000"/>
              </a:solidFill>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noRot="1" noChangeAspect="1"/>
          </p:cNvSpPr>
          <p:nvPr>
            <p:ph type="sldImg"/>
          </p:nvPr>
        </p:nvSpPr>
        <p:spPr>
          <a:xfrm>
            <a:off x="217488" y="812800"/>
            <a:ext cx="7119937" cy="4005263"/>
          </a:xfrm>
          <a:prstGeom prst="rect">
            <a:avLst/>
          </a:prstGeom>
          <a:ln w="0">
            <a:noFill/>
          </a:ln>
        </p:spPr>
      </p:sp>
      <p:sp>
        <p:nvSpPr>
          <p:cNvPr id="178"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https://docs.unity3d.com/Manual/class-</a:t>
            </a:r>
            <a:r>
              <a:rPr lang="en-US" sz="2000" b="0" strike="noStrike" spc="-1" dirty="0" err="1">
                <a:solidFill>
                  <a:srgbClr val="000000"/>
                </a:solidFill>
                <a:latin typeface="Arial"/>
              </a:rPr>
              <a:t>MeshRenderer.html</a:t>
            </a:r>
            <a:endParaRPr lang="en-US" sz="2000" b="0" strike="noStrike" spc="-1" dirty="0">
              <a:solidFill>
                <a:srgbClr val="000000"/>
              </a:solidFill>
              <a:latin typeface="Arial"/>
            </a:endParaRPr>
          </a:p>
          <a:p>
            <a:pPr marL="216000" marR="0" lvl="0" indent="0" algn="l" defTabSz="914400" rtl="0" eaLnBrk="1" fontAlgn="auto" latinLnBrk="0" hangingPunct="1">
              <a:lnSpc>
                <a:spcPct val="100000"/>
              </a:lnSpc>
              <a:spcBef>
                <a:spcPts val="0"/>
              </a:spcBef>
              <a:spcAft>
                <a:spcPts val="0"/>
              </a:spcAft>
              <a:buClrTx/>
              <a:buSzTx/>
              <a:buFontTx/>
              <a:buNone/>
              <a:tabLst>
                <a:tab pos="0" algn="l"/>
              </a:tabLst>
              <a:defRPr/>
            </a:pPr>
            <a:r>
              <a:rPr lang="en-US" sz="2000" b="1" dirty="0" err="1"/>
              <a:t>Chức</a:t>
            </a:r>
            <a:r>
              <a:rPr lang="en-US" sz="2000" b="1" dirty="0"/>
              <a:t> </a:t>
            </a:r>
            <a:r>
              <a:rPr lang="en-US" sz="2000" b="1" dirty="0" err="1"/>
              <a:t>năng</a:t>
            </a:r>
            <a:r>
              <a:rPr lang="en-US" sz="2000" b="1" dirty="0"/>
              <a:t>:</a:t>
            </a:r>
            <a:r>
              <a:rPr lang="en-US" sz="2000" dirty="0"/>
              <a:t> Render (</a:t>
            </a:r>
            <a:r>
              <a:rPr lang="en-US" sz="2000" dirty="0" err="1"/>
              <a:t>vẽ</a:t>
            </a:r>
            <a:r>
              <a:rPr lang="en-US" sz="2000" dirty="0"/>
              <a:t>) mesh </a:t>
            </a:r>
            <a:r>
              <a:rPr lang="en-US" sz="2000" dirty="0" err="1"/>
              <a:t>lên</a:t>
            </a:r>
            <a:r>
              <a:rPr lang="en-US" sz="2000" dirty="0"/>
              <a:t> </a:t>
            </a:r>
            <a:r>
              <a:rPr lang="en-US" sz="2000" dirty="0" err="1"/>
              <a:t>màn</a:t>
            </a:r>
            <a:r>
              <a:rPr lang="en-US" sz="2000" dirty="0"/>
              <a:t> </a:t>
            </a:r>
            <a:r>
              <a:rPr lang="en-US" sz="2000" dirty="0" err="1"/>
              <a:t>hình</a:t>
            </a:r>
            <a:r>
              <a:rPr lang="en-US" sz="2000" dirty="0"/>
              <a:t>, </a:t>
            </a:r>
            <a:r>
              <a:rPr lang="en-US" sz="2000" dirty="0" err="1"/>
              <a:t>sử</a:t>
            </a:r>
            <a:r>
              <a:rPr lang="en-US" sz="2000" dirty="0"/>
              <a:t> </a:t>
            </a:r>
            <a:r>
              <a:rPr lang="en-US" sz="2000" dirty="0" err="1"/>
              <a:t>dụng</a:t>
            </a:r>
            <a:r>
              <a:rPr lang="en-US" sz="2000" dirty="0"/>
              <a:t> materials </a:t>
            </a:r>
            <a:r>
              <a:rPr lang="en-US" sz="2000" dirty="0" err="1"/>
              <a:t>và</a:t>
            </a:r>
            <a:r>
              <a:rPr lang="en-US" sz="2000" dirty="0"/>
              <a:t> shaders </a:t>
            </a:r>
            <a:r>
              <a:rPr lang="en-US" sz="2000" dirty="0" err="1"/>
              <a:t>để</a:t>
            </a:r>
            <a:r>
              <a:rPr lang="en-US" sz="2000" dirty="0"/>
              <a:t> </a:t>
            </a:r>
            <a:r>
              <a:rPr lang="en-US" sz="2000" dirty="0" err="1"/>
              <a:t>tạo</a:t>
            </a:r>
            <a:r>
              <a:rPr lang="en-US" sz="2000" dirty="0"/>
              <a:t> </a:t>
            </a:r>
            <a:r>
              <a:rPr lang="en-US" sz="2000" dirty="0" err="1"/>
              <a:t>ra</a:t>
            </a:r>
            <a:r>
              <a:rPr lang="en-US" sz="2000" dirty="0"/>
              <a:t> </a:t>
            </a:r>
            <a:r>
              <a:rPr lang="en-US" sz="2000" dirty="0" err="1"/>
              <a:t>hình</a:t>
            </a:r>
            <a:r>
              <a:rPr lang="en-US" sz="2000" dirty="0"/>
              <a:t> </a:t>
            </a:r>
            <a:r>
              <a:rPr lang="en-US" sz="2000" dirty="0" err="1"/>
              <a:t>ảnh</a:t>
            </a:r>
            <a:r>
              <a:rPr lang="en-US" sz="2000" dirty="0"/>
              <a:t> </a:t>
            </a:r>
            <a:r>
              <a:rPr lang="en-US" sz="2000" dirty="0" err="1"/>
              <a:t>cuối</a:t>
            </a:r>
            <a:r>
              <a:rPr lang="en-US" sz="2000" dirty="0"/>
              <a:t> </a:t>
            </a:r>
            <a:r>
              <a:rPr lang="en-US" sz="2000" dirty="0" err="1"/>
              <a:t>cùng</a:t>
            </a:r>
            <a:r>
              <a:rPr lang="en-US" sz="2000" dirty="0"/>
              <a:t>.</a:t>
            </a:r>
          </a:p>
          <a:p>
            <a:pPr marL="216000" indent="0">
              <a:lnSpc>
                <a:spcPct val="100000"/>
              </a:lnSpc>
              <a:buNone/>
              <a:tabLst>
                <a:tab pos="0" algn="l"/>
              </a:tabLst>
            </a:pPr>
            <a:endParaRPr lang="en-US" sz="2000" b="0" strike="noStrike" spc="-1" dirty="0">
              <a:solidFill>
                <a:srgbClr val="000000"/>
              </a:solidFill>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noRot="1" noChangeAspect="1"/>
          </p:cNvSpPr>
          <p:nvPr>
            <p:ph type="sldImg"/>
          </p:nvPr>
        </p:nvSpPr>
        <p:spPr>
          <a:xfrm>
            <a:off x="217488" y="812800"/>
            <a:ext cx="7119937" cy="4005263"/>
          </a:xfrm>
          <a:prstGeom prst="rect">
            <a:avLst/>
          </a:prstGeom>
          <a:ln w="0">
            <a:noFill/>
          </a:ln>
        </p:spPr>
      </p:sp>
      <p:sp>
        <p:nvSpPr>
          <p:cNvPr id="180"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https://docs.unity3d.com/Manual/class-</a:t>
            </a:r>
            <a:r>
              <a:rPr lang="en-US" sz="2000" b="0" strike="noStrike" spc="-1" dirty="0" err="1">
                <a:solidFill>
                  <a:srgbClr val="000000"/>
                </a:solidFill>
                <a:latin typeface="Arial"/>
              </a:rPr>
              <a:t>Rigidbody.html</a:t>
            </a:r>
            <a:endParaRPr lang="en-US" sz="2000" b="0" strike="noStrike" spc="-1" dirty="0">
              <a:solidFill>
                <a:srgbClr val="000000"/>
              </a:solidFill>
              <a:latin typeface="Arial"/>
            </a:endParaRPr>
          </a:p>
          <a:p>
            <a:pPr marL="216000" indent="0">
              <a:lnSpc>
                <a:spcPct val="100000"/>
              </a:lnSpc>
              <a:buNone/>
              <a:tabLst>
                <a:tab pos="0" algn="l"/>
              </a:tabLst>
            </a:pPr>
            <a:endParaRPr lang="en-US" sz="2000" b="0" strike="noStrike" spc="-1" dirty="0">
              <a:solidFill>
                <a:srgbClr val="000000"/>
              </a:solidFill>
              <a:latin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noRot="1" noChangeAspect="1"/>
          </p:cNvSpPr>
          <p:nvPr>
            <p:ph type="sldImg"/>
          </p:nvPr>
        </p:nvSpPr>
        <p:spPr>
          <a:xfrm>
            <a:off x="217488" y="812800"/>
            <a:ext cx="7119937" cy="4005263"/>
          </a:xfrm>
          <a:prstGeom prst="rect">
            <a:avLst/>
          </a:prstGeom>
          <a:ln w="0">
            <a:noFill/>
          </a:ln>
        </p:spPr>
      </p:sp>
      <p:sp>
        <p:nvSpPr>
          <p:cNvPr id="182"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dirty="0">
                <a:solidFill>
                  <a:srgbClr val="000000"/>
                </a:solidFill>
                <a:latin typeface="Arial"/>
              </a:rPr>
              <a:t>https://docs.unity3d.com/Manual/collision-</a:t>
            </a:r>
            <a:r>
              <a:rPr lang="en-US" sz="2000" b="0" strike="noStrike" spc="-1" dirty="0" err="1">
                <a:solidFill>
                  <a:srgbClr val="000000"/>
                </a:solidFill>
                <a:latin typeface="Arial"/>
              </a:rPr>
              <a:t>section.html</a:t>
            </a:r>
            <a:endParaRPr lang="en-US" sz="2000" b="0" strike="noStrike" spc="-1" dirty="0">
              <a:solidFill>
                <a:srgbClr val="000000"/>
              </a:solidFill>
              <a:latin typeface="Arial"/>
            </a:endParaRPr>
          </a:p>
          <a:p>
            <a:r>
              <a:rPr lang="vi-VN" sz="2000" b="1" dirty="0"/>
              <a:t>Collider:</a:t>
            </a:r>
            <a:r>
              <a:rPr lang="vi-VN" sz="2000" dirty="0"/>
              <a:t> Thành phần định nghĩa vùng va chạm và tương tác vật lý của đối tượng.</a:t>
            </a:r>
          </a:p>
          <a:p>
            <a:r>
              <a:rPr lang="vi-VN" sz="2000" b="1" dirty="0"/>
              <a:t>MeshFilter:</a:t>
            </a:r>
            <a:r>
              <a:rPr lang="vi-VN" sz="2000" dirty="0"/>
              <a:t> Thành phần chứa dữ liệu hình học (mesh) của đối tượng 3D.</a:t>
            </a:r>
          </a:p>
          <a:p>
            <a:r>
              <a:rPr lang="vi-VN" sz="2000" b="1" dirty="0"/>
              <a:t>MeshRenderer:</a:t>
            </a:r>
            <a:r>
              <a:rPr lang="vi-VN" sz="2000" dirty="0"/>
              <a:t> Thành phần hiển thị mesh lên màn hình với materials và textures.</a:t>
            </a:r>
          </a:p>
          <a:p>
            <a:r>
              <a:rPr lang="vi-VN" sz="2000" b="1"/>
              <a:t>Rigidbody:</a:t>
            </a:r>
            <a:r>
              <a:rPr lang="vi-VN" sz="2000"/>
              <a:t> Thành phần cho phép đối tượng tương tác với hệ thống vật lý Unity.</a:t>
            </a:r>
          </a:p>
          <a:p>
            <a:pPr marL="216000" indent="0">
              <a:lnSpc>
                <a:spcPct val="100000"/>
              </a:lnSpc>
              <a:buNone/>
              <a:tabLst>
                <a:tab pos="0" algn="l"/>
              </a:tabLst>
            </a:pPr>
            <a:endParaRPr lang="en-US" sz="2000" b="0" strike="noStrike" spc="-1" dirty="0">
              <a:solidFill>
                <a:srgbClr val="000000"/>
              </a:solidFill>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19</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4163505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7ECF1-1CD5-F9E6-D93E-B7FE4642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2FE10-18E8-1167-5434-1F3E03D066DC}"/>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3EEFB3C1-0818-0BAB-84FD-E4EA653B1037}"/>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DB001180-964B-729F-B993-C381B936D8F5}"/>
              </a:ext>
            </a:extLst>
          </p:cNvPr>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20</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837229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FB691-6D85-983E-E5B1-8ADCEF199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38981-8451-56B6-5A6A-5E8CC159C453}"/>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E71B09BF-8B87-C3F6-8A84-BE1095BEF286}"/>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53F46B14-C0BB-0E8A-1A52-CC876D75544E}"/>
              </a:ext>
            </a:extLst>
          </p:cNvPr>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21</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990238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F8716-6E30-9B5D-CE94-87D128EB8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F6F2B-3B5E-6933-1F26-B64D0F3C10F8}"/>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4F61060-72C4-08A4-8BBF-E464EA020DCE}"/>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0FD94A3F-80F0-98BE-293F-7BE368C641B8}"/>
              </a:ext>
            </a:extLst>
          </p:cNvPr>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22</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839064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BCFE-E86B-E4C2-053E-3AB4EFE549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921C3-BFF1-15E0-3D96-834F452404F7}"/>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D32F458D-E456-F9FE-DA22-4AE3B01E9A30}"/>
              </a:ext>
            </a:extLst>
          </p:cNvPr>
          <p:cNvSpPr>
            <a:spLocks noGrp="1"/>
          </p:cNvSpPr>
          <p:nvPr>
            <p:ph type="body" idx="1"/>
          </p:nvPr>
        </p:nvSpPr>
        <p:spPr/>
        <p:txBody>
          <a:bodyPr/>
          <a:lstStyle/>
          <a:p>
            <a:r>
              <a:rPr lang="en-US" dirty="0"/>
              <a:t>using </a:t>
            </a:r>
            <a:r>
              <a:rPr lang="en-US" dirty="0" err="1"/>
              <a:t>UnityEngine</a:t>
            </a:r>
            <a:r>
              <a:rPr lang="en-US" dirty="0"/>
              <a:t>;</a:t>
            </a:r>
          </a:p>
          <a:p>
            <a:endParaRPr lang="en-US" dirty="0"/>
          </a:p>
          <a:p>
            <a:r>
              <a:rPr lang="en-US" dirty="0"/>
              <a:t>public class </a:t>
            </a:r>
            <a:r>
              <a:rPr lang="en-US" dirty="0" err="1"/>
              <a:t>CubeController</a:t>
            </a:r>
            <a:r>
              <a:rPr lang="en-US" dirty="0"/>
              <a:t> : </a:t>
            </a:r>
            <a:r>
              <a:rPr lang="en-US" dirty="0" err="1"/>
              <a:t>MonoBehaviour</a:t>
            </a:r>
            <a:r>
              <a:rPr lang="en-US" dirty="0"/>
              <a:t>  // Make sure there's no space between </a:t>
            </a:r>
            <a:r>
              <a:rPr lang="en-US" dirty="0" err="1"/>
              <a:t>MonoBehaviour</a:t>
            </a:r>
            <a:r>
              <a:rPr lang="en-US" dirty="0"/>
              <a:t> and the curly brace</a:t>
            </a:r>
          </a:p>
          <a:p>
            <a:r>
              <a:rPr lang="en-US" dirty="0"/>
              <a:t>{</a:t>
            </a:r>
          </a:p>
          <a:p>
            <a:r>
              <a:rPr lang="en-US" dirty="0"/>
              <a:t>    private Renderer </a:t>
            </a:r>
            <a:r>
              <a:rPr lang="en-US" dirty="0" err="1"/>
              <a:t>cubeRenderer</a:t>
            </a:r>
            <a:r>
              <a:rPr lang="en-US" dirty="0"/>
              <a:t>;</a:t>
            </a:r>
          </a:p>
          <a:p>
            <a:r>
              <a:rPr lang="en-US" dirty="0"/>
              <a:t>    private Color[] colors = new Color[] </a:t>
            </a:r>
          </a:p>
          <a:p>
            <a:r>
              <a:rPr lang="en-US" dirty="0"/>
              <a:t>    {</a:t>
            </a:r>
          </a:p>
          <a:p>
            <a:r>
              <a:rPr lang="en-US" dirty="0"/>
              <a:t>        </a:t>
            </a:r>
            <a:r>
              <a:rPr lang="en-US" dirty="0" err="1"/>
              <a:t>Color.red</a:t>
            </a:r>
            <a:r>
              <a:rPr lang="en-US" dirty="0"/>
              <a:t>,</a:t>
            </a:r>
          </a:p>
          <a:p>
            <a:r>
              <a:rPr lang="en-US" dirty="0"/>
              <a:t>        </a:t>
            </a:r>
            <a:r>
              <a:rPr lang="en-US" dirty="0" err="1"/>
              <a:t>Color.blue</a:t>
            </a:r>
            <a:r>
              <a:rPr lang="en-US" dirty="0"/>
              <a:t>,</a:t>
            </a:r>
          </a:p>
          <a:p>
            <a:r>
              <a:rPr lang="en-US" dirty="0"/>
              <a:t>        </a:t>
            </a:r>
            <a:r>
              <a:rPr lang="en-US" dirty="0" err="1"/>
              <a:t>Color.green</a:t>
            </a:r>
            <a:r>
              <a:rPr lang="en-US" dirty="0"/>
              <a:t>,</a:t>
            </a:r>
          </a:p>
          <a:p>
            <a:r>
              <a:rPr lang="en-US" dirty="0"/>
              <a:t>        </a:t>
            </a:r>
            <a:r>
              <a:rPr lang="en-US" dirty="0" err="1"/>
              <a:t>Color.yellow</a:t>
            </a:r>
            <a:endParaRPr lang="en-US" dirty="0"/>
          </a:p>
          <a:p>
            <a:r>
              <a:rPr lang="en-US" dirty="0"/>
              <a:t>    };</a:t>
            </a:r>
          </a:p>
          <a:p>
            <a:r>
              <a:rPr lang="en-US" dirty="0"/>
              <a:t>    private int </a:t>
            </a:r>
            <a:r>
              <a:rPr lang="en-US" dirty="0" err="1"/>
              <a:t>currentColorIndex</a:t>
            </a:r>
            <a:r>
              <a:rPr lang="en-US" dirty="0"/>
              <a:t> = 0;</a:t>
            </a:r>
          </a:p>
          <a:p>
            <a:endParaRPr lang="en-US" dirty="0"/>
          </a:p>
          <a:p>
            <a:r>
              <a:rPr lang="en-US" dirty="0"/>
              <a:t>    void Start()</a:t>
            </a:r>
          </a:p>
          <a:p>
            <a:r>
              <a:rPr lang="en-US" dirty="0"/>
              <a:t>    {</a:t>
            </a:r>
          </a:p>
          <a:p>
            <a:r>
              <a:rPr lang="en-US" dirty="0"/>
              <a:t>        // Get the renderer component</a:t>
            </a:r>
          </a:p>
          <a:p>
            <a:r>
              <a:rPr lang="en-US" dirty="0"/>
              <a:t>        </a:t>
            </a:r>
            <a:r>
              <a:rPr lang="en-US" dirty="0" err="1"/>
              <a:t>cubeRenderer</a:t>
            </a:r>
            <a:r>
              <a:rPr lang="en-US" dirty="0"/>
              <a:t> = </a:t>
            </a:r>
            <a:r>
              <a:rPr lang="en-US" dirty="0" err="1"/>
              <a:t>GetComponent</a:t>
            </a:r>
            <a:r>
              <a:rPr lang="en-US" dirty="0"/>
              <a:t>&lt;Renderer&gt;();</a:t>
            </a:r>
          </a:p>
          <a:p>
            <a:r>
              <a:rPr lang="en-US" dirty="0"/>
              <a:t>        // Set initial color</a:t>
            </a:r>
          </a:p>
          <a:p>
            <a:r>
              <a:rPr lang="en-US" dirty="0"/>
              <a:t>        </a:t>
            </a:r>
            <a:r>
              <a:rPr lang="en-US" dirty="0" err="1"/>
              <a:t>cubeRenderer.material.color</a:t>
            </a:r>
            <a:r>
              <a:rPr lang="en-US" dirty="0"/>
              <a:t> = colors[</a:t>
            </a:r>
            <a:r>
              <a:rPr lang="en-US" dirty="0" err="1"/>
              <a:t>currentColorIndex</a:t>
            </a:r>
            <a:r>
              <a:rPr lang="en-US" dirty="0"/>
              <a:t>];</a:t>
            </a:r>
          </a:p>
          <a:p>
            <a:r>
              <a:rPr lang="en-US" dirty="0"/>
              <a:t>    }</a:t>
            </a:r>
          </a:p>
          <a:p>
            <a:endParaRPr lang="en-US" dirty="0"/>
          </a:p>
          <a:p>
            <a:r>
              <a:rPr lang="en-US" dirty="0"/>
              <a:t>    void </a:t>
            </a:r>
            <a:r>
              <a:rPr lang="en-US" dirty="0" err="1"/>
              <a:t>OnMouseDown</a:t>
            </a:r>
            <a:r>
              <a:rPr lang="en-US" dirty="0"/>
              <a:t>()</a:t>
            </a:r>
          </a:p>
          <a:p>
            <a:r>
              <a:rPr lang="en-US" dirty="0"/>
              <a:t>    {</a:t>
            </a:r>
          </a:p>
          <a:p>
            <a:r>
              <a:rPr lang="en-US" dirty="0"/>
              <a:t>        // Change to next color when clicked</a:t>
            </a:r>
          </a:p>
          <a:p>
            <a:r>
              <a:rPr lang="en-US" dirty="0"/>
              <a:t>        </a:t>
            </a:r>
            <a:r>
              <a:rPr lang="en-US" dirty="0" err="1"/>
              <a:t>currentColorIndex</a:t>
            </a:r>
            <a:r>
              <a:rPr lang="en-US" dirty="0"/>
              <a:t> = (</a:t>
            </a:r>
            <a:r>
              <a:rPr lang="en-US" dirty="0" err="1"/>
              <a:t>currentColorIndex</a:t>
            </a:r>
            <a:r>
              <a:rPr lang="en-US" dirty="0"/>
              <a:t> + 1) % </a:t>
            </a:r>
            <a:r>
              <a:rPr lang="en-US" dirty="0" err="1"/>
              <a:t>colors.length</a:t>
            </a:r>
            <a:r>
              <a:rPr lang="en-US" dirty="0"/>
              <a:t>;</a:t>
            </a:r>
          </a:p>
          <a:p>
            <a:r>
              <a:rPr lang="en-US" dirty="0"/>
              <a:t>        </a:t>
            </a:r>
            <a:r>
              <a:rPr lang="en-US" dirty="0" err="1"/>
              <a:t>cubeRenderer.material.color</a:t>
            </a:r>
            <a:r>
              <a:rPr lang="en-US" dirty="0"/>
              <a:t> = colors[</a:t>
            </a:r>
            <a:r>
              <a:rPr lang="en-US" dirty="0" err="1"/>
              <a:t>currentColorIndex</a:t>
            </a:r>
            <a:r>
              <a:rPr lang="en-US" dirty="0"/>
              <a:t>];</a:t>
            </a:r>
          </a:p>
          <a:p>
            <a:r>
              <a:rPr lang="en-US" dirty="0"/>
              <a:t>    }</a:t>
            </a:r>
          </a:p>
          <a:p>
            <a:r>
              <a:rPr lang="en-US" dirty="0"/>
              <a:t>}</a:t>
            </a:r>
            <a:endParaRPr lang="en-VN" dirty="0"/>
          </a:p>
        </p:txBody>
      </p:sp>
      <p:sp>
        <p:nvSpPr>
          <p:cNvPr id="4" name="Slide Number Placeholder 3">
            <a:extLst>
              <a:ext uri="{FF2B5EF4-FFF2-40B4-BE49-F238E27FC236}">
                <a16:creationId xmlns:a16="http://schemas.microsoft.com/office/drawing/2014/main" id="{4D12AD59-7122-2557-4ED9-7149BDC3AA6B}"/>
              </a:ext>
            </a:extLst>
          </p:cNvPr>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23</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429607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0D61F-ECF6-DBA2-0D14-17F193B95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1166F-25AE-5620-F9DE-F7E3E57E0E3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69CDBE0-6517-DEA2-347C-4004B98BC155}"/>
              </a:ext>
            </a:extLst>
          </p:cNvPr>
          <p:cNvSpPr>
            <a:spLocks noGrp="1"/>
          </p:cNvSpPr>
          <p:nvPr>
            <p:ph type="body" idx="1"/>
          </p:nvPr>
        </p:nvSpPr>
        <p:spPr/>
        <p:txBody>
          <a:bodyPr/>
          <a:lstStyle/>
          <a:p>
            <a:endParaRPr lang="en-VN" dirty="0"/>
          </a:p>
        </p:txBody>
      </p:sp>
      <p:sp>
        <p:nvSpPr>
          <p:cNvPr id="4" name="Slide Number Placeholder 3">
            <a:extLst>
              <a:ext uri="{FF2B5EF4-FFF2-40B4-BE49-F238E27FC236}">
                <a16:creationId xmlns:a16="http://schemas.microsoft.com/office/drawing/2014/main" id="{EA0805A3-4528-47E8-1894-1613B8A5D85B}"/>
              </a:ext>
            </a:extLst>
          </p:cNvPr>
          <p:cNvSpPr>
            <a:spLocks noGrp="1"/>
          </p:cNvSpPr>
          <p:nvPr>
            <p:ph type="sldNum" idx="4"/>
          </p:nvPr>
        </p:nvSpPr>
        <p:spPr/>
        <p:txBody>
          <a:bodyPr/>
          <a:lstStyle/>
          <a:p>
            <a:pPr indent="0" algn="r">
              <a:buNone/>
            </a:pPr>
            <a:fld id="{62137B6E-73CD-4FB7-9D24-90B4FCFA844F}" type="slidenum">
              <a:rPr lang="en-US" sz="1400" b="0" strike="noStrike" spc="-1" smtClean="0">
                <a:solidFill>
                  <a:srgbClr val="000000"/>
                </a:solidFill>
                <a:latin typeface="Times New Roman"/>
              </a:rPr>
              <a:t>24</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2416777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7272BA6F-05FA-47E0-B067-D0364609A7DE}"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4DFE2D94-1B5D-4F66-A5C2-E59B9440FEDE}"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3D98B66E-D7FD-421E-ABCB-0C39ED854C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2F2E6AE8-2949-4AB8-BBC5-2FAB2DB71032}"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ldNum" idx="1"/>
          </p:nvPr>
        </p:nvSpPr>
        <p:spPr/>
        <p:txBody>
          <a:bodyPr/>
          <a:lstStyle/>
          <a:p>
            <a:fld id="{0B8E3F32-9401-4957-A201-9A928A873F01}"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sldNum" idx="1"/>
          </p:nvPr>
        </p:nvSpPr>
        <p:spPr/>
        <p:txBody>
          <a:bodyPr/>
          <a:lstStyle/>
          <a:p>
            <a:fld id="{D5B2F401-D72B-424F-A961-8D5D5EB027E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ECE18C24-B53F-4D19-ADA9-057A41B25817}"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4331CFB1-7430-447D-A0A6-8FE4111BE1AC}"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FF3DD13B-7093-4492-A05A-273CB31F6D8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E9834703-F5A4-4734-AAD4-942945BCF56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sldNum" idx="1"/>
          </p:nvPr>
        </p:nvSpPr>
        <p:spPr/>
        <p:txBody>
          <a:bodyPr/>
          <a:lstStyle/>
          <a:p>
            <a:fld id="{A23CA4CD-A5D1-4E60-82D6-99FC5453BD1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sldNum" idx="1"/>
          </p:nvPr>
        </p:nvSpPr>
        <p:spPr/>
        <p:txBody>
          <a:bodyPr/>
          <a:lstStyle/>
          <a:p>
            <a:fld id="{01273AFC-00DC-4773-8DEE-6F2411054BC7}"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p:nvPr/>
        </p:nvSpPr>
        <p:spPr>
          <a:xfrm>
            <a:off x="0" y="6461280"/>
            <a:ext cx="12179520" cy="39132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sp>
        <p:nvSpPr>
          <p:cNvPr id="8" name="TextBox 9"/>
          <p:cNvSpPr/>
          <p:nvPr/>
        </p:nvSpPr>
        <p:spPr>
          <a:xfrm>
            <a:off x="0" y="681120"/>
            <a:ext cx="216000" cy="703440"/>
          </a:xfrm>
          <a:prstGeom prst="rect">
            <a:avLst/>
          </a:prstGeom>
          <a:solidFill>
            <a:srgbClr val="4E8F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pic>
        <p:nvPicPr>
          <p:cNvPr id="2" name="Picture 9" descr="GitHub - morzhanov/nodejs-express-boilerplate: Node.js Boilerplate is an  project that allows you to start new node.js project from scratch."/>
          <p:cNvPicPr/>
          <p:nvPr/>
        </p:nvPicPr>
        <p:blipFill>
          <a:blip r:embed="rId14"/>
          <a:stretch/>
        </p:blipFill>
        <p:spPr>
          <a:xfrm>
            <a:off x="10759680" y="3600"/>
            <a:ext cx="1383120" cy="763920"/>
          </a:xfrm>
          <a:prstGeom prst="rect">
            <a:avLst/>
          </a:prstGeom>
          <a:ln w="0">
            <a:noFill/>
          </a:ln>
        </p:spPr>
      </p:pic>
      <p:pic>
        <p:nvPicPr>
          <p:cNvPr id="3" name="Picture 2"/>
          <p:cNvPicPr/>
          <p:nvPr/>
        </p:nvPicPr>
        <p:blipFill>
          <a:blip r:embed="rId15"/>
          <a:stretch/>
        </p:blipFill>
        <p:spPr>
          <a:xfrm>
            <a:off x="25560" y="30240"/>
            <a:ext cx="1569960" cy="629280"/>
          </a:xfrm>
          <a:prstGeom prst="rect">
            <a:avLst/>
          </a:prstGeom>
          <a:ln w="0">
            <a:noFill/>
          </a:ln>
        </p:spPr>
      </p:pic>
      <p:sp>
        <p:nvSpPr>
          <p:cNvPr id="4" name="PlaceHolder 1"/>
          <p:cNvSpPr>
            <a:spLocks noGrp="1"/>
          </p:cNvSpPr>
          <p:nvPr>
            <p:ph type="sldNum" idx="1"/>
          </p:nvPr>
        </p:nvSpPr>
        <p:spPr>
          <a:xfrm>
            <a:off x="8610480" y="6483240"/>
            <a:ext cx="2730600" cy="3524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5197A50B-7F6C-46DE-BCF5-1DEB0B4FBE08}"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5"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6"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1108800" y="1589760"/>
            <a:ext cx="9961560" cy="1910880"/>
          </a:xfrm>
          <a:prstGeom prst="rect">
            <a:avLst/>
          </a:prstGeom>
          <a:gradFill rotWithShape="0">
            <a:gsLst>
              <a:gs pos="87000">
                <a:srgbClr val="FFFFFF">
                  <a:alpha val="0"/>
                </a:srgbClr>
              </a:gs>
              <a:gs pos="100000">
                <a:srgbClr val="EE853D">
                  <a:alpha val="76078"/>
                </a:srgbClr>
              </a:gs>
            </a:gsLst>
            <a:lin ang="5400000"/>
          </a:gradFill>
          <a:ln w="0">
            <a:noFill/>
          </a:ln>
        </p:spPr>
        <p:txBody>
          <a:bodyPr lIns="90000" tIns="45000" rIns="90000" bIns="45000" anchor="ctr">
            <a:normAutofit/>
          </a:bodyPr>
          <a:lstStyle/>
          <a:p>
            <a:pPr indent="0" algn="ctr">
              <a:lnSpc>
                <a:spcPct val="114000"/>
              </a:lnSpc>
              <a:buNone/>
              <a:tabLst>
                <a:tab pos="0" algn="l"/>
              </a:tabLst>
            </a:pPr>
            <a:r>
              <a:rPr lang="en-US" sz="4400" b="0" strike="noStrike" spc="-1">
                <a:solidFill>
                  <a:srgbClr val="000000"/>
                </a:solidFill>
                <a:latin typeface="Arial"/>
              </a:rPr>
              <a:t>Understanding Unity's </a:t>
            </a:r>
            <a:br>
              <a:rPr sz="4400"/>
            </a:br>
            <a:r>
              <a:rPr lang="en-US" sz="4400" b="0" strike="noStrike" spc="-1">
                <a:solidFill>
                  <a:srgbClr val="000000"/>
                </a:solidFill>
                <a:latin typeface="Arial"/>
              </a:rPr>
              <a:t>Component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228600" y="681120"/>
            <a:ext cx="11812320" cy="703440"/>
          </a:xfrm>
          <a:prstGeom prst="rect">
            <a:avLst/>
          </a:prstGeom>
          <a:noFill/>
          <a:ln w="0">
            <a:noFill/>
          </a:ln>
        </p:spPr>
        <p:txBody>
          <a:bodyPr lIns="90000" tIns="45000" rIns="90000" bIns="45000" anchor="ctr">
            <a:normAutofit/>
          </a:bodyPr>
          <a:lstStyle/>
          <a:p>
            <a:pPr marL="233280" indent="0">
              <a:lnSpc>
                <a:spcPct val="90000"/>
              </a:lnSpc>
              <a:buNone/>
              <a:tabLst>
                <a:tab pos="0" algn="l"/>
              </a:tabLst>
            </a:pPr>
            <a:r>
              <a:rPr lang="en-US" sz="4000" b="1" strike="noStrike" spc="-1">
                <a:solidFill>
                  <a:srgbClr val="000000"/>
                </a:solidFill>
                <a:latin typeface="Arial"/>
              </a:rPr>
              <a:t>Learning Objectives</a:t>
            </a:r>
            <a:endParaRPr lang="en-US" sz="4000" b="0" strike="noStrike" spc="-1">
              <a:solidFill>
                <a:srgbClr val="000000"/>
              </a:solidFill>
              <a:latin typeface="Arial"/>
            </a:endParaRPr>
          </a:p>
        </p:txBody>
      </p:sp>
      <p:sp>
        <p:nvSpPr>
          <p:cNvPr id="51" name="Rectangle 50"/>
          <p:cNvSpPr/>
          <p:nvPr/>
        </p:nvSpPr>
        <p:spPr>
          <a:xfrm>
            <a:off x="518615" y="1869743"/>
            <a:ext cx="9789625" cy="267496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200000"/>
              </a:lnSpc>
              <a:buClr>
                <a:srgbClr val="000000"/>
              </a:buClr>
              <a:buSzPct val="45000"/>
              <a:buFont typeface="Wingdings" charset="2"/>
              <a:buChar char=""/>
            </a:pPr>
            <a:r>
              <a:rPr lang="en-US" sz="2800" b="0" strike="noStrike" spc="-1" dirty="0">
                <a:solidFill>
                  <a:srgbClr val="000000"/>
                </a:solidFill>
                <a:latin typeface="Arial"/>
                <a:ea typeface="DejaVu Sans"/>
              </a:rPr>
              <a:t>Understand the concept of Unity's component system.</a:t>
            </a:r>
            <a:endParaRPr lang="en-US" sz="2800" b="0" strike="noStrike" spc="-1" dirty="0">
              <a:solidFill>
                <a:srgbClr val="000000"/>
              </a:solidFill>
              <a:latin typeface="Arial"/>
            </a:endParaRPr>
          </a:p>
          <a:p>
            <a:pPr marL="216000" indent="-216000">
              <a:lnSpc>
                <a:spcPct val="200000"/>
              </a:lnSpc>
              <a:buClr>
                <a:srgbClr val="000000"/>
              </a:buClr>
              <a:buSzPct val="45000"/>
              <a:buFont typeface="Wingdings" charset="2"/>
              <a:buChar char=""/>
            </a:pPr>
            <a:r>
              <a:rPr lang="en-US" sz="2800" b="0" strike="noStrike" spc="-1" dirty="0">
                <a:solidFill>
                  <a:srgbClr val="000000"/>
                </a:solidFill>
                <a:latin typeface="Arial"/>
                <a:ea typeface="DejaVu Sans"/>
              </a:rPr>
              <a:t>Explore common components and their roles.</a:t>
            </a:r>
            <a:endParaRPr lang="en-US" sz="2800" b="0" strike="noStrike" spc="-1" dirty="0">
              <a:solidFill>
                <a:srgbClr val="000000"/>
              </a:solidFill>
              <a:latin typeface="Arial"/>
            </a:endParaRPr>
          </a:p>
          <a:p>
            <a:pPr marL="216000" indent="-216000">
              <a:lnSpc>
                <a:spcPct val="200000"/>
              </a:lnSpc>
              <a:buClr>
                <a:srgbClr val="000000"/>
              </a:buClr>
              <a:buSzPct val="45000"/>
              <a:buFont typeface="Wingdings" charset="2"/>
              <a:buChar char=""/>
            </a:pPr>
            <a:r>
              <a:rPr lang="en-US" sz="2800" b="0" strike="noStrike" spc="-1" dirty="0">
                <a:solidFill>
                  <a:srgbClr val="000000"/>
                </a:solidFill>
                <a:latin typeface="Arial"/>
                <a:ea typeface="DejaVu Sans"/>
              </a:rPr>
              <a:t>Grasp the significance of component-based design in Unity.</a:t>
            </a:r>
            <a:endParaRPr lang="en-US" sz="2800" b="0" strike="noStrike" spc="-1" dirty="0">
              <a:solidFill>
                <a:srgbClr val="000000"/>
              </a:solidFill>
              <a:latin typeface="Arial"/>
            </a:endParaRPr>
          </a:p>
        </p:txBody>
      </p:sp>
      <p:sp>
        <p:nvSpPr>
          <p:cNvPr id="3" name="PlaceHolder 2"/>
          <p:cNvSpPr>
            <a:spLocks noGrp="1"/>
          </p:cNvSpPr>
          <p:nvPr>
            <p:ph type="sldNum" idx="1"/>
          </p:nvPr>
        </p:nvSpPr>
        <p:spPr/>
        <p:txBody>
          <a:bodyPr/>
          <a:lstStyle/>
          <a:p>
            <a:fld id="{20DB561B-45BF-4C20-88A2-08A848ABFB00}"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2"/>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DejaVu Sans"/>
              </a:rPr>
              <a:t>What is Unity's Component System</a:t>
            </a:r>
            <a:endParaRPr lang="en-US" sz="4000" b="0" strike="noStrike" spc="-1">
              <a:solidFill>
                <a:srgbClr val="000000"/>
              </a:solidFill>
              <a:latin typeface="Arial"/>
            </a:endParaRPr>
          </a:p>
        </p:txBody>
      </p:sp>
      <p:sp>
        <p:nvSpPr>
          <p:cNvPr id="53" name="Rectangle 52"/>
          <p:cNvSpPr/>
          <p:nvPr/>
        </p:nvSpPr>
        <p:spPr>
          <a:xfrm>
            <a:off x="596160" y="1455480"/>
            <a:ext cx="10827000" cy="443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1800" b="0" strike="noStrike" spc="-1" dirty="0">
                <a:solidFill>
                  <a:srgbClr val="000000"/>
                </a:solidFill>
                <a:latin typeface="Arial"/>
                <a:ea typeface="DejaVu Sans"/>
              </a:rPr>
              <a:t>The Entity Component System (ECS) is the core of the Unity Data-Oriented Tech Stack (DOTS). As the name indicates, ECS has three principal parts:</a:t>
            </a:r>
            <a:endParaRPr lang="en-US" sz="1800" b="0" strike="noStrike" spc="-1" dirty="0">
              <a:solidFill>
                <a:srgbClr val="000000"/>
              </a:solidFill>
              <a:latin typeface="Arial"/>
            </a:endParaRPr>
          </a:p>
          <a:p>
            <a:pPr>
              <a:lnSpc>
                <a:spcPct val="115000"/>
              </a:lnSpc>
            </a:pPr>
            <a:endParaRPr lang="en-US" sz="1800" b="0" strike="noStrike" spc="-1" dirty="0">
              <a:solidFill>
                <a:srgbClr val="000000"/>
              </a:solidFill>
              <a:latin typeface="Arial"/>
            </a:endParaRPr>
          </a:p>
          <a:p>
            <a:pPr>
              <a:lnSpc>
                <a:spcPct val="115000"/>
              </a:lnSpc>
            </a:pPr>
            <a:r>
              <a:rPr lang="en-US" sz="1800" b="0" i="1" strike="noStrike" spc="-1" dirty="0">
                <a:solidFill>
                  <a:srgbClr val="3465A4"/>
                </a:solidFill>
                <a:latin typeface="Arial"/>
                <a:ea typeface="DejaVu Sans"/>
              </a:rPr>
              <a:t>Entities</a:t>
            </a:r>
            <a:r>
              <a:rPr lang="en-US" sz="1800" b="0" strike="noStrike" spc="-1" dirty="0">
                <a:solidFill>
                  <a:srgbClr val="000000"/>
                </a:solidFill>
                <a:latin typeface="Arial"/>
                <a:ea typeface="DejaVu Sans"/>
              </a:rPr>
              <a:t> — the entities, or things, that populate your game or program.</a:t>
            </a:r>
            <a:endParaRPr lang="en-US" sz="1800" b="0" strike="noStrike" spc="-1" dirty="0">
              <a:solidFill>
                <a:srgbClr val="000000"/>
              </a:solidFill>
              <a:latin typeface="Arial"/>
            </a:endParaRPr>
          </a:p>
          <a:p>
            <a:pPr>
              <a:lnSpc>
                <a:spcPct val="115000"/>
              </a:lnSpc>
            </a:pPr>
            <a:endParaRPr lang="en-US" sz="1800" b="0" strike="noStrike" spc="-1" dirty="0">
              <a:solidFill>
                <a:srgbClr val="000000"/>
              </a:solidFill>
              <a:latin typeface="Arial"/>
            </a:endParaRPr>
          </a:p>
          <a:p>
            <a:pPr>
              <a:lnSpc>
                <a:spcPct val="115000"/>
              </a:lnSpc>
            </a:pPr>
            <a:r>
              <a:rPr lang="en-US" sz="1800" b="0" i="1" strike="noStrike" spc="-1" dirty="0">
                <a:solidFill>
                  <a:srgbClr val="3465A4"/>
                </a:solidFill>
                <a:latin typeface="Arial"/>
                <a:ea typeface="DejaVu Sans"/>
              </a:rPr>
              <a:t>Components</a:t>
            </a:r>
            <a:r>
              <a:rPr lang="en-US" sz="1800" b="0" strike="noStrike" spc="-1" dirty="0">
                <a:solidFill>
                  <a:srgbClr val="000000"/>
                </a:solidFill>
                <a:latin typeface="Arial"/>
                <a:ea typeface="DejaVu Sans"/>
              </a:rPr>
              <a:t> — the data associated with your entities, but organized by the data itself rather than by entity. (This difference in organization is one of the key differences between an object-oriented and a data-oriented design.)</a:t>
            </a:r>
            <a:endParaRPr lang="en-US" sz="1800" b="0" strike="noStrike" spc="-1" dirty="0">
              <a:solidFill>
                <a:srgbClr val="000000"/>
              </a:solidFill>
              <a:latin typeface="Arial"/>
            </a:endParaRPr>
          </a:p>
          <a:p>
            <a:pPr>
              <a:lnSpc>
                <a:spcPct val="115000"/>
              </a:lnSpc>
            </a:pPr>
            <a:endParaRPr lang="en-US" sz="1800" b="0" strike="noStrike" spc="-1" dirty="0">
              <a:solidFill>
                <a:srgbClr val="000000"/>
              </a:solidFill>
              <a:latin typeface="Arial"/>
            </a:endParaRPr>
          </a:p>
          <a:p>
            <a:pPr>
              <a:lnSpc>
                <a:spcPct val="115000"/>
              </a:lnSpc>
            </a:pPr>
            <a:r>
              <a:rPr lang="en-US" sz="1800" b="0" i="1" strike="noStrike" spc="-1" dirty="0">
                <a:solidFill>
                  <a:srgbClr val="3465A4"/>
                </a:solidFill>
                <a:latin typeface="Arial"/>
                <a:ea typeface="DejaVu Sans"/>
              </a:rPr>
              <a:t>Systems</a:t>
            </a:r>
            <a:r>
              <a:rPr lang="en-US" sz="1800" b="0" strike="noStrike" spc="-1" dirty="0">
                <a:solidFill>
                  <a:srgbClr val="000000"/>
                </a:solidFill>
                <a:latin typeface="Arial"/>
                <a:ea typeface="DejaVu Sans"/>
              </a:rPr>
              <a:t> — the logic that transforms the component data from its current state to its next state— for example, a system might update the positions of </a:t>
            </a:r>
            <a:r>
              <a:rPr lang="en-US" sz="1800" b="0" u="sng" strike="noStrike" spc="-1" dirty="0">
                <a:solidFill>
                  <a:srgbClr val="000000"/>
                </a:solidFill>
                <a:latin typeface="Arial"/>
                <a:ea typeface="DejaVu Sans"/>
              </a:rPr>
              <a:t>all</a:t>
            </a:r>
            <a:r>
              <a:rPr lang="en-US" sz="1800" b="0" strike="noStrike" spc="-1" dirty="0">
                <a:solidFill>
                  <a:srgbClr val="000000"/>
                </a:solidFill>
                <a:latin typeface="Arial"/>
                <a:ea typeface="DejaVu Sans"/>
              </a:rPr>
              <a:t> moving entities by their velocity times the time interval since the previous frame.</a:t>
            </a:r>
            <a:endParaRPr lang="en-US" sz="1800" b="0" strike="noStrike" spc="-1" dirty="0">
              <a:solidFill>
                <a:srgbClr val="000000"/>
              </a:solidFill>
              <a:latin typeface="Arial"/>
            </a:endParaRPr>
          </a:p>
        </p:txBody>
      </p:sp>
      <p:sp>
        <p:nvSpPr>
          <p:cNvPr id="54" name="Rectangle 53"/>
          <p:cNvSpPr/>
          <p:nvPr/>
        </p:nvSpPr>
        <p:spPr>
          <a:xfrm>
            <a:off x="8915400" y="6593400"/>
            <a:ext cx="2257560" cy="114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55" name="Straight Connector 54"/>
          <p:cNvSpPr/>
          <p:nvPr/>
        </p:nvSpPr>
        <p:spPr>
          <a:xfrm>
            <a:off x="685800" y="2779200"/>
            <a:ext cx="6858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56" name="Straight Connector 55"/>
          <p:cNvSpPr/>
          <p:nvPr/>
        </p:nvSpPr>
        <p:spPr>
          <a:xfrm>
            <a:off x="685800" y="3393000"/>
            <a:ext cx="13716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57" name="Straight Connector 56"/>
          <p:cNvSpPr/>
          <p:nvPr/>
        </p:nvSpPr>
        <p:spPr>
          <a:xfrm>
            <a:off x="685800" y="4656600"/>
            <a:ext cx="914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58" name="Straight Connector 57"/>
          <p:cNvSpPr/>
          <p:nvPr/>
        </p:nvSpPr>
        <p:spPr>
          <a:xfrm>
            <a:off x="1143000" y="1828800"/>
            <a:ext cx="34290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59" name="Straight Connector 58"/>
          <p:cNvSpPr/>
          <p:nvPr/>
        </p:nvSpPr>
        <p:spPr>
          <a:xfrm>
            <a:off x="2286000" y="3393000"/>
            <a:ext cx="38862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1"/>
          </p:nvPr>
        </p:nvSpPr>
        <p:spPr/>
        <p:txBody>
          <a:bodyPr/>
          <a:lstStyle/>
          <a:p>
            <a:fld id="{81CBB65A-11B9-489E-8D36-087394629DF5}"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647280" y="1479600"/>
            <a:ext cx="10775880" cy="1618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1800" b="0" strike="noStrike" spc="-1" dirty="0">
                <a:solidFill>
                  <a:srgbClr val="000000"/>
                </a:solidFill>
                <a:latin typeface="Arial"/>
                <a:ea typeface="DejaVu Sans"/>
              </a:rPr>
              <a:t>In a component system, components are mix-and-match packets of functionality, and objects are built up as a collection of components, </a:t>
            </a:r>
            <a:r>
              <a:rPr lang="en-US" sz="1800" b="0" u="sng" strike="noStrike" spc="-1" dirty="0">
                <a:solidFill>
                  <a:srgbClr val="000000"/>
                </a:solidFill>
                <a:latin typeface="Arial"/>
                <a:ea typeface="DejaVu Sans"/>
              </a:rPr>
              <a:t>rather than as a strict hierarchy of classes</a:t>
            </a:r>
            <a:r>
              <a:rPr lang="en-US" sz="1800" b="0" strike="noStrike" spc="-1" dirty="0">
                <a:solidFill>
                  <a:srgbClr val="000000"/>
                </a:solidFill>
                <a:latin typeface="Arial"/>
                <a:ea typeface="DejaVu Sans"/>
              </a:rPr>
              <a:t>. A component system is a different (and usually </a:t>
            </a:r>
            <a:r>
              <a:rPr lang="en-US" sz="1800" b="0" u="sng" strike="noStrike" spc="-1" dirty="0">
                <a:solidFill>
                  <a:srgbClr val="000000"/>
                </a:solidFill>
                <a:latin typeface="Arial"/>
                <a:ea typeface="DejaVu Sans"/>
              </a:rPr>
              <a:t>more flexible) </a:t>
            </a:r>
            <a:r>
              <a:rPr lang="en-US" sz="1800" b="0" strike="noStrike" spc="-1" dirty="0">
                <a:solidFill>
                  <a:srgbClr val="000000"/>
                </a:solidFill>
                <a:latin typeface="Arial"/>
                <a:ea typeface="DejaVu Sans"/>
              </a:rPr>
              <a:t>approach to object-oriented programming (OOP) that constructs game objects through composition rather than inheritance.  </a:t>
            </a:r>
            <a:r>
              <a:rPr lang="en-US" sz="1800" b="0" strike="noStrike" spc="-1" baseline="33000" dirty="0">
                <a:solidFill>
                  <a:srgbClr val="000000"/>
                </a:solidFill>
                <a:latin typeface="Arial"/>
                <a:ea typeface="DejaVu Sans"/>
              </a:rPr>
              <a:t>[1]</a:t>
            </a:r>
            <a:endParaRPr lang="en-US" sz="1800" b="0" strike="noStrike" spc="-1" dirty="0">
              <a:solidFill>
                <a:srgbClr val="000000"/>
              </a:solidFill>
              <a:latin typeface="Arial"/>
            </a:endParaRPr>
          </a:p>
        </p:txBody>
      </p:sp>
      <p:sp>
        <p:nvSpPr>
          <p:cNvPr id="61" name="PlaceHolder 16"/>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DejaVu Sans"/>
              </a:rPr>
              <a:t>What is Unity's Component System</a:t>
            </a:r>
            <a:endParaRPr lang="en-US" sz="4000" b="0" strike="noStrike" spc="-1">
              <a:solidFill>
                <a:srgbClr val="000000"/>
              </a:solidFill>
              <a:latin typeface="Arial"/>
            </a:endParaRPr>
          </a:p>
        </p:txBody>
      </p:sp>
      <p:sp>
        <p:nvSpPr>
          <p:cNvPr id="62" name="Straight Connector 61"/>
          <p:cNvSpPr/>
          <p:nvPr/>
        </p:nvSpPr>
        <p:spPr>
          <a:xfrm>
            <a:off x="3200400" y="1962000"/>
            <a:ext cx="13716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63" name="Straight Connector 62"/>
          <p:cNvSpPr/>
          <p:nvPr/>
        </p:nvSpPr>
        <p:spPr>
          <a:xfrm>
            <a:off x="7543800" y="1962000"/>
            <a:ext cx="25146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64" name="Rectangle 63"/>
          <p:cNvSpPr/>
          <p:nvPr/>
        </p:nvSpPr>
        <p:spPr>
          <a:xfrm>
            <a:off x="6379200" y="6605640"/>
            <a:ext cx="4809600" cy="9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 Hocking, Joseph; Schell, Jesse, Unity in action: multiplatform game development in C#, 2022</a:t>
            </a:r>
            <a:endParaRPr lang="en-US" sz="900" b="0" strike="noStrike" spc="-1">
              <a:solidFill>
                <a:srgbClr val="000000"/>
              </a:solidFill>
              <a:latin typeface="Arial"/>
            </a:endParaRPr>
          </a:p>
        </p:txBody>
      </p:sp>
      <p:sp>
        <p:nvSpPr>
          <p:cNvPr id="65" name="Rectangle 64"/>
          <p:cNvSpPr/>
          <p:nvPr/>
        </p:nvSpPr>
        <p:spPr>
          <a:xfrm>
            <a:off x="685800" y="3770640"/>
            <a:ext cx="10695600" cy="1618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1800" b="0" strike="noStrike" spc="-1" dirty="0">
                <a:solidFill>
                  <a:srgbClr val="000000"/>
                </a:solidFill>
                <a:latin typeface="Arial"/>
                <a:ea typeface="DejaVu Sans"/>
              </a:rPr>
              <a:t>In a component system, objects exist on a flat hierarchy, and different objects have different collections of components. An inheritance structure, in contrast, has different objects on completely different branches of the tree. The component arrangement facilitates rapid prototyping, because you can quickly mix and match components rather than having to refactor the inheritance chain when objects change.</a:t>
            </a:r>
            <a:endParaRPr lang="en-US" sz="1800" b="0" strike="noStrike" spc="-1" dirty="0">
              <a:solidFill>
                <a:srgbClr val="000000"/>
              </a:solidFill>
              <a:latin typeface="Arial"/>
            </a:endParaRPr>
          </a:p>
        </p:txBody>
      </p:sp>
      <p:sp>
        <p:nvSpPr>
          <p:cNvPr id="66" name="Straight Connector 65"/>
          <p:cNvSpPr/>
          <p:nvPr/>
        </p:nvSpPr>
        <p:spPr>
          <a:xfrm>
            <a:off x="6978600" y="4235400"/>
            <a:ext cx="41148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67" name="Straight Connector 66"/>
          <p:cNvSpPr/>
          <p:nvPr/>
        </p:nvSpPr>
        <p:spPr>
          <a:xfrm flipV="1">
            <a:off x="806400" y="4656600"/>
            <a:ext cx="14796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1"/>
          </p:nvPr>
        </p:nvSpPr>
        <p:spPr/>
        <p:txBody>
          <a:bodyPr/>
          <a:lstStyle/>
          <a:p>
            <a:fld id="{8361AD81-61CC-4C52-9169-F0E0968D5206}"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7"/>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DejaVu Sans"/>
              </a:rPr>
              <a:t>What is Unity's Component System</a:t>
            </a:r>
            <a:endParaRPr lang="en-US" sz="4000" b="0" strike="noStrike" spc="-1">
              <a:solidFill>
                <a:srgbClr val="000000"/>
              </a:solidFill>
              <a:latin typeface="Arial"/>
            </a:endParaRPr>
          </a:p>
        </p:txBody>
      </p:sp>
      <p:graphicFrame>
        <p:nvGraphicFramePr>
          <p:cNvPr id="69" name="Table 68"/>
          <p:cNvGraphicFramePr/>
          <p:nvPr>
            <p:extLst>
              <p:ext uri="{D42A27DB-BD31-4B8C-83A1-F6EECF244321}">
                <p14:modId xmlns:p14="http://schemas.microsoft.com/office/powerpoint/2010/main" val="1855191767"/>
              </p:ext>
            </p:extLst>
          </p:nvPr>
        </p:nvGraphicFramePr>
        <p:xfrm>
          <a:off x="858240" y="2119680"/>
          <a:ext cx="1656360" cy="2862000"/>
        </p:xfrm>
        <a:graphic>
          <a:graphicData uri="http://schemas.openxmlformats.org/drawingml/2006/table">
            <a:tbl>
              <a:tblPr/>
              <a:tblGrid>
                <a:gridCol w="1656360">
                  <a:extLst>
                    <a:ext uri="{9D8B030D-6E8A-4147-A177-3AD203B41FA5}">
                      <a16:colId xmlns:a16="http://schemas.microsoft.com/office/drawing/2014/main" val="20000"/>
                    </a:ext>
                  </a:extLst>
                </a:gridCol>
              </a:tblGrid>
              <a:tr h="703080">
                <a:tc>
                  <a:txBody>
                    <a:bodyPr/>
                    <a:lstStyle/>
                    <a:p>
                      <a:pPr algn="ctr">
                        <a:lnSpc>
                          <a:spcPct val="100000"/>
                        </a:lnSpc>
                      </a:pPr>
                      <a:r>
                        <a:rPr lang="en-US" sz="1800" b="1" strike="noStrike" spc="-1" dirty="0">
                          <a:solidFill>
                            <a:srgbClr val="3465A4"/>
                          </a:solidFill>
                          <a:latin typeface="Arial"/>
                        </a:rPr>
                        <a:t>ESC</a:t>
                      </a:r>
                      <a:endParaRPr lang="en-US" sz="1800" b="0" strike="noStrike" spc="-1" dirty="0">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719640">
                <a:tc>
                  <a:txBody>
                    <a:bodyPr/>
                    <a:lstStyle/>
                    <a:p>
                      <a:pPr>
                        <a:lnSpc>
                          <a:spcPct val="100000"/>
                        </a:lnSpc>
                      </a:pPr>
                      <a:r>
                        <a:rPr lang="en-US" sz="1800" b="0" strike="noStrike" spc="-1">
                          <a:solidFill>
                            <a:srgbClr val="000000"/>
                          </a:solidFill>
                          <a:latin typeface="Arial"/>
                        </a:rPr>
                        <a:t>Entity</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719640">
                <a:tc>
                  <a:txBody>
                    <a:bodyPr/>
                    <a:lstStyle/>
                    <a:p>
                      <a:pPr>
                        <a:lnSpc>
                          <a:spcPct val="100000"/>
                        </a:lnSpc>
                      </a:pPr>
                      <a:r>
                        <a:rPr lang="en-US" sz="1800" b="0" strike="noStrike" spc="-1">
                          <a:solidFill>
                            <a:srgbClr val="000000"/>
                          </a:solidFill>
                          <a:latin typeface="Arial"/>
                        </a:rPr>
                        <a:t>Component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719640">
                <a:tc>
                  <a:txBody>
                    <a:bodyPr/>
                    <a:lstStyle/>
                    <a:p>
                      <a:pPr>
                        <a:lnSpc>
                          <a:spcPct val="100000"/>
                        </a:lnSpc>
                      </a:pPr>
                      <a:r>
                        <a:rPr lang="en-US" sz="1800" b="0" strike="noStrike" spc="-1" dirty="0">
                          <a:solidFill>
                            <a:srgbClr val="000000"/>
                          </a:solidFill>
                          <a:latin typeface="Arial"/>
                        </a:rPr>
                        <a:t>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bl>
          </a:graphicData>
        </a:graphic>
      </p:graphicFrame>
      <p:graphicFrame>
        <p:nvGraphicFramePr>
          <p:cNvPr id="70" name="Table 69"/>
          <p:cNvGraphicFramePr/>
          <p:nvPr/>
        </p:nvGraphicFramePr>
        <p:xfrm>
          <a:off x="4888440" y="1656000"/>
          <a:ext cx="6140160" cy="4444920"/>
        </p:xfrm>
        <a:graphic>
          <a:graphicData uri="http://schemas.openxmlformats.org/drawingml/2006/table">
            <a:tbl>
              <a:tblPr/>
              <a:tblGrid>
                <a:gridCol w="6140160">
                  <a:extLst>
                    <a:ext uri="{9D8B030D-6E8A-4147-A177-3AD203B41FA5}">
                      <a16:colId xmlns:a16="http://schemas.microsoft.com/office/drawing/2014/main" val="20000"/>
                    </a:ext>
                  </a:extLst>
                </a:gridCol>
              </a:tblGrid>
              <a:tr h="719640">
                <a:tc>
                  <a:txBody>
                    <a:bodyPr/>
                    <a:lstStyle/>
                    <a:p>
                      <a:pPr algn="ctr">
                        <a:lnSpc>
                          <a:spcPct val="100000"/>
                        </a:lnSpc>
                      </a:pPr>
                      <a:r>
                        <a:rPr lang="en-US" sz="1800" b="1" strike="noStrike" spc="-1">
                          <a:solidFill>
                            <a:srgbClr val="3465A4"/>
                          </a:solidFill>
                          <a:latin typeface="Arial"/>
                        </a:rPr>
                        <a:t>Unity</a:t>
                      </a:r>
                      <a:endParaRPr lang="en-US" sz="1800" b="0" strike="noStrike" spc="-1">
                        <a:solidFill>
                          <a:srgbClr val="000000"/>
                        </a:solidFill>
                        <a:latin typeface="Arial"/>
                      </a:endParaRPr>
                    </a:p>
                  </a:txBody>
                  <a:tcPr marL="36000" marR="36000" anchor="ctr">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719640">
                <a:tc>
                  <a:txBody>
                    <a:bodyPr/>
                    <a:lstStyle/>
                    <a:p>
                      <a:pPr>
                        <a:lnSpc>
                          <a:spcPct val="100000"/>
                        </a:lnSpc>
                      </a:pPr>
                      <a:r>
                        <a:rPr lang="en-US" sz="1800" b="0" strike="noStrike" spc="-1">
                          <a:solidFill>
                            <a:srgbClr val="000000"/>
                          </a:solidFill>
                          <a:latin typeface="Arial"/>
                        </a:rPr>
                        <a:t>Game Objects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719640">
                <a:tc>
                  <a:txBody>
                    <a:bodyPr/>
                    <a:lstStyle/>
                    <a:p>
                      <a:pPr>
                        <a:lnSpc>
                          <a:spcPct val="100000"/>
                        </a:lnSpc>
                      </a:pPr>
                      <a:r>
                        <a:rPr lang="en-US" sz="1800" b="0" strike="noStrike" spc="-1">
                          <a:solidFill>
                            <a:srgbClr val="000000"/>
                          </a:solidFill>
                          <a:latin typeface="Arial"/>
                          <a:ea typeface="PingFang SC"/>
                        </a:rPr>
                        <a:t>Unity Components: Transform, MeshFilter, Renderer, Colider, Rigidbody, Script component</a:t>
                      </a:r>
                      <a:endParaRPr lang="en-US" sz="18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720720">
                <a:tc>
                  <a:txBody>
                    <a:bodyPr/>
                    <a:lstStyle/>
                    <a:p>
                      <a:pPr>
                        <a:lnSpc>
                          <a:spcPct val="100000"/>
                        </a:lnSpc>
                      </a:pPr>
                      <a:r>
                        <a:rPr lang="en-US" sz="1800" b="0" strike="noStrike" spc="-1">
                          <a:solidFill>
                            <a:srgbClr val="000000"/>
                          </a:solidFill>
                          <a:latin typeface="Arial"/>
                        </a:rPr>
                        <a:t>RenderSystem: SpriteRenderer, MeshRenderer, ParticleSystemRenderer</a:t>
                      </a: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rPr>
                        <a:t>MovingSystem: </a:t>
                      </a:r>
                    </a:p>
                    <a:p>
                      <a:pPr>
                        <a:lnSpc>
                          <a:spcPct val="100000"/>
                        </a:lnSpc>
                      </a:pPr>
                      <a:endParaRPr lang="en-US" sz="1800" b="0" strike="noStrike" spc="-1">
                        <a:solidFill>
                          <a:srgbClr val="000000"/>
                        </a:solidFill>
                        <a:latin typeface="Arial"/>
                      </a:endParaRPr>
                    </a:p>
                    <a:p>
                      <a:pPr>
                        <a:lnSpc>
                          <a:spcPct val="100000"/>
                        </a:lnSpc>
                      </a:pPr>
                      <a:r>
                        <a:rPr lang="en-US" sz="1800" b="0" strike="noStrike" spc="-1">
                          <a:solidFill>
                            <a:srgbClr val="000000"/>
                          </a:solidFill>
                          <a:latin typeface="Arial"/>
                        </a:rPr>
                        <a:t>PhysicSystem: behaviour  of RigidbodyComponent, ColliderComponent</a:t>
                      </a:r>
                    </a:p>
                    <a:p>
                      <a:pPr>
                        <a:lnSpc>
                          <a:spcPct val="100000"/>
                        </a:lnSpc>
                      </a:pPr>
                      <a:r>
                        <a:rPr lang="en-US" sz="1800" b="0" strike="noStrike" spc="-1">
                          <a:solidFill>
                            <a:srgbClr val="000000"/>
                          </a:solidFill>
                          <a:latin typeface="Arial"/>
                        </a:rPr>
                        <a: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bl>
          </a:graphicData>
        </a:graphic>
      </p:graphicFrame>
      <p:sp>
        <p:nvSpPr>
          <p:cNvPr id="71" name="Straight Connector 70"/>
          <p:cNvSpPr/>
          <p:nvPr/>
        </p:nvSpPr>
        <p:spPr>
          <a:xfrm>
            <a:off x="2514600" y="3429000"/>
            <a:ext cx="2286000" cy="360"/>
          </a:xfrm>
          <a:prstGeom prst="line">
            <a:avLst/>
          </a:prstGeom>
          <a:ln w="36720">
            <a:solidFill>
              <a:srgbClr val="FF86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1"/>
          </p:nvPr>
        </p:nvSpPr>
        <p:spPr/>
        <p:txBody>
          <a:bodyPr/>
          <a:lstStyle/>
          <a:p>
            <a:fld id="{F8C36E2F-C809-42F2-A8C6-6EFCB6B462FD}"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4"/>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Components in Unity</a:t>
            </a:r>
            <a:endParaRPr lang="en-US" sz="3600" b="0" strike="noStrike" spc="-1">
              <a:solidFill>
                <a:srgbClr val="000000"/>
              </a:solidFill>
              <a:latin typeface="Arial"/>
            </a:endParaRPr>
          </a:p>
        </p:txBody>
      </p:sp>
      <p:pic>
        <p:nvPicPr>
          <p:cNvPr id="73" name="Picture 72"/>
          <p:cNvPicPr/>
          <p:nvPr/>
        </p:nvPicPr>
        <p:blipFill>
          <a:blip r:embed="rId3"/>
          <a:stretch/>
        </p:blipFill>
        <p:spPr>
          <a:xfrm>
            <a:off x="0" y="1600200"/>
            <a:ext cx="5731200" cy="3425040"/>
          </a:xfrm>
          <a:prstGeom prst="rect">
            <a:avLst/>
          </a:prstGeom>
          <a:ln w="0">
            <a:noFill/>
          </a:ln>
        </p:spPr>
      </p:pic>
      <p:sp>
        <p:nvSpPr>
          <p:cNvPr id="74" name="Rectangle 73"/>
          <p:cNvSpPr/>
          <p:nvPr/>
        </p:nvSpPr>
        <p:spPr>
          <a:xfrm>
            <a:off x="5715000" y="1391040"/>
            <a:ext cx="6394320" cy="409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0" strike="noStrike" spc="-1">
                <a:solidFill>
                  <a:srgbClr val="000000"/>
                </a:solidFill>
                <a:latin typeface="Arial"/>
                <a:ea typeface="DejaVu Sans"/>
              </a:rPr>
              <a:t>In Unity, components come in various forms. They can be for creating behavior, defining appearance, and influencing other aspects of an object's function in the game. </a:t>
            </a:r>
            <a:endParaRPr lang="en-US" sz="2200" b="0" strike="noStrike" spc="-1">
              <a:solidFill>
                <a:srgbClr val="000000"/>
              </a:solidFill>
              <a:latin typeface="Arial"/>
            </a:endParaRPr>
          </a:p>
          <a:p>
            <a:pPr>
              <a:lnSpc>
                <a:spcPct val="150000"/>
              </a:lnSpc>
            </a:pPr>
            <a:r>
              <a:rPr lang="en-US" sz="2200" b="0" strike="noStrike" spc="-1">
                <a:solidFill>
                  <a:srgbClr val="000000"/>
                </a:solidFill>
                <a:latin typeface="Arial"/>
                <a:ea typeface="DejaVu Sans"/>
              </a:rPr>
              <a:t>By attaching components to an object, you can immediately apply new parts of the game engine to your object. </a:t>
            </a:r>
            <a:r>
              <a:rPr lang="en-US" sz="2200" b="0" strike="noStrike" spc="-1" baseline="33000">
                <a:solidFill>
                  <a:srgbClr val="000000"/>
                </a:solidFill>
                <a:latin typeface="Arial"/>
                <a:ea typeface="DejaVu Sans"/>
              </a:rPr>
              <a:t>[10]</a:t>
            </a:r>
            <a:endParaRPr lang="en-US" sz="2200" b="0" strike="noStrike" spc="-1">
              <a:solidFill>
                <a:srgbClr val="000000"/>
              </a:solidFill>
              <a:latin typeface="Arial"/>
            </a:endParaRPr>
          </a:p>
        </p:txBody>
      </p:sp>
      <p:sp>
        <p:nvSpPr>
          <p:cNvPr id="75" name="Rectangle 74"/>
          <p:cNvSpPr/>
          <p:nvPr/>
        </p:nvSpPr>
        <p:spPr>
          <a:xfrm>
            <a:off x="115920" y="5114880"/>
            <a:ext cx="5469840" cy="367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200" b="0" strike="noStrike" spc="-1">
                <a:solidFill>
                  <a:srgbClr val="000000"/>
                </a:solidFill>
                <a:latin typeface="Arial"/>
                <a:ea typeface="DejaVu Sans"/>
              </a:rPr>
              <a:t>Components are one of the three principle elements of an Entity Component System architecture. They represent the data of your game or program.</a:t>
            </a:r>
            <a:r>
              <a:rPr lang="en-US" sz="1200" b="0" strike="noStrike" spc="-1" baseline="33000">
                <a:solidFill>
                  <a:srgbClr val="000000"/>
                </a:solidFill>
                <a:latin typeface="Arial"/>
                <a:ea typeface="DejaVu Sans"/>
              </a:rPr>
              <a:t>[8]</a:t>
            </a:r>
            <a:endParaRPr lang="en-US" sz="1200" b="0" strike="noStrike" spc="-1">
              <a:solidFill>
                <a:srgbClr val="000000"/>
              </a:solidFill>
              <a:latin typeface="Arial"/>
            </a:endParaRPr>
          </a:p>
        </p:txBody>
      </p:sp>
      <p:sp>
        <p:nvSpPr>
          <p:cNvPr id="76" name="Rectangle 75"/>
          <p:cNvSpPr/>
          <p:nvPr/>
        </p:nvSpPr>
        <p:spPr>
          <a:xfrm>
            <a:off x="8035200" y="6533640"/>
            <a:ext cx="315612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10: Goldstone Will, Unity 3.x game development essentials, 2011</a:t>
            </a:r>
            <a:endParaRPr lang="en-US" sz="900" b="0" strike="noStrike" spc="-1">
              <a:solidFill>
                <a:srgbClr val="000000"/>
              </a:solidFill>
              <a:latin typeface="Arial"/>
            </a:endParaRPr>
          </a:p>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07B98D7C-E059-4571-ADBC-7DEB052BDAB8}"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228600" y="1388520"/>
            <a:ext cx="11426040" cy="93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1" strike="noStrike" spc="-1">
                <a:solidFill>
                  <a:srgbClr val="000000"/>
                </a:solidFill>
                <a:latin typeface="Arial"/>
                <a:ea typeface="DejaVu Sans"/>
              </a:rPr>
              <a:t>Common components</a:t>
            </a:r>
            <a:r>
              <a:rPr lang="en-US" sz="2200" b="0" strike="noStrike" spc="-1">
                <a:solidFill>
                  <a:srgbClr val="000000"/>
                </a:solidFill>
                <a:latin typeface="Arial"/>
                <a:ea typeface="DejaVu Sans"/>
              </a:rPr>
              <a:t> of game production come </a:t>
            </a:r>
            <a:r>
              <a:rPr lang="en-US" sz="2200" b="1" i="1" strike="noStrike" spc="-1">
                <a:solidFill>
                  <a:srgbClr val="000000"/>
                </a:solidFill>
                <a:latin typeface="Arial"/>
                <a:ea typeface="DejaVu Sans"/>
              </a:rPr>
              <a:t>built-in</a:t>
            </a:r>
            <a:r>
              <a:rPr lang="en-US" sz="2200" b="0" strike="noStrike" spc="-1">
                <a:solidFill>
                  <a:srgbClr val="000000"/>
                </a:solidFill>
                <a:latin typeface="Arial"/>
                <a:ea typeface="DejaVu Sans"/>
              </a:rPr>
              <a:t> with Unity, such as the Rigidbody component mentioned earlier, down to simpler elements such as lights, cameras, particle emitters, and more </a:t>
            </a:r>
            <a:r>
              <a:rPr lang="en-US" sz="2200" b="0" strike="noStrike" spc="-1" baseline="33000">
                <a:solidFill>
                  <a:srgbClr val="000000"/>
                </a:solidFill>
                <a:latin typeface="Arial"/>
                <a:ea typeface="DejaVu Sans"/>
              </a:rPr>
              <a:t>[10]</a:t>
            </a:r>
            <a:r>
              <a:rPr lang="en-US" sz="2200" b="0" strike="noStrike" spc="-1">
                <a:solidFill>
                  <a:srgbClr val="000000"/>
                </a:solidFill>
                <a:latin typeface="Arial"/>
                <a:ea typeface="DejaVu Sans"/>
              </a:rPr>
              <a:t> </a:t>
            </a:r>
            <a:endParaRPr lang="en-US" sz="2200" b="0" strike="noStrike" spc="-1">
              <a:solidFill>
                <a:srgbClr val="000000"/>
              </a:solidFill>
              <a:latin typeface="Arial"/>
            </a:endParaRPr>
          </a:p>
        </p:txBody>
      </p:sp>
      <p:sp>
        <p:nvSpPr>
          <p:cNvPr id="78" name="PlaceHolder 19"/>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Components in Unity</a:t>
            </a:r>
            <a:endParaRPr lang="en-US" sz="3600" b="0" strike="noStrike" spc="-1">
              <a:solidFill>
                <a:srgbClr val="000000"/>
              </a:solidFill>
              <a:latin typeface="Arial"/>
            </a:endParaRPr>
          </a:p>
        </p:txBody>
      </p:sp>
      <p:sp>
        <p:nvSpPr>
          <p:cNvPr id="79" name="Rectangle 78"/>
          <p:cNvSpPr/>
          <p:nvPr/>
        </p:nvSpPr>
        <p:spPr>
          <a:xfrm>
            <a:off x="228600" y="3468240"/>
            <a:ext cx="11426040" cy="178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0" strike="noStrike" spc="-1" dirty="0">
                <a:solidFill>
                  <a:srgbClr val="000000"/>
                </a:solidFill>
                <a:latin typeface="Arial"/>
                <a:ea typeface="DejaVu Sans"/>
              </a:rPr>
              <a:t>To build </a:t>
            </a:r>
            <a:r>
              <a:rPr lang="en-US" sz="2200" b="0" u="sng" strike="noStrike" spc="-1" dirty="0">
                <a:solidFill>
                  <a:srgbClr val="000000"/>
                </a:solidFill>
                <a:latin typeface="Arial"/>
                <a:ea typeface="DejaVu Sans"/>
              </a:rPr>
              <a:t>further interactive elements </a:t>
            </a:r>
            <a:r>
              <a:rPr lang="en-US" sz="2200" b="0" strike="noStrike" spc="-1" dirty="0">
                <a:solidFill>
                  <a:srgbClr val="000000"/>
                </a:solidFill>
                <a:latin typeface="Arial"/>
                <a:ea typeface="DejaVu Sans"/>
              </a:rPr>
              <a:t>of the game, you'll write </a:t>
            </a:r>
            <a:r>
              <a:rPr lang="en-US" sz="2200" b="1" i="1" strike="noStrike" spc="-1" dirty="0">
                <a:solidFill>
                  <a:srgbClr val="000000"/>
                </a:solidFill>
                <a:latin typeface="Arial"/>
                <a:ea typeface="DejaVu Sans"/>
              </a:rPr>
              <a:t>scripts</a:t>
            </a:r>
            <a:r>
              <a:rPr lang="en-US" sz="2200" b="0" strike="noStrike" spc="-1" dirty="0">
                <a:solidFill>
                  <a:srgbClr val="000000"/>
                </a:solidFill>
                <a:latin typeface="Arial"/>
                <a:ea typeface="DejaVu Sans"/>
              </a:rPr>
              <a:t>, which are also treated as components in Unity. Try to think of </a:t>
            </a:r>
            <a:r>
              <a:rPr lang="en-US" sz="2200" b="0" u="sng" strike="noStrike" spc="-1" dirty="0">
                <a:solidFill>
                  <a:srgbClr val="000000"/>
                </a:solidFill>
                <a:latin typeface="Arial"/>
                <a:ea typeface="DejaVu Sans"/>
              </a:rPr>
              <a:t>a script as something that extends or modifies the existing functionality</a:t>
            </a:r>
            <a:r>
              <a:rPr lang="en-US" sz="2200" b="0" strike="noStrike" spc="-1" dirty="0">
                <a:solidFill>
                  <a:srgbClr val="000000"/>
                </a:solidFill>
                <a:latin typeface="Arial"/>
                <a:ea typeface="DejaVu Sans"/>
              </a:rPr>
              <a:t> available in Unity or creates </a:t>
            </a:r>
            <a:r>
              <a:rPr lang="en-US" sz="2200" b="0" i="1" strike="noStrike" spc="-1" dirty="0">
                <a:solidFill>
                  <a:srgbClr val="000000"/>
                </a:solidFill>
                <a:latin typeface="Arial"/>
                <a:ea typeface="DejaVu Sans"/>
              </a:rPr>
              <a:t>behavior</a:t>
            </a:r>
            <a:r>
              <a:rPr lang="en-US" sz="2200" b="0" strike="noStrike" spc="-1" dirty="0">
                <a:solidFill>
                  <a:srgbClr val="000000"/>
                </a:solidFill>
                <a:latin typeface="Arial"/>
                <a:ea typeface="DejaVu Sans"/>
              </a:rPr>
              <a:t> with the Unity</a:t>
            </a:r>
            <a:endParaRPr lang="en-US" sz="2200" b="0" strike="noStrike" spc="-1" dirty="0">
              <a:solidFill>
                <a:srgbClr val="000000"/>
              </a:solidFill>
              <a:latin typeface="Arial"/>
            </a:endParaRPr>
          </a:p>
          <a:p>
            <a:pPr>
              <a:lnSpc>
                <a:spcPct val="150000"/>
              </a:lnSpc>
            </a:pPr>
            <a:r>
              <a:rPr lang="en-US" sz="2200" b="0" strike="noStrike" spc="-1" dirty="0">
                <a:solidFill>
                  <a:srgbClr val="000000"/>
                </a:solidFill>
                <a:latin typeface="Arial"/>
                <a:ea typeface="DejaVu Sans"/>
              </a:rPr>
              <a:t>scripting classes provided. </a:t>
            </a:r>
            <a:r>
              <a:rPr lang="en-US" sz="2200" b="0" strike="noStrike" spc="-1" baseline="33000" dirty="0">
                <a:solidFill>
                  <a:srgbClr val="000000"/>
                </a:solidFill>
                <a:latin typeface="Arial"/>
                <a:ea typeface="DejaVu Sans"/>
              </a:rPr>
              <a:t>[10]</a:t>
            </a:r>
            <a:endParaRPr lang="en-US" sz="2200" b="0" strike="noStrike" spc="-1" dirty="0">
              <a:solidFill>
                <a:srgbClr val="000000"/>
              </a:solidFill>
              <a:latin typeface="Arial"/>
            </a:endParaRPr>
          </a:p>
        </p:txBody>
      </p:sp>
      <p:sp>
        <p:nvSpPr>
          <p:cNvPr id="2" name="PlaceHolder 1"/>
          <p:cNvSpPr>
            <a:spLocks noGrp="1"/>
          </p:cNvSpPr>
          <p:nvPr>
            <p:ph type="sldNum" idx="1"/>
          </p:nvPr>
        </p:nvSpPr>
        <p:spPr/>
        <p:txBody>
          <a:bodyPr/>
          <a:lstStyle/>
          <a:p>
            <a:fld id="{D79CB4E9-6596-4A41-99B9-F2515EC52630}"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3"/>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Common Components in Unity</a:t>
            </a:r>
            <a:endParaRPr lang="en-US" sz="3600" b="0" strike="noStrike" spc="-1">
              <a:solidFill>
                <a:srgbClr val="000000"/>
              </a:solidFill>
              <a:latin typeface="Arial"/>
            </a:endParaRPr>
          </a:p>
        </p:txBody>
      </p:sp>
      <p:pic>
        <p:nvPicPr>
          <p:cNvPr id="81" name="Picture 80"/>
          <p:cNvPicPr/>
          <p:nvPr/>
        </p:nvPicPr>
        <p:blipFill>
          <a:blip r:embed="rId3"/>
          <a:stretch/>
        </p:blipFill>
        <p:spPr>
          <a:xfrm>
            <a:off x="5830560" y="1368720"/>
            <a:ext cx="6255720" cy="5027040"/>
          </a:xfrm>
          <a:prstGeom prst="rect">
            <a:avLst/>
          </a:prstGeom>
          <a:ln w="0">
            <a:noFill/>
          </a:ln>
        </p:spPr>
      </p:pic>
      <p:sp>
        <p:nvSpPr>
          <p:cNvPr id="82" name="Rectangle 81"/>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graphicFrame>
        <p:nvGraphicFramePr>
          <p:cNvPr id="83" name="Table 82"/>
          <p:cNvGraphicFramePr/>
          <p:nvPr>
            <p:extLst>
              <p:ext uri="{D42A27DB-BD31-4B8C-83A1-F6EECF244321}">
                <p14:modId xmlns:p14="http://schemas.microsoft.com/office/powerpoint/2010/main" val="710805187"/>
              </p:ext>
            </p:extLst>
          </p:nvPr>
        </p:nvGraphicFramePr>
        <p:xfrm>
          <a:off x="180720" y="1457280"/>
          <a:ext cx="6140520" cy="5456160"/>
        </p:xfrm>
        <a:graphic>
          <a:graphicData uri="http://schemas.openxmlformats.org/drawingml/2006/table">
            <a:tbl>
              <a:tblPr/>
              <a:tblGrid>
                <a:gridCol w="1542960">
                  <a:extLst>
                    <a:ext uri="{9D8B030D-6E8A-4147-A177-3AD203B41FA5}">
                      <a16:colId xmlns:a16="http://schemas.microsoft.com/office/drawing/2014/main" val="20000"/>
                    </a:ext>
                  </a:extLst>
                </a:gridCol>
                <a:gridCol w="4597560">
                  <a:extLst>
                    <a:ext uri="{9D8B030D-6E8A-4147-A177-3AD203B41FA5}">
                      <a16:colId xmlns:a16="http://schemas.microsoft.com/office/drawing/2014/main" val="20001"/>
                    </a:ext>
                  </a:extLst>
                </a:gridCol>
              </a:tblGrid>
              <a:tr h="343080">
                <a:tc>
                  <a:txBody>
                    <a:bodyPr/>
                    <a:lstStyle/>
                    <a:p>
                      <a:pPr algn="ctr">
                        <a:lnSpc>
                          <a:spcPct val="100000"/>
                        </a:lnSpc>
                      </a:pPr>
                      <a:r>
                        <a:rPr lang="en-US" sz="1800" b="1" strike="noStrike" spc="-1">
                          <a:solidFill>
                            <a:srgbClr val="3465A4"/>
                          </a:solidFill>
                          <a:latin typeface="Arial"/>
                        </a:rPr>
                        <a:t>Components </a:t>
                      </a:r>
                      <a:endParaRPr lang="en-US" sz="18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1800" b="1" strike="noStrike" spc="-1">
                          <a:solidFill>
                            <a:srgbClr val="3465A4"/>
                          </a:solidFill>
                          <a:latin typeface="Arial"/>
                        </a:rPr>
                        <a:t>Using / Datastore</a:t>
                      </a:r>
                      <a:endParaRPr lang="en-US" sz="18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75280">
                <a:tc>
                  <a:txBody>
                    <a:bodyPr/>
                    <a:lstStyle/>
                    <a:p>
                      <a:pPr>
                        <a:lnSpc>
                          <a:spcPct val="100000"/>
                        </a:lnSpc>
                      </a:pPr>
                      <a:r>
                        <a:rPr lang="en-US" sz="1800" b="0" strike="noStrike" spc="-1">
                          <a:solidFill>
                            <a:srgbClr val="000000"/>
                          </a:solidFill>
                          <a:latin typeface="Arial"/>
                        </a:rPr>
                        <a:t>Transform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US" sz="1800" b="0" strike="noStrike" spc="-1">
                          <a:solidFill>
                            <a:srgbClr val="000000"/>
                          </a:solidFill>
                          <a:latin typeface="Arial"/>
                        </a:rPr>
                        <a:t>Position, Rotation, scale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65200">
                <a:tc>
                  <a:txBody>
                    <a:bodyPr/>
                    <a:lstStyle/>
                    <a:p>
                      <a:pPr>
                        <a:lnSpc>
                          <a:spcPct val="100000"/>
                        </a:lnSpc>
                      </a:pPr>
                      <a:r>
                        <a:rPr lang="en-US" sz="1800" b="0" strike="noStrike" spc="-1">
                          <a:solidFill>
                            <a:srgbClr val="000000"/>
                          </a:solidFill>
                          <a:latin typeface="Arial"/>
                        </a:rPr>
                        <a:t>Renderer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US" sz="1800" b="0" strike="noStrike" spc="-1">
                          <a:solidFill>
                            <a:srgbClr val="000000"/>
                          </a:solidFill>
                          <a:latin typeface="Arial"/>
                        </a:rPr>
                        <a:t>Object appear on the screen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749520">
                <a:tc>
                  <a:txBody>
                    <a:bodyPr/>
                    <a:lstStyle/>
                    <a:p>
                      <a:pPr>
                        <a:lnSpc>
                          <a:spcPct val="100000"/>
                        </a:lnSpc>
                      </a:pPr>
                      <a:r>
                        <a:rPr lang="en-US" sz="1800" b="0" strike="noStrike" spc="-1" dirty="0">
                          <a:solidFill>
                            <a:srgbClr val="000000"/>
                          </a:solidFill>
                          <a:latin typeface="Arial"/>
                        </a:rPr>
                        <a:t>Collider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US" sz="1800" b="0" strike="noStrike" spc="-1" dirty="0">
                          <a:solidFill>
                            <a:srgbClr val="000000"/>
                          </a:solidFill>
                          <a:latin typeface="Arial"/>
                        </a:rPr>
                        <a:t>Define the shape of an object for the purposes of physical collisions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750960">
                <a:tc>
                  <a:txBody>
                    <a:bodyPr/>
                    <a:lstStyle/>
                    <a:p>
                      <a:pPr>
                        <a:lnSpc>
                          <a:spcPct val="100000"/>
                        </a:lnSpc>
                      </a:pPr>
                      <a:r>
                        <a:rPr lang="en-US" sz="1800" b="0" strike="noStrike" spc="-1" dirty="0" err="1">
                          <a:solidFill>
                            <a:srgbClr val="000000"/>
                          </a:solidFill>
                          <a:latin typeface="Arial"/>
                        </a:rPr>
                        <a:t>Rigidbody</a:t>
                      </a:r>
                      <a:endParaRPr lang="en-US" sz="1800" b="0" strike="noStrike" spc="-1" dirty="0">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US" dirty="0"/>
                        <a:t>Enables </a:t>
                      </a:r>
                      <a:r>
                        <a:rPr lang="en-US" dirty="0" err="1"/>
                        <a:t>GameObject</a:t>
                      </a:r>
                      <a:r>
                        <a:rPr lang="en-US" dirty="0"/>
                        <a:t> to be controlled by Unity's physics engine, including gravity, collisions, forces, and realistic physical behavior</a:t>
                      </a:r>
                      <a:endParaRPr lang="en-US" sz="1800" b="0" strike="noStrike" spc="-1" dirty="0">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752760">
                <a:tc>
                  <a:txBody>
                    <a:bodyPr/>
                    <a:lstStyle/>
                    <a:p>
                      <a:pPr>
                        <a:lnSpc>
                          <a:spcPct val="100000"/>
                        </a:lnSpc>
                      </a:pPr>
                      <a:r>
                        <a:rPr lang="en-US" sz="1800" b="0" strike="noStrike" spc="-1">
                          <a:solidFill>
                            <a:srgbClr val="000000"/>
                          </a:solidFill>
                          <a:latin typeface="Arial"/>
                        </a:rPr>
                        <a:t>Script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nSpc>
                          <a:spcPct val="100000"/>
                        </a:lnSpc>
                      </a:pPr>
                      <a:r>
                        <a:rPr lang="en-US" sz="1800" b="0" strike="noStrike" spc="-1" dirty="0">
                          <a:solidFill>
                            <a:srgbClr val="1C1C1C"/>
                          </a:solidFill>
                          <a:latin typeface="Arial"/>
                          <a:ea typeface="Times New Roman"/>
                        </a:rPr>
                        <a:t>All code execution in Unity starts from code files linked to an object in the scene</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1C1C1C"/>
                          </a:solidFill>
                          <a:latin typeface="Arial"/>
                          <a:ea typeface="Times New Roman"/>
                        </a:rPr>
                        <a:t>Scripts in Unity are more akin to individual OOP classes, and scripts attached to objects in the scene are object instances </a:t>
                      </a:r>
                      <a:r>
                        <a:rPr lang="en-US" sz="1800" b="0" strike="noStrike" spc="-1" baseline="33000" dirty="0">
                          <a:solidFill>
                            <a:srgbClr val="1C1C1C"/>
                          </a:solidFill>
                          <a:latin typeface="Arial"/>
                          <a:ea typeface="Times New Roman"/>
                        </a:rPr>
                        <a:t>[1]</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2" name="PlaceHolder 1"/>
          <p:cNvSpPr>
            <a:spLocks noGrp="1"/>
          </p:cNvSpPr>
          <p:nvPr>
            <p:ph type="sldNum" idx="1"/>
          </p:nvPr>
        </p:nvSpPr>
        <p:spPr/>
        <p:txBody>
          <a:bodyPr/>
          <a:lstStyle/>
          <a:p>
            <a:fld id="{B17260D3-34CF-44DF-A262-6B477E4DEED3}"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7"/>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The Transform Component</a:t>
            </a:r>
            <a:endParaRPr lang="en-US" sz="3600" b="0" strike="noStrike" spc="-1">
              <a:solidFill>
                <a:srgbClr val="000000"/>
              </a:solidFill>
              <a:latin typeface="Arial"/>
            </a:endParaRPr>
          </a:p>
        </p:txBody>
      </p:sp>
      <p:sp>
        <p:nvSpPr>
          <p:cNvPr id="85" name="Rectangle 84"/>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sp>
        <p:nvSpPr>
          <p:cNvPr id="86" name="Rectangle 85"/>
          <p:cNvSpPr/>
          <p:nvPr/>
        </p:nvSpPr>
        <p:spPr>
          <a:xfrm>
            <a:off x="228600" y="1388520"/>
            <a:ext cx="11426040" cy="55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1" strike="noStrike" spc="-1">
                <a:solidFill>
                  <a:srgbClr val="000000"/>
                </a:solidFill>
                <a:latin typeface="Arial"/>
                <a:ea typeface="DejaVu Sans"/>
              </a:rPr>
              <a:t>Transform: Position, Rotation, and Scale</a:t>
            </a:r>
            <a:endParaRPr lang="en-US" sz="2200" b="0" strike="noStrike" spc="-1">
              <a:solidFill>
                <a:srgbClr val="000000"/>
              </a:solidFill>
              <a:latin typeface="Arial"/>
            </a:endParaRPr>
          </a:p>
        </p:txBody>
      </p:sp>
      <p:pic>
        <p:nvPicPr>
          <p:cNvPr id="87" name="Picture 86"/>
          <p:cNvPicPr/>
          <p:nvPr/>
        </p:nvPicPr>
        <p:blipFill>
          <a:blip r:embed="rId3"/>
          <a:stretch/>
        </p:blipFill>
        <p:spPr>
          <a:xfrm>
            <a:off x="192600" y="2165400"/>
            <a:ext cx="3918240" cy="1289880"/>
          </a:xfrm>
          <a:prstGeom prst="rect">
            <a:avLst/>
          </a:prstGeom>
          <a:ln w="0">
            <a:noFill/>
          </a:ln>
        </p:spPr>
      </p:pic>
      <p:sp>
        <p:nvSpPr>
          <p:cNvPr id="88" name="Rectangle 87"/>
          <p:cNvSpPr/>
          <p:nvPr/>
        </p:nvSpPr>
        <p:spPr>
          <a:xfrm>
            <a:off x="4114800" y="1913400"/>
            <a:ext cx="7768440" cy="4304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1" strike="noStrike" spc="-1">
                <a:solidFill>
                  <a:srgbClr val="000000"/>
                </a:solidFill>
                <a:latin typeface="Arial"/>
                <a:ea typeface="DejaVu Sans"/>
              </a:rPr>
              <a:t>Transform</a:t>
            </a:r>
            <a:r>
              <a:rPr lang="en-US" sz="2200" b="0" strike="noStrike" spc="-1">
                <a:solidFill>
                  <a:srgbClr val="000000"/>
                </a:solidFill>
                <a:latin typeface="Arial"/>
                <a:ea typeface="DejaVu Sans"/>
              </a:rPr>
              <a:t> is a </a:t>
            </a:r>
            <a:r>
              <a:rPr lang="en-US" sz="2200" b="1" i="1" strike="noStrike" spc="-1">
                <a:solidFill>
                  <a:srgbClr val="000000"/>
                </a:solidFill>
                <a:latin typeface="Arial"/>
                <a:ea typeface="DejaVu Sans"/>
              </a:rPr>
              <a:t>mandatory component</a:t>
            </a:r>
            <a:r>
              <a:rPr lang="en-US" sz="2200" b="0" strike="noStrike" spc="-1">
                <a:solidFill>
                  <a:srgbClr val="000000"/>
                </a:solidFill>
                <a:latin typeface="Arial"/>
                <a:ea typeface="DejaVu Sans"/>
              </a:rPr>
              <a:t> that is present on all GameObjects. Transform handles critical GameObject information like </a:t>
            </a:r>
            <a:r>
              <a:rPr lang="en-US" sz="2200" b="1" i="1" strike="noStrike" spc="-1">
                <a:solidFill>
                  <a:srgbClr val="000000"/>
                </a:solidFill>
                <a:latin typeface="Arial"/>
                <a:ea typeface="DejaVu Sans"/>
              </a:rPr>
              <a:t>position</a:t>
            </a:r>
            <a:r>
              <a:rPr lang="en-US" sz="2200" b="0" strike="noStrike" spc="-1">
                <a:solidFill>
                  <a:srgbClr val="000000"/>
                </a:solidFill>
                <a:latin typeface="Arial"/>
                <a:ea typeface="DejaVu Sans"/>
              </a:rPr>
              <a:t> (the location of the GameObject), </a:t>
            </a:r>
            <a:r>
              <a:rPr lang="en-US" sz="2200" b="1" i="1" strike="noStrike" spc="-1">
                <a:solidFill>
                  <a:srgbClr val="000000"/>
                </a:solidFill>
                <a:latin typeface="Arial"/>
                <a:ea typeface="DejaVu Sans"/>
              </a:rPr>
              <a:t>rotation</a:t>
            </a:r>
            <a:r>
              <a:rPr lang="en-US" sz="2200" b="0" strike="noStrike" spc="-1">
                <a:solidFill>
                  <a:srgbClr val="000000"/>
                </a:solidFill>
                <a:latin typeface="Arial"/>
                <a:ea typeface="DejaVu Sans"/>
              </a:rPr>
              <a:t> (the orientation of the GameObject), and </a:t>
            </a:r>
            <a:r>
              <a:rPr lang="en-US" sz="2200" b="1" i="1" strike="noStrike" spc="-1">
                <a:solidFill>
                  <a:srgbClr val="000000"/>
                </a:solidFill>
                <a:latin typeface="Arial"/>
                <a:ea typeface="DejaVu Sans"/>
              </a:rPr>
              <a:t>scale</a:t>
            </a:r>
            <a:r>
              <a:rPr lang="en-US" sz="2200" b="0" strike="noStrike" spc="-1">
                <a:solidFill>
                  <a:srgbClr val="000000"/>
                </a:solidFill>
                <a:latin typeface="Arial"/>
                <a:ea typeface="DejaVu Sans"/>
              </a:rPr>
              <a:t> (the size of the GameObject). Though the information is displayed in the </a:t>
            </a:r>
            <a:r>
              <a:rPr lang="en-US" sz="2200" b="0" i="1" strike="noStrike" spc="-1">
                <a:solidFill>
                  <a:srgbClr val="000000"/>
                </a:solidFill>
                <a:latin typeface="Arial"/>
                <a:ea typeface="DejaVu Sans"/>
              </a:rPr>
              <a:t>Inspector pane</a:t>
            </a:r>
            <a:r>
              <a:rPr lang="en-US" sz="2200" b="0" strike="noStrike" spc="-1">
                <a:solidFill>
                  <a:srgbClr val="000000"/>
                </a:solidFill>
                <a:latin typeface="Arial"/>
                <a:ea typeface="DejaVu Sans"/>
              </a:rPr>
              <a:t>, Transform is also responsible for the parent/child relationships in the Hierarchy pane. When one object is the child of another, it moves with that parent object as if attached to it.</a:t>
            </a:r>
            <a:endParaRPr lang="en-US" sz="2200" b="0" strike="noStrike" spc="-1">
              <a:solidFill>
                <a:srgbClr val="000000"/>
              </a:solidFill>
              <a:latin typeface="Arial"/>
            </a:endParaRPr>
          </a:p>
        </p:txBody>
      </p:sp>
      <p:sp>
        <p:nvSpPr>
          <p:cNvPr id="2" name="PlaceHolder 1"/>
          <p:cNvSpPr>
            <a:spLocks noGrp="1"/>
          </p:cNvSpPr>
          <p:nvPr>
            <p:ph type="sldNum" idx="1"/>
          </p:nvPr>
        </p:nvSpPr>
        <p:spPr/>
        <p:txBody>
          <a:bodyPr/>
          <a:lstStyle/>
          <a:p>
            <a:fld id="{C80923C8-5C13-4868-952B-2C6917BF65AE}"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8"/>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The </a:t>
            </a:r>
            <a:r>
              <a:rPr lang="en-US" sz="3600" b="1" strike="noStrike" spc="-1" dirty="0" err="1">
                <a:solidFill>
                  <a:srgbClr val="000000"/>
                </a:solidFill>
                <a:latin typeface="Arial"/>
                <a:ea typeface="Arial"/>
              </a:rPr>
              <a:t>MeshFilter</a:t>
            </a:r>
            <a:r>
              <a:rPr lang="en-US" sz="3600" b="1" strike="noStrike" spc="-1" dirty="0">
                <a:solidFill>
                  <a:srgbClr val="000000"/>
                </a:solidFill>
                <a:latin typeface="Arial"/>
                <a:ea typeface="Arial"/>
              </a:rPr>
              <a:t> Component</a:t>
            </a:r>
            <a:endParaRPr lang="en-US" sz="3600" b="0" strike="noStrike" spc="-1" dirty="0">
              <a:solidFill>
                <a:srgbClr val="000000"/>
              </a:solidFill>
              <a:latin typeface="Arial"/>
            </a:endParaRPr>
          </a:p>
        </p:txBody>
      </p:sp>
      <p:pic>
        <p:nvPicPr>
          <p:cNvPr id="90" name="Picture 89"/>
          <p:cNvPicPr/>
          <p:nvPr/>
        </p:nvPicPr>
        <p:blipFill>
          <a:blip r:embed="rId3"/>
          <a:stretch/>
        </p:blipFill>
        <p:spPr>
          <a:xfrm>
            <a:off x="205200" y="2514600"/>
            <a:ext cx="11449440" cy="3534120"/>
          </a:xfrm>
          <a:prstGeom prst="rect">
            <a:avLst/>
          </a:prstGeom>
          <a:ln w="0">
            <a:noFill/>
          </a:ln>
        </p:spPr>
      </p:pic>
      <p:pic>
        <p:nvPicPr>
          <p:cNvPr id="91" name="Picture 90"/>
          <p:cNvPicPr/>
          <p:nvPr/>
        </p:nvPicPr>
        <p:blipFill>
          <a:blip r:embed="rId4"/>
          <a:stretch/>
        </p:blipFill>
        <p:spPr>
          <a:xfrm>
            <a:off x="349200" y="1568520"/>
            <a:ext cx="3780360" cy="609120"/>
          </a:xfrm>
          <a:prstGeom prst="rect">
            <a:avLst/>
          </a:prstGeom>
          <a:ln w="0">
            <a:noFill/>
          </a:ln>
        </p:spPr>
      </p:pic>
      <p:sp>
        <p:nvSpPr>
          <p:cNvPr id="92" name="Rectangle 91"/>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8DAF6B6B-D5AA-49C2-97F5-E01555ACE72A}"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9"/>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The Renderer Component</a:t>
            </a:r>
            <a:endParaRPr lang="en-US" sz="3600" b="0" strike="noStrike" spc="-1">
              <a:solidFill>
                <a:srgbClr val="000000"/>
              </a:solidFill>
              <a:latin typeface="Arial"/>
            </a:endParaRPr>
          </a:p>
        </p:txBody>
      </p:sp>
      <p:pic>
        <p:nvPicPr>
          <p:cNvPr id="94" name="Picture 93"/>
          <p:cNvPicPr/>
          <p:nvPr/>
        </p:nvPicPr>
        <p:blipFill>
          <a:blip r:embed="rId3"/>
          <a:stretch/>
        </p:blipFill>
        <p:spPr>
          <a:xfrm>
            <a:off x="48600" y="1828800"/>
            <a:ext cx="4290840" cy="4520520"/>
          </a:xfrm>
          <a:prstGeom prst="rect">
            <a:avLst/>
          </a:prstGeom>
          <a:ln w="0">
            <a:noFill/>
          </a:ln>
        </p:spPr>
      </p:pic>
      <p:sp>
        <p:nvSpPr>
          <p:cNvPr id="95" name="Rectangle 94"/>
          <p:cNvSpPr/>
          <p:nvPr/>
        </p:nvSpPr>
        <p:spPr>
          <a:xfrm>
            <a:off x="4343400" y="1837440"/>
            <a:ext cx="7768440" cy="4304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2200" b="0" strike="noStrike" spc="-1" dirty="0">
                <a:solidFill>
                  <a:srgbClr val="000000"/>
                </a:solidFill>
                <a:latin typeface="Arial"/>
                <a:ea typeface="DejaVu Sans"/>
              </a:rPr>
              <a:t>A </a:t>
            </a:r>
            <a:r>
              <a:rPr lang="en-US" sz="2200" b="0" i="1" strike="noStrike" spc="-1" dirty="0">
                <a:solidFill>
                  <a:srgbClr val="000000"/>
                </a:solidFill>
                <a:latin typeface="Arial"/>
                <a:ea typeface="DejaVu Sans"/>
              </a:rPr>
              <a:t>Renderer</a:t>
            </a:r>
            <a:r>
              <a:rPr lang="en-US" sz="2200" b="0" strike="noStrike" spc="-1" dirty="0">
                <a:solidFill>
                  <a:srgbClr val="000000"/>
                </a:solidFill>
                <a:latin typeface="Arial"/>
                <a:ea typeface="DejaVu Sans"/>
              </a:rPr>
              <a:t> component—in most cases, a </a:t>
            </a:r>
            <a:r>
              <a:rPr lang="en-US" sz="2200" b="1" strike="noStrike" spc="-1" dirty="0" err="1">
                <a:solidFill>
                  <a:srgbClr val="000000"/>
                </a:solidFill>
                <a:latin typeface="Arial"/>
                <a:ea typeface="DejaVu Sans"/>
              </a:rPr>
              <a:t>MeshRenderer</a:t>
            </a:r>
            <a:r>
              <a:rPr lang="en-US" sz="2200" b="0" strike="noStrike" spc="-1" dirty="0">
                <a:solidFill>
                  <a:srgbClr val="000000"/>
                </a:solidFill>
                <a:latin typeface="Arial"/>
                <a:ea typeface="DejaVu Sans"/>
              </a:rPr>
              <a:t>—allows you to see the </a:t>
            </a:r>
            <a:r>
              <a:rPr lang="en-US" sz="2200" b="0" strike="noStrike" spc="-1" dirty="0" err="1">
                <a:solidFill>
                  <a:srgbClr val="000000"/>
                </a:solidFill>
                <a:latin typeface="Arial"/>
                <a:ea typeface="DejaVu Sans"/>
              </a:rPr>
              <a:t>GameObject</a:t>
            </a:r>
            <a:r>
              <a:rPr lang="en-US" sz="2200" b="0" strike="noStrike" spc="-1" dirty="0">
                <a:solidFill>
                  <a:srgbClr val="000000"/>
                </a:solidFill>
                <a:latin typeface="Arial"/>
                <a:ea typeface="DejaVu Sans"/>
              </a:rPr>
              <a:t> in the Scene and Game panes. The </a:t>
            </a:r>
            <a:r>
              <a:rPr lang="en-US" sz="2200" b="0" strike="noStrike" spc="-1" dirty="0" err="1">
                <a:solidFill>
                  <a:srgbClr val="000000"/>
                </a:solidFill>
                <a:latin typeface="Arial"/>
                <a:ea typeface="DejaVu Sans"/>
              </a:rPr>
              <a:t>MeshRenderer</a:t>
            </a:r>
            <a:r>
              <a:rPr lang="en-US" sz="2200" b="0" strike="noStrike" spc="-1" dirty="0">
                <a:solidFill>
                  <a:srgbClr val="000000"/>
                </a:solidFill>
                <a:latin typeface="Arial"/>
                <a:ea typeface="DejaVu Sans"/>
              </a:rPr>
              <a:t> requires a </a:t>
            </a:r>
            <a:r>
              <a:rPr lang="en-US" sz="2200" b="1" i="1" strike="noStrike" spc="-1" dirty="0" err="1">
                <a:solidFill>
                  <a:srgbClr val="000000"/>
                </a:solidFill>
                <a:latin typeface="Arial"/>
                <a:ea typeface="DejaVu Sans"/>
              </a:rPr>
              <a:t>MeshFilter</a:t>
            </a:r>
            <a:r>
              <a:rPr lang="en-US" sz="2200" b="0" strike="noStrike" spc="-1" dirty="0">
                <a:solidFill>
                  <a:srgbClr val="000000"/>
                </a:solidFill>
                <a:latin typeface="Arial"/>
                <a:ea typeface="DejaVu Sans"/>
              </a:rPr>
              <a:t> to provide </a:t>
            </a:r>
            <a:r>
              <a:rPr lang="en-US" sz="2200" b="1" i="1" strike="noStrike" spc="-1" dirty="0">
                <a:solidFill>
                  <a:srgbClr val="000000"/>
                </a:solidFill>
                <a:latin typeface="Arial"/>
                <a:ea typeface="DejaVu Sans"/>
              </a:rPr>
              <a:t>3D mesh data</a:t>
            </a:r>
            <a:r>
              <a:rPr lang="en-US" sz="2200" b="0" strike="noStrike" spc="-1" dirty="0">
                <a:solidFill>
                  <a:srgbClr val="000000"/>
                </a:solidFill>
                <a:latin typeface="Arial"/>
                <a:ea typeface="DejaVu Sans"/>
              </a:rPr>
              <a:t> as well as at least one </a:t>
            </a:r>
            <a:r>
              <a:rPr lang="en-US" sz="2200" b="1" i="1" strike="noStrike" spc="-1" dirty="0">
                <a:solidFill>
                  <a:srgbClr val="000000"/>
                </a:solidFill>
                <a:latin typeface="Arial"/>
                <a:ea typeface="DejaVu Sans"/>
              </a:rPr>
              <a:t>Material</a:t>
            </a:r>
            <a:r>
              <a:rPr lang="en-US" sz="2200" b="0" strike="noStrike" spc="-1" dirty="0">
                <a:solidFill>
                  <a:srgbClr val="000000"/>
                </a:solidFill>
                <a:latin typeface="Arial"/>
                <a:ea typeface="DejaVu Sans"/>
              </a:rPr>
              <a:t> if you want it to look like anything other than an ugly magenta blob (Materials apply textures to objects, and when no Material is present, Unity defaults to solid magenta to alert you to the problem). </a:t>
            </a:r>
            <a:r>
              <a:rPr lang="en-US" sz="2200" b="0" i="1" strike="noStrike" spc="-1" dirty="0">
                <a:solidFill>
                  <a:srgbClr val="000000"/>
                </a:solidFill>
                <a:latin typeface="Arial"/>
                <a:ea typeface="DejaVu Sans"/>
              </a:rPr>
              <a:t>Renderers bring the </a:t>
            </a:r>
            <a:r>
              <a:rPr lang="en-US" sz="2200" b="0" i="1" strike="noStrike" spc="-1" dirty="0" err="1">
                <a:solidFill>
                  <a:srgbClr val="000000"/>
                </a:solidFill>
                <a:latin typeface="Arial"/>
                <a:ea typeface="DejaVu Sans"/>
              </a:rPr>
              <a:t>MeshFilter</a:t>
            </a:r>
            <a:r>
              <a:rPr lang="en-US" sz="2200" b="0" i="1" strike="noStrike" spc="-1" dirty="0">
                <a:solidFill>
                  <a:srgbClr val="000000"/>
                </a:solidFill>
                <a:latin typeface="Arial"/>
                <a:ea typeface="DejaVu Sans"/>
              </a:rPr>
              <a:t>, the Material(s), and lighting </a:t>
            </a:r>
            <a:r>
              <a:rPr lang="en-US" sz="2200" b="1" i="1" u="sng" strike="noStrike" spc="-1" dirty="0">
                <a:solidFill>
                  <a:srgbClr val="000000"/>
                </a:solidFill>
                <a:latin typeface="Arial"/>
                <a:ea typeface="DejaVu Sans"/>
              </a:rPr>
              <a:t>together</a:t>
            </a:r>
            <a:r>
              <a:rPr lang="en-US" sz="2200" b="0" i="1" strike="noStrike" spc="-1" dirty="0">
                <a:solidFill>
                  <a:srgbClr val="000000"/>
                </a:solidFill>
                <a:latin typeface="Arial"/>
                <a:ea typeface="DejaVu Sans"/>
              </a:rPr>
              <a:t> to show the </a:t>
            </a:r>
            <a:r>
              <a:rPr lang="en-US" sz="2200" b="0" i="1" strike="noStrike" spc="-1" dirty="0" err="1">
                <a:solidFill>
                  <a:srgbClr val="000000"/>
                </a:solidFill>
                <a:latin typeface="Arial"/>
                <a:ea typeface="DejaVu Sans"/>
              </a:rPr>
              <a:t>GameObject</a:t>
            </a:r>
            <a:r>
              <a:rPr lang="en-US" sz="2200" b="0" i="1" strike="noStrike" spc="-1" dirty="0">
                <a:solidFill>
                  <a:srgbClr val="000000"/>
                </a:solidFill>
                <a:latin typeface="Arial"/>
                <a:ea typeface="DejaVu Sans"/>
              </a:rPr>
              <a:t> on screen</a:t>
            </a:r>
            <a:r>
              <a:rPr lang="en-US" sz="2200" b="0" strike="noStrike" spc="-1" dirty="0">
                <a:solidFill>
                  <a:srgbClr val="000000"/>
                </a:solidFill>
                <a:latin typeface="Arial"/>
                <a:ea typeface="DejaVu Sans"/>
              </a:rPr>
              <a:t>. </a:t>
            </a:r>
            <a:endParaRPr lang="en-US" sz="2200" b="0" strike="noStrike" spc="-1" dirty="0">
              <a:solidFill>
                <a:srgbClr val="000000"/>
              </a:solidFill>
              <a:latin typeface="Arial"/>
            </a:endParaRPr>
          </a:p>
        </p:txBody>
      </p:sp>
      <p:sp>
        <p:nvSpPr>
          <p:cNvPr id="96" name="Rectangle 95"/>
          <p:cNvSpPr/>
          <p:nvPr/>
        </p:nvSpPr>
        <p:spPr>
          <a:xfrm>
            <a:off x="261360" y="1371600"/>
            <a:ext cx="6821280" cy="45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a:solidFill>
                  <a:srgbClr val="000000"/>
                </a:solidFill>
                <a:latin typeface="Arial"/>
                <a:ea typeface="DejaVu Sans"/>
              </a:rPr>
              <a:t>Renderer: Allows You to See the GameObject </a:t>
            </a:r>
            <a:endParaRPr lang="en-US" sz="2200" b="0" strike="noStrike" spc="-1">
              <a:solidFill>
                <a:srgbClr val="000000"/>
              </a:solidFill>
              <a:latin typeface="Arial"/>
            </a:endParaRPr>
          </a:p>
        </p:txBody>
      </p:sp>
      <p:sp>
        <p:nvSpPr>
          <p:cNvPr id="97" name="Rectangle 96"/>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436F138F-902F-443E-9717-DACDE0C942B4}"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sp>
        <p:nvSpPr>
          <p:cNvPr id="99" name="PlaceHolder 5"/>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The Rigdbody Component</a:t>
            </a:r>
            <a:endParaRPr lang="en-US" sz="3600" b="0" strike="noStrike" spc="-1">
              <a:solidFill>
                <a:srgbClr val="000000"/>
              </a:solidFill>
              <a:latin typeface="Arial"/>
            </a:endParaRPr>
          </a:p>
        </p:txBody>
      </p:sp>
      <p:sp>
        <p:nvSpPr>
          <p:cNvPr id="100" name="Rectangle 99"/>
          <p:cNvSpPr/>
          <p:nvPr/>
        </p:nvSpPr>
        <p:spPr>
          <a:xfrm>
            <a:off x="457200" y="1965240"/>
            <a:ext cx="10812600" cy="3836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0" strike="noStrike" spc="-1" dirty="0">
                <a:solidFill>
                  <a:srgbClr val="000000"/>
                </a:solidFill>
                <a:latin typeface="Arial"/>
                <a:ea typeface="DejaVu Sans"/>
              </a:rPr>
              <a:t>The </a:t>
            </a:r>
            <a:r>
              <a:rPr lang="en-US" sz="2200" b="1" strike="noStrike" spc="-1" dirty="0" err="1">
                <a:solidFill>
                  <a:srgbClr val="000000"/>
                </a:solidFill>
                <a:latin typeface="Arial"/>
                <a:ea typeface="DejaVu Sans"/>
              </a:rPr>
              <a:t>Rigidbody</a:t>
            </a:r>
            <a:r>
              <a:rPr lang="en-US" sz="2200" b="0" strike="noStrike" spc="-1" dirty="0">
                <a:solidFill>
                  <a:srgbClr val="000000"/>
                </a:solidFill>
                <a:latin typeface="Arial"/>
                <a:ea typeface="DejaVu Sans"/>
              </a:rPr>
              <a:t> component controls the physics simulation of your </a:t>
            </a:r>
            <a:r>
              <a:rPr lang="en-US" sz="2200" b="0" strike="noStrike" spc="-1" dirty="0" err="1">
                <a:solidFill>
                  <a:srgbClr val="000000"/>
                </a:solidFill>
                <a:latin typeface="Arial"/>
                <a:ea typeface="DejaVu Sans"/>
              </a:rPr>
              <a:t>GameObject</a:t>
            </a:r>
            <a:r>
              <a:rPr lang="en-US" sz="2200" b="0" strike="noStrike" spc="-1" dirty="0">
                <a:solidFill>
                  <a:srgbClr val="000000"/>
                </a:solidFill>
                <a:latin typeface="Arial"/>
                <a:ea typeface="DejaVu Sans"/>
              </a:rPr>
              <a:t>. The </a:t>
            </a:r>
            <a:r>
              <a:rPr lang="en-US" sz="2200" b="0" strike="noStrike" spc="-1" dirty="0" err="1">
                <a:solidFill>
                  <a:srgbClr val="000000"/>
                </a:solidFill>
                <a:latin typeface="Arial"/>
                <a:ea typeface="DejaVu Sans"/>
              </a:rPr>
              <a:t>Rigidbody</a:t>
            </a:r>
            <a:r>
              <a:rPr lang="en-US" sz="2200" b="0" strike="noStrike" spc="-1" dirty="0">
                <a:solidFill>
                  <a:srgbClr val="000000"/>
                </a:solidFill>
                <a:latin typeface="Arial"/>
                <a:ea typeface="DejaVu Sans"/>
              </a:rPr>
              <a:t> component simulates acceleration and velocity every </a:t>
            </a:r>
            <a:r>
              <a:rPr lang="en-US" sz="2200" b="1" i="1" strike="noStrike" spc="-1" dirty="0" err="1">
                <a:solidFill>
                  <a:srgbClr val="000000"/>
                </a:solidFill>
                <a:latin typeface="Arial"/>
                <a:ea typeface="DejaVu Sans"/>
              </a:rPr>
              <a:t>FixedUpdate</a:t>
            </a:r>
            <a:r>
              <a:rPr lang="en-US" sz="2200" b="0" strike="noStrike" spc="-1" dirty="0">
                <a:solidFill>
                  <a:srgbClr val="000000"/>
                </a:solidFill>
                <a:latin typeface="Arial"/>
                <a:ea typeface="DejaVu Sans"/>
              </a:rPr>
              <a:t> (generally every 50th of a second) to update the position and rotation of the Transform component over time. It also uses the Collider component to handle collisions with other </a:t>
            </a:r>
            <a:r>
              <a:rPr lang="en-US" sz="2200" b="0" strike="noStrike" spc="-1" dirty="0" err="1">
                <a:solidFill>
                  <a:srgbClr val="000000"/>
                </a:solidFill>
                <a:latin typeface="Arial"/>
                <a:ea typeface="DejaVu Sans"/>
              </a:rPr>
              <a:t>GameObjects</a:t>
            </a:r>
            <a:r>
              <a:rPr lang="en-US" sz="2200" b="0" strike="noStrike" spc="-1" dirty="0">
                <a:solidFill>
                  <a:srgbClr val="000000"/>
                </a:solidFill>
                <a:latin typeface="Arial"/>
                <a:ea typeface="DejaVu Sans"/>
              </a:rPr>
              <a:t>. The </a:t>
            </a:r>
            <a:r>
              <a:rPr lang="en-US" sz="2200" b="0" strike="noStrike" spc="-1" dirty="0" err="1">
                <a:solidFill>
                  <a:srgbClr val="000000"/>
                </a:solidFill>
                <a:latin typeface="Arial"/>
                <a:ea typeface="DejaVu Sans"/>
              </a:rPr>
              <a:t>Rigidbody</a:t>
            </a:r>
            <a:r>
              <a:rPr lang="en-US" sz="2200" b="0" strike="noStrike" spc="-1" dirty="0">
                <a:solidFill>
                  <a:srgbClr val="000000"/>
                </a:solidFill>
                <a:latin typeface="Arial"/>
                <a:ea typeface="DejaVu Sans"/>
              </a:rPr>
              <a:t> component can also model things like </a:t>
            </a:r>
            <a:r>
              <a:rPr lang="en-US" sz="2200" b="1" i="1" strike="noStrike" spc="-1" dirty="0">
                <a:solidFill>
                  <a:srgbClr val="000000"/>
                </a:solidFill>
                <a:latin typeface="Arial"/>
                <a:ea typeface="DejaVu Sans"/>
              </a:rPr>
              <a:t>gravity</a:t>
            </a:r>
            <a:r>
              <a:rPr lang="en-US" sz="2200" b="0" strike="noStrike" spc="-1" dirty="0">
                <a:solidFill>
                  <a:srgbClr val="000000"/>
                </a:solidFill>
                <a:latin typeface="Arial"/>
                <a:ea typeface="DejaVu Sans"/>
              </a:rPr>
              <a:t>, </a:t>
            </a:r>
            <a:r>
              <a:rPr lang="en-US" sz="2200" b="1" i="1" strike="noStrike" spc="-1" dirty="0">
                <a:solidFill>
                  <a:srgbClr val="000000"/>
                </a:solidFill>
                <a:latin typeface="Arial"/>
                <a:ea typeface="DejaVu Sans"/>
              </a:rPr>
              <a:t>drag</a:t>
            </a:r>
            <a:r>
              <a:rPr lang="en-US" sz="2200" b="0" strike="noStrike" spc="-1" dirty="0">
                <a:solidFill>
                  <a:srgbClr val="000000"/>
                </a:solidFill>
                <a:latin typeface="Arial"/>
                <a:ea typeface="DejaVu Sans"/>
              </a:rPr>
              <a:t>, and various forces like </a:t>
            </a:r>
            <a:r>
              <a:rPr lang="en-US" sz="2200" b="0" i="1" strike="noStrike" spc="-1" dirty="0">
                <a:solidFill>
                  <a:srgbClr val="000000"/>
                </a:solidFill>
                <a:latin typeface="Arial"/>
                <a:ea typeface="DejaVu Sans"/>
              </a:rPr>
              <a:t>wind</a:t>
            </a:r>
            <a:r>
              <a:rPr lang="en-US" sz="2200" b="0" strike="noStrike" spc="-1" dirty="0">
                <a:solidFill>
                  <a:srgbClr val="000000"/>
                </a:solidFill>
                <a:latin typeface="Arial"/>
                <a:ea typeface="DejaVu Sans"/>
              </a:rPr>
              <a:t> and </a:t>
            </a:r>
            <a:r>
              <a:rPr lang="en-US" sz="2200" b="0" i="1" strike="noStrike" spc="-1" dirty="0">
                <a:solidFill>
                  <a:srgbClr val="000000"/>
                </a:solidFill>
                <a:latin typeface="Arial"/>
                <a:ea typeface="DejaVu Sans"/>
              </a:rPr>
              <a:t>explosions</a:t>
            </a:r>
            <a:r>
              <a:rPr lang="en-US" sz="2200" b="0" strike="noStrike" spc="-1" dirty="0">
                <a:solidFill>
                  <a:srgbClr val="000000"/>
                </a:solidFill>
                <a:latin typeface="Arial"/>
                <a:ea typeface="DejaVu Sans"/>
              </a:rPr>
              <a:t>. Set </a:t>
            </a:r>
            <a:r>
              <a:rPr lang="en-US" sz="2200" b="0" i="1" strike="noStrike" spc="-1" dirty="0" err="1">
                <a:solidFill>
                  <a:srgbClr val="000000"/>
                </a:solidFill>
                <a:latin typeface="Arial"/>
                <a:ea typeface="DejaVu Sans"/>
              </a:rPr>
              <a:t>isKinematic</a:t>
            </a:r>
            <a:r>
              <a:rPr lang="en-US" sz="2200" b="0" strike="noStrike" spc="-1" dirty="0">
                <a:solidFill>
                  <a:srgbClr val="000000"/>
                </a:solidFill>
                <a:latin typeface="Arial"/>
                <a:ea typeface="DejaVu Sans"/>
              </a:rPr>
              <a:t> to true if you want to directly set the position of your </a:t>
            </a:r>
            <a:r>
              <a:rPr lang="en-US" sz="2200" b="0" strike="noStrike" spc="-1" dirty="0" err="1">
                <a:solidFill>
                  <a:srgbClr val="000000"/>
                </a:solidFill>
                <a:latin typeface="Arial"/>
                <a:ea typeface="DejaVu Sans"/>
              </a:rPr>
              <a:t>GameObject</a:t>
            </a:r>
            <a:r>
              <a:rPr lang="en-US" sz="2200" b="0" strike="noStrike" spc="-1" dirty="0">
                <a:solidFill>
                  <a:srgbClr val="000000"/>
                </a:solidFill>
                <a:latin typeface="Arial"/>
                <a:ea typeface="DejaVu Sans"/>
              </a:rPr>
              <a:t> without using the physics provided by </a:t>
            </a:r>
            <a:r>
              <a:rPr lang="en-US" sz="2200" b="0" strike="noStrike" spc="-1" dirty="0" err="1">
                <a:solidFill>
                  <a:srgbClr val="000000"/>
                </a:solidFill>
                <a:latin typeface="Arial"/>
                <a:ea typeface="DejaVu Sans"/>
              </a:rPr>
              <a:t>Rigidbody</a:t>
            </a:r>
            <a:r>
              <a:rPr lang="en-US" sz="2200" b="0" strike="noStrike" spc="-1" dirty="0">
                <a:solidFill>
                  <a:srgbClr val="000000"/>
                </a:solidFill>
                <a:latin typeface="Arial"/>
                <a:ea typeface="DejaVu Sans"/>
              </a:rPr>
              <a:t>.</a:t>
            </a:r>
            <a:endParaRPr lang="en-US" sz="2200" b="0" strike="noStrike" spc="-1" dirty="0">
              <a:solidFill>
                <a:srgbClr val="000000"/>
              </a:solidFill>
              <a:latin typeface="Arial"/>
            </a:endParaRPr>
          </a:p>
        </p:txBody>
      </p:sp>
      <p:sp>
        <p:nvSpPr>
          <p:cNvPr id="101" name="Rectangle 100"/>
          <p:cNvSpPr/>
          <p:nvPr/>
        </p:nvSpPr>
        <p:spPr>
          <a:xfrm>
            <a:off x="457200" y="1454760"/>
            <a:ext cx="5939640" cy="71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a:solidFill>
                  <a:srgbClr val="000000"/>
                </a:solidFill>
                <a:latin typeface="Arial"/>
                <a:ea typeface="DejaVu Sans"/>
              </a:rPr>
              <a:t>Rigidbody: The Physics Simulation</a:t>
            </a:r>
            <a:endParaRPr lang="en-US" sz="2200" b="0" strike="noStrike" spc="-1">
              <a:solidFill>
                <a:srgbClr val="000000"/>
              </a:solidFill>
              <a:latin typeface="Arial"/>
            </a:endParaRPr>
          </a:p>
        </p:txBody>
      </p:sp>
      <p:sp>
        <p:nvSpPr>
          <p:cNvPr id="2" name="PlaceHolder 1"/>
          <p:cNvSpPr>
            <a:spLocks noGrp="1"/>
          </p:cNvSpPr>
          <p:nvPr>
            <p:ph type="sldNum" idx="1"/>
          </p:nvPr>
        </p:nvSpPr>
        <p:spPr/>
        <p:txBody>
          <a:bodyPr/>
          <a:lstStyle/>
          <a:p>
            <a:fld id="{D6BEEF62-E4F1-4993-B03E-F049C32D1BC6}"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529E-EBD9-240E-BFA9-1C0887C91B2B}"/>
              </a:ext>
            </a:extLst>
          </p:cNvPr>
          <p:cNvSpPr>
            <a:spLocks noGrp="1"/>
          </p:cNvSpPr>
          <p:nvPr>
            <p:ph type="title"/>
          </p:nvPr>
        </p:nvSpPr>
        <p:spPr>
          <a:xfrm>
            <a:off x="609480" y="658368"/>
            <a:ext cx="10972440" cy="760032"/>
          </a:xfrm>
        </p:spPr>
        <p:txBody>
          <a:bodyPr/>
          <a:lstStyle/>
          <a:p>
            <a:r>
              <a:rPr lang="vi-VN" sz="4000" dirty="0"/>
              <a:t>Rigidbody</a:t>
            </a:r>
            <a:endParaRPr lang="en-VN" sz="4000" dirty="0"/>
          </a:p>
        </p:txBody>
      </p:sp>
      <p:sp>
        <p:nvSpPr>
          <p:cNvPr id="3" name="Subtitle 2">
            <a:extLst>
              <a:ext uri="{FF2B5EF4-FFF2-40B4-BE49-F238E27FC236}">
                <a16:creationId xmlns:a16="http://schemas.microsoft.com/office/drawing/2014/main" id="{A005C99D-108A-982A-8807-2C44A89F65BA}"/>
              </a:ext>
            </a:extLst>
          </p:cNvPr>
          <p:cNvSpPr>
            <a:spLocks noGrp="1"/>
          </p:cNvSpPr>
          <p:nvPr>
            <p:ph type="subTitle"/>
          </p:nvPr>
        </p:nvSpPr>
        <p:spPr>
          <a:xfrm>
            <a:off x="632220" y="2696760"/>
            <a:ext cx="10972440" cy="1144800"/>
          </a:xfrm>
        </p:spPr>
        <p:txBody>
          <a:bodyPr/>
          <a:lstStyle/>
          <a:p>
            <a:r>
              <a:rPr lang="vi-VN" sz="2200" dirty="0"/>
              <a:t>Rigidbody trong Unity là thành phần dùng để thêm </a:t>
            </a:r>
            <a:r>
              <a:rPr lang="vi-VN" sz="2200" b="1" dirty="0"/>
              <a:t>vật lý</a:t>
            </a:r>
            <a:r>
              <a:rPr lang="vi-VN" sz="2200" dirty="0"/>
              <a:t> cho GameObject. Nó giúp GameObject bị ảnh hưởng bởi các lực như </a:t>
            </a:r>
            <a:r>
              <a:rPr lang="vi-VN" sz="2200" b="1" dirty="0"/>
              <a:t>trọng lực</a:t>
            </a:r>
            <a:r>
              <a:rPr lang="vi-VN" sz="2200" dirty="0"/>
              <a:t>, </a:t>
            </a:r>
            <a:r>
              <a:rPr lang="vi-VN" sz="2200" b="1" dirty="0"/>
              <a:t>va chạm</a:t>
            </a:r>
            <a:r>
              <a:rPr lang="vi-VN" sz="2200" dirty="0"/>
              <a:t>, và </a:t>
            </a:r>
            <a:r>
              <a:rPr lang="vi-VN" sz="2200" b="1" dirty="0"/>
              <a:t>gió</a:t>
            </a:r>
            <a:r>
              <a:rPr lang="vi-VN" sz="2200" dirty="0"/>
              <a:t>.</a:t>
            </a:r>
          </a:p>
          <a:p>
            <a:r>
              <a:rPr lang="vi-VN" sz="2200" b="1" dirty="0"/>
              <a:t>Các điểm chính:</a:t>
            </a:r>
          </a:p>
          <a:p>
            <a:pPr>
              <a:buFont typeface="Arial" panose="020B0604020202020204" pitchFamily="34" charset="0"/>
              <a:buChar char="•"/>
            </a:pPr>
            <a:r>
              <a:rPr lang="vi-VN" sz="2200" b="1" dirty="0"/>
              <a:t>Trọng lực (Gravity):</a:t>
            </a:r>
            <a:r>
              <a:rPr lang="vi-VN" sz="2200" dirty="0"/>
              <a:t> Làm GameObject rơi xuống.</a:t>
            </a:r>
          </a:p>
          <a:p>
            <a:pPr>
              <a:buFont typeface="Arial" panose="020B0604020202020204" pitchFamily="34" charset="0"/>
              <a:buChar char="•"/>
            </a:pPr>
            <a:r>
              <a:rPr lang="vi-VN" sz="2200" b="1" dirty="0"/>
              <a:t>Lực kéo (Drag):</a:t>
            </a:r>
            <a:r>
              <a:rPr lang="vi-VN" sz="2200" dirty="0"/>
              <a:t> Làm chậm chuyển động.</a:t>
            </a:r>
          </a:p>
          <a:p>
            <a:pPr>
              <a:buFont typeface="Arial" panose="020B0604020202020204" pitchFamily="34" charset="0"/>
              <a:buChar char="•"/>
            </a:pPr>
            <a:r>
              <a:rPr lang="vi-VN" sz="2200" b="1" dirty="0"/>
              <a:t>Va chạm:</a:t>
            </a:r>
            <a:r>
              <a:rPr lang="vi-VN" sz="2200" dirty="0"/>
              <a:t> Làm việc với Collider để xử lý va chạm.</a:t>
            </a:r>
          </a:p>
          <a:p>
            <a:pPr>
              <a:buFont typeface="Arial" panose="020B0604020202020204" pitchFamily="34" charset="0"/>
              <a:buChar char="•"/>
            </a:pPr>
            <a:r>
              <a:rPr lang="vi-VN" sz="2200" b="1" dirty="0"/>
              <a:t>isKinematic:</a:t>
            </a:r>
            <a:r>
              <a:rPr lang="vi-VN" sz="2200" dirty="0"/>
              <a:t> Tắt vật lý tự động, bạn tự kiểm soát chuyển động qua mã.</a:t>
            </a:r>
          </a:p>
          <a:p>
            <a:r>
              <a:rPr lang="vi-VN" sz="2200" dirty="0"/>
              <a:t>Nói ngắn gọn, Rigidbody biến GameObject thành một vật thể "sống" trong thế giới vật lý.</a:t>
            </a:r>
          </a:p>
        </p:txBody>
      </p:sp>
    </p:spTree>
    <p:extLst>
      <p:ext uri="{BB962C8B-B14F-4D97-AF65-F5344CB8AC3E}">
        <p14:creationId xmlns:p14="http://schemas.microsoft.com/office/powerpoint/2010/main" val="1886702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20"/>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The Collider Component</a:t>
            </a:r>
            <a:endParaRPr lang="en-US" sz="3600" b="0" strike="noStrike" spc="-1">
              <a:solidFill>
                <a:srgbClr val="000000"/>
              </a:solidFill>
              <a:latin typeface="Arial"/>
            </a:endParaRPr>
          </a:p>
        </p:txBody>
      </p:sp>
      <p:pic>
        <p:nvPicPr>
          <p:cNvPr id="103" name="Picture 102"/>
          <p:cNvPicPr/>
          <p:nvPr/>
        </p:nvPicPr>
        <p:blipFill>
          <a:blip r:embed="rId3"/>
          <a:stretch/>
        </p:blipFill>
        <p:spPr>
          <a:xfrm>
            <a:off x="1143000" y="1389600"/>
            <a:ext cx="8789400" cy="5006160"/>
          </a:xfrm>
          <a:prstGeom prst="rect">
            <a:avLst/>
          </a:prstGeom>
          <a:ln w="0">
            <a:noFill/>
          </a:ln>
        </p:spPr>
      </p:pic>
      <p:sp>
        <p:nvSpPr>
          <p:cNvPr id="104" name="Rectangle 103"/>
          <p:cNvSpPr/>
          <p:nvPr/>
        </p:nvSpPr>
        <p:spPr>
          <a:xfrm>
            <a:off x="6962040" y="6520320"/>
            <a:ext cx="4107960" cy="31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6: Gibson Bond, Jeremy, Introduction to Game Design, Prototyping, and Development: From Concept to Playable Game with Unity and C, </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75AD43BD-01FE-41A5-B96B-954325B392C4}"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6"/>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Script Components</a:t>
            </a:r>
            <a:endParaRPr lang="en-US" sz="3600" b="0" strike="noStrike" spc="-1">
              <a:solidFill>
                <a:srgbClr val="000000"/>
              </a:solidFill>
              <a:latin typeface="Arial"/>
            </a:endParaRPr>
          </a:p>
        </p:txBody>
      </p:sp>
      <p:sp>
        <p:nvSpPr>
          <p:cNvPr id="106" name="Rectangle 105"/>
          <p:cNvSpPr/>
          <p:nvPr/>
        </p:nvSpPr>
        <p:spPr>
          <a:xfrm>
            <a:off x="6449400" y="6592320"/>
            <a:ext cx="4440600" cy="1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 Hocking, Joseph; Schell, Jesse, Unity in action: multiplatform game development in C#, 2022</a:t>
            </a:r>
            <a:endParaRPr lang="en-US" sz="900" b="0" strike="noStrike" spc="-1">
              <a:solidFill>
                <a:srgbClr val="000000"/>
              </a:solidFill>
              <a:latin typeface="Arial"/>
            </a:endParaRPr>
          </a:p>
        </p:txBody>
      </p:sp>
      <p:pic>
        <p:nvPicPr>
          <p:cNvPr id="107" name="Picture 106"/>
          <p:cNvPicPr/>
          <p:nvPr/>
        </p:nvPicPr>
        <p:blipFill>
          <a:blip r:embed="rId2"/>
          <a:stretch/>
        </p:blipFill>
        <p:spPr>
          <a:xfrm>
            <a:off x="304920" y="1417320"/>
            <a:ext cx="9374040" cy="1778040"/>
          </a:xfrm>
          <a:prstGeom prst="rect">
            <a:avLst/>
          </a:prstGeom>
          <a:ln w="0">
            <a:noFill/>
          </a:ln>
        </p:spPr>
      </p:pic>
      <p:pic>
        <p:nvPicPr>
          <p:cNvPr id="108" name="Picture 107"/>
          <p:cNvPicPr/>
          <p:nvPr/>
        </p:nvPicPr>
        <p:blipFill>
          <a:blip r:embed="rId3"/>
          <a:stretch/>
        </p:blipFill>
        <p:spPr>
          <a:xfrm>
            <a:off x="4343400" y="2988000"/>
            <a:ext cx="7602840" cy="2987640"/>
          </a:xfrm>
          <a:prstGeom prst="rect">
            <a:avLst/>
          </a:prstGeom>
          <a:ln w="0">
            <a:noFill/>
          </a:ln>
        </p:spPr>
      </p:pic>
      <p:sp>
        <p:nvSpPr>
          <p:cNvPr id="2" name="PlaceHolder 1"/>
          <p:cNvSpPr>
            <a:spLocks noGrp="1"/>
          </p:cNvSpPr>
          <p:nvPr>
            <p:ph type="sldNum" idx="1"/>
          </p:nvPr>
        </p:nvSpPr>
        <p:spPr/>
        <p:txBody>
          <a:bodyPr/>
          <a:lstStyle/>
          <a:p>
            <a:fld id="{8F3CBB42-633B-494B-A11D-3321CF8552A6}"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21"/>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Script Components</a:t>
            </a:r>
            <a:endParaRPr lang="en-US" sz="3600" b="0" strike="noStrike" spc="-1">
              <a:solidFill>
                <a:srgbClr val="000000"/>
              </a:solidFill>
              <a:latin typeface="Arial"/>
            </a:endParaRPr>
          </a:p>
        </p:txBody>
      </p:sp>
      <p:pic>
        <p:nvPicPr>
          <p:cNvPr id="110" name="Picture 109"/>
          <p:cNvPicPr/>
          <p:nvPr/>
        </p:nvPicPr>
        <p:blipFill>
          <a:blip r:embed="rId2"/>
          <a:stretch/>
        </p:blipFill>
        <p:spPr>
          <a:xfrm>
            <a:off x="454320" y="1875600"/>
            <a:ext cx="11244960" cy="3195360"/>
          </a:xfrm>
          <a:prstGeom prst="rect">
            <a:avLst/>
          </a:prstGeom>
          <a:ln w="0">
            <a:noFill/>
          </a:ln>
        </p:spPr>
      </p:pic>
      <p:sp>
        <p:nvSpPr>
          <p:cNvPr id="111" name="Straight Connector 110"/>
          <p:cNvSpPr/>
          <p:nvPr/>
        </p:nvSpPr>
        <p:spPr>
          <a:xfrm>
            <a:off x="8458200" y="2286000"/>
            <a:ext cx="27432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2" name="Straight Connector 111"/>
          <p:cNvSpPr/>
          <p:nvPr/>
        </p:nvSpPr>
        <p:spPr>
          <a:xfrm>
            <a:off x="4536000" y="2671200"/>
            <a:ext cx="50292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3" name="Straight Connector 112"/>
          <p:cNvSpPr/>
          <p:nvPr/>
        </p:nvSpPr>
        <p:spPr>
          <a:xfrm>
            <a:off x="1672200" y="4235400"/>
            <a:ext cx="9144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4" name="Straight Connector 113"/>
          <p:cNvSpPr/>
          <p:nvPr/>
        </p:nvSpPr>
        <p:spPr>
          <a:xfrm>
            <a:off x="1335600" y="4572000"/>
            <a:ext cx="52578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5" name="Straight Connector 114"/>
          <p:cNvSpPr/>
          <p:nvPr/>
        </p:nvSpPr>
        <p:spPr>
          <a:xfrm>
            <a:off x="7543800" y="4572000"/>
            <a:ext cx="11430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6" name="Straight Connector 115"/>
          <p:cNvSpPr/>
          <p:nvPr/>
        </p:nvSpPr>
        <p:spPr>
          <a:xfrm>
            <a:off x="10972800" y="4572000"/>
            <a:ext cx="4572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7" name="Straight Connector 116"/>
          <p:cNvSpPr/>
          <p:nvPr/>
        </p:nvSpPr>
        <p:spPr>
          <a:xfrm>
            <a:off x="613800" y="4993200"/>
            <a:ext cx="685800" cy="360"/>
          </a:xfrm>
          <a:prstGeom prst="line">
            <a:avLst/>
          </a:prstGeom>
          <a:ln w="36720">
            <a:solidFill>
              <a:srgbClr val="FF860D"/>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118" name="Rectangle 117"/>
          <p:cNvSpPr/>
          <p:nvPr/>
        </p:nvSpPr>
        <p:spPr>
          <a:xfrm>
            <a:off x="6449400" y="6607440"/>
            <a:ext cx="4440600" cy="1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 Hocking, Joseph; Schell, Jesse, Unity in action: multiplatform game development in C#, 2022</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A3E4FA61-6481-40C7-A70C-AF4B019845F3}"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0"/>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Advantages of Component-Based Design (CBD)</a:t>
            </a:r>
            <a:endParaRPr lang="en-US" sz="3600" b="0" strike="noStrike" spc="-1">
              <a:solidFill>
                <a:srgbClr val="000000"/>
              </a:solidFill>
              <a:latin typeface="Arial"/>
            </a:endParaRPr>
          </a:p>
        </p:txBody>
      </p:sp>
      <p:sp>
        <p:nvSpPr>
          <p:cNvPr id="120" name="Rectangle 119"/>
          <p:cNvSpPr/>
          <p:nvPr/>
        </p:nvSpPr>
        <p:spPr>
          <a:xfrm>
            <a:off x="366480" y="1348200"/>
            <a:ext cx="6256800" cy="321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dirty="0">
                <a:solidFill>
                  <a:srgbClr val="000000"/>
                </a:solidFill>
                <a:latin typeface="Arial"/>
                <a:ea typeface="DejaVu Sans"/>
              </a:rPr>
              <a:t>There are many advantages of developing the applications using the CBD</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marL="360000" indent="-216000">
              <a:lnSpc>
                <a:spcPct val="100000"/>
              </a:lnSpc>
              <a:buClr>
                <a:srgbClr val="000000"/>
              </a:buClr>
              <a:buFont typeface="OpenSymbol"/>
              <a:buAutoNum type="arabicPeriod"/>
            </a:pPr>
            <a:r>
              <a:rPr lang="en-US" sz="1800" b="1" strike="noStrike" spc="-1" dirty="0">
                <a:solidFill>
                  <a:srgbClr val="000000"/>
                </a:solidFill>
                <a:latin typeface="Arial"/>
                <a:ea typeface="PingFang SC"/>
              </a:rPr>
              <a:t>Ease of deploymen</a:t>
            </a:r>
            <a:r>
              <a:rPr lang="en-US" sz="1800" b="0" strike="noStrike" spc="-1" dirty="0">
                <a:solidFill>
                  <a:srgbClr val="000000"/>
                </a:solidFill>
                <a:latin typeface="Arial"/>
                <a:ea typeface="PingFang SC"/>
              </a:rPr>
              <a:t>t − As new compatible versions become available, it is easier to replace existing versions with no impact on the other components or the system as a whole.</a:t>
            </a:r>
            <a:endParaRPr lang="en-US" sz="1800" b="0" strike="noStrike" spc="-1" dirty="0">
              <a:solidFill>
                <a:srgbClr val="000000"/>
              </a:solidFill>
              <a:latin typeface="Arial"/>
            </a:endParaRPr>
          </a:p>
          <a:p>
            <a:pPr marL="144000">
              <a:lnSpc>
                <a:spcPct val="100000"/>
              </a:lnSpc>
              <a:buClr>
                <a:srgbClr val="000000"/>
              </a:buClr>
            </a:pPr>
            <a:endParaRPr lang="en-US" spc="-1" dirty="0">
              <a:solidFill>
                <a:srgbClr val="000000"/>
              </a:solidFill>
              <a:latin typeface="Arial"/>
            </a:endParaRPr>
          </a:p>
          <a:p>
            <a:pPr marL="144000">
              <a:lnSpc>
                <a:spcPct val="100000"/>
              </a:lnSpc>
              <a:buClr>
                <a:srgbClr val="000000"/>
              </a:buClr>
            </a:pPr>
            <a:r>
              <a:rPr lang="en-US" spc="-1" dirty="0">
                <a:solidFill>
                  <a:srgbClr val="000000"/>
                </a:solidFill>
                <a:latin typeface="Arial"/>
              </a:rPr>
              <a:t>2.</a:t>
            </a:r>
            <a:r>
              <a:rPr lang="en-US" sz="1800" b="1" strike="noStrike" spc="-1" dirty="0">
                <a:solidFill>
                  <a:srgbClr val="000000"/>
                </a:solidFill>
                <a:latin typeface="Arial"/>
                <a:ea typeface="PingFang SC"/>
              </a:rPr>
              <a:t>Reduced cost</a:t>
            </a:r>
            <a:r>
              <a:rPr lang="en-US" sz="1800" b="0" strike="noStrike" spc="-1" dirty="0">
                <a:solidFill>
                  <a:srgbClr val="000000"/>
                </a:solidFill>
                <a:latin typeface="Arial"/>
                <a:ea typeface="PingFang SC"/>
              </a:rPr>
              <a:t> − The use of third-party components allows you to spread the cost of development and maintenance.</a:t>
            </a:r>
            <a:endParaRPr lang="en-US" sz="1800" b="0" strike="noStrike" spc="-1" dirty="0">
              <a:solidFill>
                <a:srgbClr val="000000"/>
              </a:solidFill>
              <a:latin typeface="Arial"/>
            </a:endParaRPr>
          </a:p>
        </p:txBody>
      </p:sp>
      <p:pic>
        <p:nvPicPr>
          <p:cNvPr id="121" name="Picture 120"/>
          <p:cNvPicPr/>
          <p:nvPr/>
        </p:nvPicPr>
        <p:blipFill>
          <a:blip r:embed="rId2"/>
          <a:stretch/>
        </p:blipFill>
        <p:spPr>
          <a:xfrm>
            <a:off x="6473520" y="1804680"/>
            <a:ext cx="5527440" cy="2077560"/>
          </a:xfrm>
          <a:prstGeom prst="rect">
            <a:avLst/>
          </a:prstGeom>
          <a:ln w="0">
            <a:noFill/>
          </a:ln>
        </p:spPr>
      </p:pic>
      <p:sp>
        <p:nvSpPr>
          <p:cNvPr id="122" name="Rectangle 121"/>
          <p:cNvSpPr/>
          <p:nvPr/>
        </p:nvSpPr>
        <p:spPr>
          <a:xfrm>
            <a:off x="493200" y="4572000"/>
            <a:ext cx="10971000" cy="162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Font typeface="OpenSymbol"/>
              <a:buAutoNum type="arabicPeriod" startAt="3"/>
            </a:pPr>
            <a:r>
              <a:rPr lang="en-US" sz="1800" b="1" strike="noStrike" spc="-1" dirty="0">
                <a:solidFill>
                  <a:srgbClr val="000000"/>
                </a:solidFill>
                <a:latin typeface="Arial"/>
                <a:ea typeface="PingFang SC"/>
              </a:rPr>
              <a:t>Ease of development </a:t>
            </a:r>
            <a:r>
              <a:rPr lang="en-US" sz="1800" b="0" strike="noStrike" spc="-1" dirty="0">
                <a:solidFill>
                  <a:srgbClr val="000000"/>
                </a:solidFill>
                <a:latin typeface="Arial"/>
                <a:ea typeface="PingFang SC"/>
              </a:rPr>
              <a:t>− Components implement well-known interfaces to provide defined functionality, allowing development without impacting other parts of the system.</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buClr>
                <a:srgbClr val="000000"/>
              </a:buClr>
            </a:pPr>
            <a:r>
              <a:rPr lang="en-US" sz="1800" b="1" strike="noStrike" spc="-1" dirty="0">
                <a:solidFill>
                  <a:srgbClr val="000000"/>
                </a:solidFill>
                <a:latin typeface="Arial"/>
                <a:ea typeface="PingFang SC"/>
              </a:rPr>
              <a:t>4. Reusable</a:t>
            </a:r>
            <a:r>
              <a:rPr lang="en-US" sz="1800" b="0" strike="noStrike" spc="-1" dirty="0">
                <a:solidFill>
                  <a:srgbClr val="000000"/>
                </a:solidFill>
                <a:latin typeface="Arial"/>
                <a:ea typeface="PingFang SC"/>
              </a:rPr>
              <a:t> − The use of reusable components means that they can be used to spread the development and maintenance cost across several applications or systems.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p:txBody>
      </p:sp>
      <p:sp>
        <p:nvSpPr>
          <p:cNvPr id="2" name="PlaceHolder 1"/>
          <p:cNvSpPr>
            <a:spLocks noGrp="1"/>
          </p:cNvSpPr>
          <p:nvPr>
            <p:ph type="sldNum" idx="1"/>
          </p:nvPr>
        </p:nvSpPr>
        <p:spPr/>
        <p:txBody>
          <a:bodyPr/>
          <a:lstStyle/>
          <a:p>
            <a:fld id="{72AFDADC-75BF-4269-9F15-49DBEAC032BC}"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122"/>
          <p:cNvSpPr/>
          <p:nvPr/>
        </p:nvSpPr>
        <p:spPr>
          <a:xfrm>
            <a:off x="687960" y="1600200"/>
            <a:ext cx="10052280" cy="192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Font typeface="OpenSymbol"/>
              <a:buAutoNum type="arabicPeriod" startAt="5"/>
            </a:pPr>
            <a:r>
              <a:rPr lang="en-US" sz="1800" b="1" strike="noStrike" spc="-1" dirty="0">
                <a:solidFill>
                  <a:srgbClr val="000000"/>
                </a:solidFill>
                <a:latin typeface="Arial"/>
                <a:ea typeface="PingFang SC"/>
              </a:rPr>
              <a:t>Modification of technical complexity</a:t>
            </a:r>
            <a:r>
              <a:rPr lang="en-US" sz="1800" b="0" strike="noStrike" spc="-1" dirty="0">
                <a:solidFill>
                  <a:srgbClr val="000000"/>
                </a:solidFill>
                <a:latin typeface="Arial"/>
                <a:ea typeface="PingFang SC"/>
              </a:rPr>
              <a:t> − A component modifies the complexity through the use of a component container and its services.</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buClr>
                <a:srgbClr val="000000"/>
              </a:buClr>
            </a:pPr>
            <a:r>
              <a:rPr lang="en-US" sz="1800" b="1" strike="noStrike" spc="-1" dirty="0">
                <a:solidFill>
                  <a:srgbClr val="000000"/>
                </a:solidFill>
                <a:latin typeface="Arial"/>
                <a:ea typeface="PingFang SC"/>
              </a:rPr>
              <a:t>6. Reliability</a:t>
            </a:r>
            <a:r>
              <a:rPr lang="en-US" sz="1800" b="0" strike="noStrike" spc="-1" dirty="0">
                <a:solidFill>
                  <a:srgbClr val="000000"/>
                </a:solidFill>
                <a:latin typeface="Arial"/>
                <a:ea typeface="PingFang SC"/>
              </a:rPr>
              <a:t> − The overall system reliability increases since the reliability of each individual component enhances the reliability of the whole system via reuse.</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buClr>
                <a:srgbClr val="000000"/>
              </a:buClr>
            </a:pPr>
            <a:r>
              <a:rPr lang="en-US" sz="1800" b="1" strike="noStrike" spc="-1" dirty="0">
                <a:solidFill>
                  <a:srgbClr val="000000"/>
                </a:solidFill>
                <a:latin typeface="Arial"/>
                <a:ea typeface="PingFang SC"/>
              </a:rPr>
              <a:t>7. System maintenance and evolution</a:t>
            </a:r>
            <a:r>
              <a:rPr lang="en-US" sz="1800" b="0" strike="noStrike" spc="-1" dirty="0">
                <a:solidFill>
                  <a:srgbClr val="000000"/>
                </a:solidFill>
                <a:latin typeface="Arial"/>
                <a:ea typeface="PingFang SC"/>
              </a:rPr>
              <a:t> − Easy to change and update the implementation without affecting the rest of the system.</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buClr>
                <a:srgbClr val="000000"/>
              </a:buClr>
            </a:pPr>
            <a:r>
              <a:rPr lang="en-US" sz="1800" b="1" strike="noStrike" spc="-1" dirty="0">
                <a:solidFill>
                  <a:srgbClr val="000000"/>
                </a:solidFill>
                <a:latin typeface="Arial"/>
                <a:ea typeface="PingFang SC"/>
              </a:rPr>
              <a:t>8. Independent</a:t>
            </a:r>
            <a:r>
              <a:rPr lang="en-US" sz="1800" b="0" strike="noStrike" spc="-1" dirty="0">
                <a:solidFill>
                  <a:srgbClr val="000000"/>
                </a:solidFill>
                <a:latin typeface="Arial"/>
                <a:ea typeface="PingFang SC"/>
              </a:rPr>
              <a:t> − Independency and flexible connectivity of components. Independent development of components by different group in parallel. Productivity for the software development and future software development.</a:t>
            </a:r>
            <a:endParaRPr lang="en-US" sz="1800" b="0" strike="noStrike" spc="-1" dirty="0">
              <a:solidFill>
                <a:srgbClr val="000000"/>
              </a:solidFill>
              <a:latin typeface="Arial"/>
            </a:endParaRPr>
          </a:p>
        </p:txBody>
      </p:sp>
      <p:sp>
        <p:nvSpPr>
          <p:cNvPr id="124" name="PlaceHolder 13"/>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Advantages of Component-Based Design (CBD)</a:t>
            </a:r>
            <a:endParaRPr lang="en-US" sz="3600" b="0" strike="noStrike" spc="-1">
              <a:solidFill>
                <a:srgbClr val="000000"/>
              </a:solidFill>
              <a:latin typeface="Arial"/>
            </a:endParaRPr>
          </a:p>
        </p:txBody>
      </p:sp>
      <p:sp>
        <p:nvSpPr>
          <p:cNvPr id="2" name="PlaceHolder 1"/>
          <p:cNvSpPr>
            <a:spLocks noGrp="1"/>
          </p:cNvSpPr>
          <p:nvPr>
            <p:ph type="sldNum" idx="1"/>
          </p:nvPr>
        </p:nvSpPr>
        <p:spPr/>
        <p:txBody>
          <a:bodyPr/>
          <a:lstStyle/>
          <a:p>
            <a:fld id="{D5CF05B6-3E8B-4050-9178-3475EE33FCD1}"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5"/>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a:t>
            </a:r>
            <a:r>
              <a:rPr lang="en-US" sz="3600" dirty="0"/>
              <a:t>Simple Unity Animation and Scripting</a:t>
            </a:r>
            <a:endParaRPr lang="en-US" sz="3600" b="0" strike="noStrike" spc="-1" dirty="0">
              <a:solidFill>
                <a:srgbClr val="000000"/>
              </a:solidFill>
              <a:latin typeface="Arial"/>
            </a:endParaRPr>
          </a:p>
        </p:txBody>
      </p:sp>
      <p:sp>
        <p:nvSpPr>
          <p:cNvPr id="130" name="Rectangle 129"/>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600" b="1" dirty="0"/>
              <a:t>Project Setup</a:t>
            </a:r>
          </a:p>
          <a:p>
            <a:pPr>
              <a:buFont typeface="+mj-lt"/>
              <a:buAutoNum type="arabicPeriod"/>
            </a:pPr>
            <a:r>
              <a:rPr lang="en-US" sz="2600" dirty="0"/>
              <a:t>Create a new Unity project using Unity Hub </a:t>
            </a:r>
          </a:p>
          <a:p>
            <a:pPr marL="914400" lvl="1" indent="-457200">
              <a:buFont typeface="Arial" panose="020B0604020202020204" pitchFamily="34" charset="0"/>
              <a:buChar char="•"/>
            </a:pPr>
            <a:r>
              <a:rPr lang="en-US" sz="2600" dirty="0"/>
              <a:t>Choose "3D Core" as the template</a:t>
            </a:r>
          </a:p>
          <a:p>
            <a:pPr marL="914400" lvl="1" indent="-457200">
              <a:buFont typeface="Arial" panose="020B0604020202020204" pitchFamily="34" charset="0"/>
              <a:buChar char="•"/>
            </a:pPr>
            <a:r>
              <a:rPr lang="en-US" sz="2600" dirty="0"/>
              <a:t>Name it "</a:t>
            </a:r>
            <a:r>
              <a:rPr lang="en-US" sz="2600" dirty="0" err="1"/>
              <a:t>SimpleAnimationExample</a:t>
            </a:r>
            <a:r>
              <a:rPr lang="en-US" sz="2600" dirty="0"/>
              <a:t>"</a:t>
            </a:r>
          </a:p>
          <a:p>
            <a:pPr>
              <a:buFont typeface="+mj-lt"/>
              <a:buAutoNum type="arabicPeriod"/>
            </a:pPr>
            <a:r>
              <a:rPr lang="en-US" sz="2600" dirty="0"/>
              <a:t>Set up the scene </a:t>
            </a:r>
          </a:p>
          <a:p>
            <a:pPr marL="914400" lvl="1" indent="-457200">
              <a:buFont typeface="Arial" panose="020B0604020202020204" pitchFamily="34" charset="0"/>
              <a:buChar char="•"/>
            </a:pPr>
            <a:r>
              <a:rPr lang="en-US" sz="2600" dirty="0"/>
              <a:t>In the Hierarchy window, right-click and select 3D Object &gt; Cube</a:t>
            </a:r>
          </a:p>
          <a:p>
            <a:pPr marL="914400" lvl="1" indent="-457200">
              <a:buFont typeface="Arial" panose="020B0604020202020204" pitchFamily="34" charset="0"/>
              <a:buChar char="•"/>
            </a:pPr>
            <a:r>
              <a:rPr lang="en-US" sz="2600" dirty="0"/>
              <a:t>Name it "</a:t>
            </a:r>
            <a:r>
              <a:rPr lang="en-US" sz="2600" dirty="0" err="1"/>
              <a:t>InteractiveCube</a:t>
            </a:r>
            <a:r>
              <a:rPr lang="en-US" sz="2600" dirty="0"/>
              <a:t>"</a:t>
            </a:r>
          </a:p>
          <a:p>
            <a:pPr marL="914400" lvl="1" indent="-457200">
              <a:buFont typeface="Arial" panose="020B0604020202020204" pitchFamily="34" charset="0"/>
              <a:buChar char="•"/>
            </a:pPr>
            <a:r>
              <a:rPr lang="en-US" sz="2600" dirty="0"/>
              <a:t>Position it at (0, 0, 0) in the Scene view</a:t>
            </a:r>
          </a:p>
        </p:txBody>
      </p:sp>
      <p:sp>
        <p:nvSpPr>
          <p:cNvPr id="132" name="Rectangle 131"/>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2441909E-B639-48C3-9076-80FD83D22F92}" type="slidenum">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34CC-87FA-6D84-82D5-F956BD693912}"/>
            </a:ext>
          </a:extLst>
        </p:cNvPr>
        <p:cNvGrpSpPr/>
        <p:nvPr/>
      </p:nvGrpSpPr>
      <p:grpSpPr>
        <a:xfrm>
          <a:off x="0" y="0"/>
          <a:ext cx="0" cy="0"/>
          <a:chOff x="0" y="0"/>
          <a:chExt cx="0" cy="0"/>
        </a:xfrm>
      </p:grpSpPr>
      <p:sp>
        <p:nvSpPr>
          <p:cNvPr id="129" name="PlaceHolder 15">
            <a:extLst>
              <a:ext uri="{FF2B5EF4-FFF2-40B4-BE49-F238E27FC236}">
                <a16:creationId xmlns:a16="http://schemas.microsoft.com/office/drawing/2014/main" id="{FAA50859-C833-5D4F-0CFA-2C19483B254A}"/>
              </a:ext>
            </a:extLst>
          </p:cNvPr>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a:t>
            </a:r>
            <a:r>
              <a:rPr lang="en-US" sz="3600" dirty="0"/>
              <a:t>Simple Unity Animation and Scripting</a:t>
            </a:r>
            <a:endParaRPr lang="en-US" sz="3600" b="0" strike="noStrike" spc="-1" dirty="0">
              <a:solidFill>
                <a:srgbClr val="000000"/>
              </a:solidFill>
              <a:latin typeface="Arial"/>
            </a:endParaRPr>
          </a:p>
        </p:txBody>
      </p:sp>
      <p:sp>
        <p:nvSpPr>
          <p:cNvPr id="130" name="Rectangle 129">
            <a:extLst>
              <a:ext uri="{FF2B5EF4-FFF2-40B4-BE49-F238E27FC236}">
                <a16:creationId xmlns:a16="http://schemas.microsoft.com/office/drawing/2014/main" id="{BBEDF16F-0925-34C0-249E-97B13AFEAD33}"/>
              </a:ext>
            </a:extLst>
          </p:cNvPr>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b="1" dirty="0"/>
              <a:t>Creating the Animation</a:t>
            </a:r>
          </a:p>
          <a:p>
            <a:pPr>
              <a:buFont typeface="+mj-lt"/>
              <a:buAutoNum type="arabicPeriod"/>
            </a:pPr>
            <a:r>
              <a:rPr lang="en-US" dirty="0"/>
              <a:t>Create an Animation </a:t>
            </a:r>
          </a:p>
          <a:p>
            <a:pPr lvl="1"/>
            <a:r>
              <a:rPr lang="en-US" dirty="0"/>
              <a:t>Select the cube in the Hierarchy</a:t>
            </a:r>
          </a:p>
          <a:p>
            <a:pPr lvl="1"/>
            <a:r>
              <a:rPr lang="en-US" dirty="0"/>
              <a:t>Open the Animation window (Window &gt; Animation &gt; Animation)</a:t>
            </a:r>
          </a:p>
          <a:p>
            <a:pPr lvl="1"/>
            <a:r>
              <a:rPr lang="en-US" dirty="0"/>
              <a:t>Click "Create" and save the animation as "</a:t>
            </a:r>
            <a:r>
              <a:rPr lang="en-US" dirty="0" err="1"/>
              <a:t>CubeFloat</a:t>
            </a:r>
            <a:r>
              <a:rPr lang="en-US" dirty="0"/>
              <a:t>"</a:t>
            </a:r>
          </a:p>
          <a:p>
            <a:pPr lvl="1"/>
            <a:r>
              <a:rPr lang="en-US" dirty="0"/>
              <a:t>The Animation window will open</a:t>
            </a:r>
          </a:p>
          <a:p>
            <a:pPr>
              <a:buFont typeface="+mj-lt"/>
              <a:buAutoNum type="arabicPeriod"/>
            </a:pPr>
            <a:r>
              <a:rPr lang="en-US" dirty="0"/>
              <a:t>Record the floating animation </a:t>
            </a:r>
          </a:p>
          <a:p>
            <a:r>
              <a:rPr lang="en-US" u="sng" dirty="0"/>
              <a:t>a. Initial Setup (0 seconds):</a:t>
            </a:r>
            <a:r>
              <a:rPr lang="en-US" dirty="0"/>
              <a:t> </a:t>
            </a:r>
          </a:p>
          <a:p>
            <a:pPr marL="742950" lvl="1" indent="-285750">
              <a:buFont typeface="Arial" panose="020B0604020202020204" pitchFamily="34" charset="0"/>
              <a:buChar char="•"/>
            </a:pPr>
            <a:r>
              <a:rPr lang="en-US" dirty="0"/>
              <a:t>Make sure the red recording button is enabled in the Animation window</a:t>
            </a:r>
          </a:p>
          <a:p>
            <a:pPr marL="742950" lvl="1" indent="-285750">
              <a:buFont typeface="Arial" panose="020B0604020202020204" pitchFamily="34" charset="0"/>
              <a:buChar char="•"/>
            </a:pPr>
            <a:r>
              <a:rPr lang="en-US" dirty="0"/>
              <a:t>In the timeline at the bottom of the Animation window, move the </a:t>
            </a:r>
            <a:r>
              <a:rPr lang="en-US" dirty="0" err="1"/>
              <a:t>playhead</a:t>
            </a:r>
            <a:r>
              <a:rPr lang="en-US" dirty="0"/>
              <a:t> to 0:00</a:t>
            </a:r>
          </a:p>
          <a:p>
            <a:pPr marL="742950" lvl="1" indent="-285750">
              <a:buFont typeface="Arial" panose="020B0604020202020204" pitchFamily="34" charset="0"/>
              <a:buChar char="•"/>
            </a:pPr>
            <a:r>
              <a:rPr lang="en-US" dirty="0"/>
              <a:t>In the Scene view or Inspector, ensure the cube's Transform position is at Y = 0</a:t>
            </a:r>
          </a:p>
          <a:p>
            <a:pPr marL="742950" lvl="1" indent="-285750">
              <a:buFont typeface="Arial" panose="020B0604020202020204" pitchFamily="34" charset="0"/>
              <a:buChar char="•"/>
            </a:pPr>
            <a:r>
              <a:rPr lang="en-US" dirty="0"/>
              <a:t>Click the Add Property button in the Animation window</a:t>
            </a:r>
          </a:p>
          <a:p>
            <a:pPr marL="742950" lvl="1" indent="-285750">
              <a:buFont typeface="Arial" panose="020B0604020202020204" pitchFamily="34" charset="0"/>
              <a:buChar char="•"/>
            </a:pPr>
            <a:r>
              <a:rPr lang="en-US" dirty="0"/>
              <a:t>Navigate to Transform &gt; Position &gt; Y</a:t>
            </a:r>
          </a:p>
          <a:p>
            <a:pPr marL="742950" lvl="1" indent="-285750">
              <a:buFont typeface="Arial" panose="020B0604020202020204" pitchFamily="34" charset="0"/>
              <a:buChar char="•"/>
            </a:pPr>
            <a:r>
              <a:rPr lang="en-US" dirty="0"/>
              <a:t>A diamond-shaped keyframe marker will appear at 0:00 in the timeline</a:t>
            </a:r>
          </a:p>
          <a:p>
            <a:r>
              <a:rPr lang="en-US" sz="2600" b="1" dirty="0"/>
              <a:t> </a:t>
            </a:r>
            <a:endParaRPr lang="en-US" sz="2600" dirty="0"/>
          </a:p>
        </p:txBody>
      </p:sp>
      <p:sp>
        <p:nvSpPr>
          <p:cNvPr id="132" name="Rectangle 131">
            <a:extLst>
              <a:ext uri="{FF2B5EF4-FFF2-40B4-BE49-F238E27FC236}">
                <a16:creationId xmlns:a16="http://schemas.microsoft.com/office/drawing/2014/main" id="{D9B2A0C9-D941-8530-9156-1B907772E0B9}"/>
              </a:ext>
            </a:extLst>
          </p:cNvPr>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a:extLst>
              <a:ext uri="{FF2B5EF4-FFF2-40B4-BE49-F238E27FC236}">
                <a16:creationId xmlns:a16="http://schemas.microsoft.com/office/drawing/2014/main" id="{71366818-404D-AB63-654B-26BD698CDF5F}"/>
              </a:ext>
            </a:extLst>
          </p:cNvPr>
          <p:cNvSpPr>
            <a:spLocks noGrp="1"/>
          </p:cNvSpPr>
          <p:nvPr>
            <p:ph type="sldNum" idx="1"/>
          </p:nvPr>
        </p:nvSpPr>
        <p:spPr/>
        <p:txBody>
          <a:bodyPr/>
          <a:lstStyle/>
          <a:p>
            <a:fld id="{2441909E-B639-48C3-9076-80FD83D22F92}" type="slidenum">
              <a:rPr/>
              <a:t>20</a:t>
            </a:fld>
            <a:endParaRPr/>
          </a:p>
        </p:txBody>
      </p:sp>
    </p:spTree>
    <p:extLst>
      <p:ext uri="{BB962C8B-B14F-4D97-AF65-F5344CB8AC3E}">
        <p14:creationId xmlns:p14="http://schemas.microsoft.com/office/powerpoint/2010/main" val="3582774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D779E-565A-2877-AE78-90A6F3BF5E1F}"/>
            </a:ext>
          </a:extLst>
        </p:cNvPr>
        <p:cNvGrpSpPr/>
        <p:nvPr/>
      </p:nvGrpSpPr>
      <p:grpSpPr>
        <a:xfrm>
          <a:off x="0" y="0"/>
          <a:ext cx="0" cy="0"/>
          <a:chOff x="0" y="0"/>
          <a:chExt cx="0" cy="0"/>
        </a:xfrm>
      </p:grpSpPr>
      <p:sp>
        <p:nvSpPr>
          <p:cNvPr id="129" name="PlaceHolder 15">
            <a:extLst>
              <a:ext uri="{FF2B5EF4-FFF2-40B4-BE49-F238E27FC236}">
                <a16:creationId xmlns:a16="http://schemas.microsoft.com/office/drawing/2014/main" id="{C7E4BDA0-46E3-2459-F91B-E3AA8ECDC61B}"/>
              </a:ext>
            </a:extLst>
          </p:cNvPr>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a:t>
            </a:r>
            <a:r>
              <a:rPr lang="en-US" sz="3600" dirty="0"/>
              <a:t>Simple Unity Animation and Scripting</a:t>
            </a:r>
            <a:endParaRPr lang="en-US" sz="3600" b="0" strike="noStrike" spc="-1" dirty="0">
              <a:solidFill>
                <a:srgbClr val="000000"/>
              </a:solidFill>
              <a:latin typeface="Arial"/>
            </a:endParaRPr>
          </a:p>
        </p:txBody>
      </p:sp>
      <p:sp>
        <p:nvSpPr>
          <p:cNvPr id="130" name="Rectangle 129">
            <a:extLst>
              <a:ext uri="{FF2B5EF4-FFF2-40B4-BE49-F238E27FC236}">
                <a16:creationId xmlns:a16="http://schemas.microsoft.com/office/drawing/2014/main" id="{28CF18B0-4E7D-BE1F-74F9-92FCD068C52C}"/>
              </a:ext>
            </a:extLst>
          </p:cNvPr>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000" dirty="0"/>
              <a:t>b</a:t>
            </a:r>
            <a:r>
              <a:rPr lang="en-US" sz="2400" dirty="0"/>
              <a:t>. </a:t>
            </a:r>
            <a:r>
              <a:rPr lang="en-US" sz="2200" dirty="0"/>
              <a:t>Middle Position (1 second): </a:t>
            </a:r>
          </a:p>
          <a:p>
            <a:pPr marL="457200" indent="-457200">
              <a:buFont typeface="Arial" panose="020B0604020202020204" pitchFamily="34" charset="0"/>
              <a:buChar char="•"/>
            </a:pPr>
            <a:r>
              <a:rPr lang="en-US" sz="2200" dirty="0"/>
              <a:t>Move the timeline </a:t>
            </a:r>
            <a:r>
              <a:rPr lang="en-US" sz="2200" dirty="0" err="1"/>
              <a:t>playhead</a:t>
            </a:r>
            <a:r>
              <a:rPr lang="en-US" sz="2200" dirty="0"/>
              <a:t> to 1:00 (click on the timeline or drag the </a:t>
            </a:r>
            <a:r>
              <a:rPr lang="en-US" sz="2200" dirty="0" err="1"/>
              <a:t>playhead</a:t>
            </a:r>
            <a:r>
              <a:rPr lang="en-US" sz="2200" dirty="0"/>
              <a:t>)</a:t>
            </a:r>
          </a:p>
          <a:p>
            <a:pPr marL="457200" indent="-457200">
              <a:buFont typeface="Arial" panose="020B0604020202020204" pitchFamily="34" charset="0"/>
              <a:buChar char="•"/>
            </a:pPr>
            <a:r>
              <a:rPr lang="en-US" sz="2200" dirty="0"/>
              <a:t>In the Scene view, drag the cube up to Y = 2</a:t>
            </a:r>
          </a:p>
          <a:p>
            <a:pPr marL="457200" indent="-457200">
              <a:buFont typeface="Arial" panose="020B0604020202020204" pitchFamily="34" charset="0"/>
              <a:buChar char="•"/>
            </a:pPr>
            <a:r>
              <a:rPr lang="en-US" sz="2200" dirty="0"/>
              <a:t>Alternatively, in the Inspector, set the Y position to 2</a:t>
            </a:r>
          </a:p>
          <a:p>
            <a:pPr marL="457200" indent="-457200">
              <a:buFont typeface="Arial" panose="020B0604020202020204" pitchFamily="34" charset="0"/>
              <a:buChar char="•"/>
            </a:pPr>
            <a:r>
              <a:rPr lang="en-US" sz="2200" dirty="0"/>
              <a:t>Unity will automatically create a keyframe at 1:00</a:t>
            </a:r>
          </a:p>
          <a:p>
            <a:r>
              <a:rPr lang="en-US" sz="2200" dirty="0"/>
              <a:t>c. Final Position (2 seconds): Move the timeline </a:t>
            </a:r>
            <a:r>
              <a:rPr lang="en-US" sz="2200" dirty="0" err="1"/>
              <a:t>playhead</a:t>
            </a:r>
            <a:r>
              <a:rPr lang="en-US" sz="2200" dirty="0"/>
              <a:t> to 2:00</a:t>
            </a:r>
          </a:p>
          <a:p>
            <a:pPr marL="457200" indent="-457200">
              <a:buFont typeface="Arial" panose="020B0604020202020204" pitchFamily="34" charset="0"/>
              <a:buChar char="•"/>
            </a:pPr>
            <a:r>
              <a:rPr lang="en-US" sz="2200" dirty="0"/>
              <a:t>Move the cube back down to Y = 0 in the Scene view</a:t>
            </a:r>
          </a:p>
          <a:p>
            <a:pPr marL="457200" indent="-457200">
              <a:buFont typeface="Arial" panose="020B0604020202020204" pitchFamily="34" charset="0"/>
              <a:buChar char="•"/>
            </a:pPr>
            <a:r>
              <a:rPr lang="en-US" sz="2200" dirty="0"/>
              <a:t>Or set Y = 0 in the Inspector</a:t>
            </a:r>
          </a:p>
          <a:p>
            <a:pPr marL="457200" indent="-457200">
              <a:buFont typeface="Arial" panose="020B0604020202020204" pitchFamily="34" charset="0"/>
              <a:buChar char="•"/>
            </a:pPr>
            <a:r>
              <a:rPr lang="en-US" sz="2200" dirty="0"/>
              <a:t>A final keyframe will be created automatically</a:t>
            </a:r>
          </a:p>
          <a:p>
            <a:r>
              <a:rPr lang="en-US" sz="2600" b="1" dirty="0"/>
              <a:t> </a:t>
            </a:r>
            <a:endParaRPr lang="en-US" sz="2600" dirty="0"/>
          </a:p>
        </p:txBody>
      </p:sp>
      <p:sp>
        <p:nvSpPr>
          <p:cNvPr id="132" name="Rectangle 131">
            <a:extLst>
              <a:ext uri="{FF2B5EF4-FFF2-40B4-BE49-F238E27FC236}">
                <a16:creationId xmlns:a16="http://schemas.microsoft.com/office/drawing/2014/main" id="{836C96C5-D73B-D0DB-ED65-85355241CC16}"/>
              </a:ext>
            </a:extLst>
          </p:cNvPr>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a:extLst>
              <a:ext uri="{FF2B5EF4-FFF2-40B4-BE49-F238E27FC236}">
                <a16:creationId xmlns:a16="http://schemas.microsoft.com/office/drawing/2014/main" id="{7F7B3811-4521-FF1F-22D6-8470924E5103}"/>
              </a:ext>
            </a:extLst>
          </p:cNvPr>
          <p:cNvSpPr>
            <a:spLocks noGrp="1"/>
          </p:cNvSpPr>
          <p:nvPr>
            <p:ph type="sldNum" idx="1"/>
          </p:nvPr>
        </p:nvSpPr>
        <p:spPr/>
        <p:txBody>
          <a:bodyPr/>
          <a:lstStyle/>
          <a:p>
            <a:fld id="{2441909E-B639-48C3-9076-80FD83D22F92}" type="slidenum">
              <a:rPr/>
              <a:t>21</a:t>
            </a:fld>
            <a:endParaRPr/>
          </a:p>
        </p:txBody>
      </p:sp>
    </p:spTree>
    <p:extLst>
      <p:ext uri="{BB962C8B-B14F-4D97-AF65-F5344CB8AC3E}">
        <p14:creationId xmlns:p14="http://schemas.microsoft.com/office/powerpoint/2010/main" val="1917429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F354B-F1B3-7780-E1B6-52E53134700B}"/>
            </a:ext>
          </a:extLst>
        </p:cNvPr>
        <p:cNvGrpSpPr/>
        <p:nvPr/>
      </p:nvGrpSpPr>
      <p:grpSpPr>
        <a:xfrm>
          <a:off x="0" y="0"/>
          <a:ext cx="0" cy="0"/>
          <a:chOff x="0" y="0"/>
          <a:chExt cx="0" cy="0"/>
        </a:xfrm>
      </p:grpSpPr>
      <p:sp>
        <p:nvSpPr>
          <p:cNvPr id="129" name="PlaceHolder 15">
            <a:extLst>
              <a:ext uri="{FF2B5EF4-FFF2-40B4-BE49-F238E27FC236}">
                <a16:creationId xmlns:a16="http://schemas.microsoft.com/office/drawing/2014/main" id="{E8F0EF6B-C22D-1FBF-4137-9E3E4406C7A8}"/>
              </a:ext>
            </a:extLst>
          </p:cNvPr>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a:t>
            </a:r>
            <a:r>
              <a:rPr lang="en-US" sz="3600" dirty="0"/>
              <a:t>Simple Unity Animation and Scripting</a:t>
            </a:r>
            <a:endParaRPr lang="en-US" sz="3600" b="0" strike="noStrike" spc="-1" dirty="0">
              <a:solidFill>
                <a:srgbClr val="000000"/>
              </a:solidFill>
              <a:latin typeface="Arial"/>
            </a:endParaRPr>
          </a:p>
        </p:txBody>
      </p:sp>
      <p:sp>
        <p:nvSpPr>
          <p:cNvPr id="130" name="Rectangle 129">
            <a:extLst>
              <a:ext uri="{FF2B5EF4-FFF2-40B4-BE49-F238E27FC236}">
                <a16:creationId xmlns:a16="http://schemas.microsoft.com/office/drawing/2014/main" id="{96514B6B-D5EC-8309-4363-95B1F056D967}"/>
              </a:ext>
            </a:extLst>
          </p:cNvPr>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200" dirty="0"/>
              <a:t>d. Verifying the Animation:</a:t>
            </a:r>
          </a:p>
          <a:p>
            <a:pPr marL="742950" lvl="1" indent="-285750">
              <a:buFont typeface="Arial" panose="020B0604020202020204" pitchFamily="34" charset="0"/>
              <a:buChar char="•"/>
            </a:pPr>
            <a:r>
              <a:rPr lang="en-US" sz="2200" dirty="0"/>
              <a:t>Click the Play button in the Animation window (not the main Unity Play button)</a:t>
            </a:r>
          </a:p>
          <a:p>
            <a:pPr marL="742950" lvl="1" indent="-285750">
              <a:buFont typeface="Arial" panose="020B0604020202020204" pitchFamily="34" charset="0"/>
              <a:buChar char="•"/>
            </a:pPr>
            <a:r>
              <a:rPr lang="en-US" sz="2200" dirty="0"/>
              <a:t>You should see the curve in the Animation window showing a smooth up-and-down motion</a:t>
            </a:r>
          </a:p>
          <a:p>
            <a:pPr marL="742950" lvl="1" indent="-285750">
              <a:buFont typeface="Arial" panose="020B0604020202020204" pitchFamily="34" charset="0"/>
              <a:buChar char="•"/>
            </a:pPr>
            <a:r>
              <a:rPr lang="en-US" sz="2200" dirty="0"/>
              <a:t>In the Scene view, you can see the cube preview moving up and down</a:t>
            </a:r>
          </a:p>
          <a:p>
            <a:r>
              <a:rPr lang="en-US" sz="2200" dirty="0"/>
              <a:t>3</a:t>
            </a:r>
            <a:r>
              <a:rPr lang="en-US" sz="2200" b="1" dirty="0"/>
              <a:t>. </a:t>
            </a:r>
            <a:r>
              <a:rPr lang="en-US" sz="2200" dirty="0"/>
              <a:t>Configure the Animation</a:t>
            </a:r>
          </a:p>
          <a:p>
            <a:pPr lvl="1">
              <a:buFont typeface="Arial" panose="020B0604020202020204" pitchFamily="34" charset="0"/>
              <a:buChar char="•"/>
            </a:pPr>
            <a:r>
              <a:rPr lang="en-US" sz="2200" dirty="0"/>
              <a:t>Select the animation clip in the Project window</a:t>
            </a:r>
          </a:p>
          <a:p>
            <a:pPr lvl="1">
              <a:buFont typeface="Arial" panose="020B0604020202020204" pitchFamily="34" charset="0"/>
              <a:buChar char="•"/>
            </a:pPr>
            <a:r>
              <a:rPr lang="en-US" sz="2200" dirty="0"/>
              <a:t>In the Inspector, set: </a:t>
            </a:r>
          </a:p>
          <a:p>
            <a:pPr marL="1200150" lvl="2" indent="-285750">
              <a:buFont typeface="Arial" panose="020B0604020202020204" pitchFamily="34" charset="0"/>
              <a:buChar char="•"/>
            </a:pPr>
            <a:r>
              <a:rPr lang="en-US" sz="2200" dirty="0"/>
              <a:t>Loop Time: Enabled</a:t>
            </a:r>
          </a:p>
          <a:p>
            <a:pPr marL="1200150" lvl="2" indent="-285750">
              <a:buFont typeface="Arial" panose="020B0604020202020204" pitchFamily="34" charset="0"/>
              <a:buChar char="•"/>
            </a:pPr>
            <a:r>
              <a:rPr lang="en-US" sz="2200" dirty="0"/>
              <a:t>Loop Pose: Enabled</a:t>
            </a:r>
          </a:p>
          <a:p>
            <a:pPr lvl="1"/>
            <a:r>
              <a:rPr lang="en-US" sz="2600" b="1" dirty="0"/>
              <a:t> </a:t>
            </a:r>
            <a:endParaRPr lang="en-US" sz="2600" dirty="0"/>
          </a:p>
        </p:txBody>
      </p:sp>
      <p:sp>
        <p:nvSpPr>
          <p:cNvPr id="132" name="Rectangle 131">
            <a:extLst>
              <a:ext uri="{FF2B5EF4-FFF2-40B4-BE49-F238E27FC236}">
                <a16:creationId xmlns:a16="http://schemas.microsoft.com/office/drawing/2014/main" id="{76005461-DAF3-5A14-2A99-06D359AE8244}"/>
              </a:ext>
            </a:extLst>
          </p:cNvPr>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a:extLst>
              <a:ext uri="{FF2B5EF4-FFF2-40B4-BE49-F238E27FC236}">
                <a16:creationId xmlns:a16="http://schemas.microsoft.com/office/drawing/2014/main" id="{2E3163D6-E1E4-613A-7D52-27E04327296B}"/>
              </a:ext>
            </a:extLst>
          </p:cNvPr>
          <p:cNvSpPr>
            <a:spLocks noGrp="1"/>
          </p:cNvSpPr>
          <p:nvPr>
            <p:ph type="sldNum" idx="1"/>
          </p:nvPr>
        </p:nvSpPr>
        <p:spPr/>
        <p:txBody>
          <a:bodyPr/>
          <a:lstStyle/>
          <a:p>
            <a:fld id="{2441909E-B639-48C3-9076-80FD83D22F92}" type="slidenum">
              <a:rPr/>
              <a:t>22</a:t>
            </a:fld>
            <a:endParaRPr/>
          </a:p>
        </p:txBody>
      </p:sp>
    </p:spTree>
    <p:extLst>
      <p:ext uri="{BB962C8B-B14F-4D97-AF65-F5344CB8AC3E}">
        <p14:creationId xmlns:p14="http://schemas.microsoft.com/office/powerpoint/2010/main" val="545742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C0A9C-4C2C-AAD8-348B-5F922A1FA901}"/>
            </a:ext>
          </a:extLst>
        </p:cNvPr>
        <p:cNvGrpSpPr/>
        <p:nvPr/>
      </p:nvGrpSpPr>
      <p:grpSpPr>
        <a:xfrm>
          <a:off x="0" y="0"/>
          <a:ext cx="0" cy="0"/>
          <a:chOff x="0" y="0"/>
          <a:chExt cx="0" cy="0"/>
        </a:xfrm>
      </p:grpSpPr>
      <p:sp>
        <p:nvSpPr>
          <p:cNvPr id="129" name="PlaceHolder 15">
            <a:extLst>
              <a:ext uri="{FF2B5EF4-FFF2-40B4-BE49-F238E27FC236}">
                <a16:creationId xmlns:a16="http://schemas.microsoft.com/office/drawing/2014/main" id="{BCC8604F-1E0A-9095-570F-4CBC520C8C9A}"/>
              </a:ext>
            </a:extLst>
          </p:cNvPr>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dirty="0">
                <a:solidFill>
                  <a:srgbClr val="000000"/>
                </a:solidFill>
                <a:latin typeface="Arial"/>
                <a:ea typeface="Arial"/>
              </a:rPr>
              <a:t>Practice 1 – </a:t>
            </a:r>
            <a:r>
              <a:rPr lang="en-US" sz="3600" dirty="0"/>
              <a:t>Creating the Script</a:t>
            </a:r>
            <a:endParaRPr lang="en-US" sz="3600" b="0" strike="noStrike" spc="-1" dirty="0">
              <a:solidFill>
                <a:srgbClr val="000000"/>
              </a:solidFill>
              <a:latin typeface="Arial"/>
            </a:endParaRPr>
          </a:p>
        </p:txBody>
      </p:sp>
      <p:sp>
        <p:nvSpPr>
          <p:cNvPr id="130" name="Rectangle 129">
            <a:extLst>
              <a:ext uri="{FF2B5EF4-FFF2-40B4-BE49-F238E27FC236}">
                <a16:creationId xmlns:a16="http://schemas.microsoft.com/office/drawing/2014/main" id="{4621961C-49B3-77EE-28A0-6B64C8319478}"/>
              </a:ext>
            </a:extLst>
          </p:cNvPr>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r>
              <a:rPr lang="en-US" sz="2600" b="1" dirty="0"/>
              <a:t> </a:t>
            </a:r>
            <a:endParaRPr lang="en-US" sz="2600" dirty="0"/>
          </a:p>
        </p:txBody>
      </p:sp>
      <p:sp>
        <p:nvSpPr>
          <p:cNvPr id="132" name="Rectangle 131">
            <a:extLst>
              <a:ext uri="{FF2B5EF4-FFF2-40B4-BE49-F238E27FC236}">
                <a16:creationId xmlns:a16="http://schemas.microsoft.com/office/drawing/2014/main" id="{FBBFF6E9-ECCC-EF0E-1B1C-300F22F69AAC}"/>
              </a:ext>
            </a:extLst>
          </p:cNvPr>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a:extLst>
              <a:ext uri="{FF2B5EF4-FFF2-40B4-BE49-F238E27FC236}">
                <a16:creationId xmlns:a16="http://schemas.microsoft.com/office/drawing/2014/main" id="{A024045A-AD02-2D31-B481-B2CE5D362879}"/>
              </a:ext>
            </a:extLst>
          </p:cNvPr>
          <p:cNvSpPr>
            <a:spLocks noGrp="1"/>
          </p:cNvSpPr>
          <p:nvPr>
            <p:ph type="sldNum" idx="1"/>
          </p:nvPr>
        </p:nvSpPr>
        <p:spPr/>
        <p:txBody>
          <a:bodyPr/>
          <a:lstStyle/>
          <a:p>
            <a:fld id="{2441909E-B639-48C3-9076-80FD83D22F92}" type="slidenum">
              <a:rPr/>
              <a:t>23</a:t>
            </a:fld>
            <a:endParaRPr/>
          </a:p>
        </p:txBody>
      </p:sp>
      <p:sp>
        <p:nvSpPr>
          <p:cNvPr id="4" name="Rectangle 3">
            <a:extLst>
              <a:ext uri="{FF2B5EF4-FFF2-40B4-BE49-F238E27FC236}">
                <a16:creationId xmlns:a16="http://schemas.microsoft.com/office/drawing/2014/main" id="{3DAE3DF6-9FB9-9FB1-B995-486BEA044ABE}"/>
              </a:ext>
            </a:extLst>
          </p:cNvPr>
          <p:cNvSpPr/>
          <p:nvPr/>
        </p:nvSpPr>
        <p:spPr>
          <a:xfrm>
            <a:off x="381000" y="15405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514350" indent="-514350">
              <a:buFont typeface="+mj-lt"/>
              <a:buAutoNum type="arabicPeriod"/>
            </a:pPr>
            <a:r>
              <a:rPr lang="en-US" sz="2200" dirty="0"/>
              <a:t>Create a new script</a:t>
            </a:r>
          </a:p>
          <a:p>
            <a:pPr marL="914400" lvl="1" indent="-457200">
              <a:buFont typeface="Arial" panose="020B0604020202020204" pitchFamily="34" charset="0"/>
              <a:buChar char="•"/>
            </a:pPr>
            <a:r>
              <a:rPr lang="en-US" sz="2200" dirty="0"/>
              <a:t>In the Project window, right-click &gt; Create &gt; C# Script</a:t>
            </a:r>
          </a:p>
          <a:p>
            <a:pPr marL="914400" lvl="1" indent="-457200">
              <a:buFont typeface="Arial" panose="020B0604020202020204" pitchFamily="34" charset="0"/>
              <a:buChar char="•"/>
            </a:pPr>
            <a:r>
              <a:rPr lang="en-US" sz="2200" dirty="0"/>
              <a:t>Name it "</a:t>
            </a:r>
            <a:r>
              <a:rPr lang="en-US" sz="2200" dirty="0" err="1"/>
              <a:t>CubeController</a:t>
            </a:r>
            <a:r>
              <a:rPr lang="en-US" sz="2200" dirty="0"/>
              <a:t>"</a:t>
            </a:r>
          </a:p>
          <a:p>
            <a:pPr marL="914400" lvl="1" indent="-457200">
              <a:buFont typeface="Arial" panose="020B0604020202020204" pitchFamily="34" charset="0"/>
              <a:buChar char="•"/>
            </a:pPr>
            <a:r>
              <a:rPr lang="en-US" sz="2200" dirty="0"/>
              <a:t>Attach it to the cube by dragging it onto the cube in the Hierarchy</a:t>
            </a:r>
          </a:p>
          <a:p>
            <a:pPr marL="514350" indent="-514350">
              <a:buFont typeface="+mj-lt"/>
              <a:buAutoNum type="arabicPeriod" startAt="2"/>
            </a:pPr>
            <a:r>
              <a:rPr lang="en-US" sz="2200" dirty="0"/>
              <a:t>Open the script and replace its contents with: [In this slide notes]</a:t>
            </a:r>
          </a:p>
          <a:p>
            <a:pPr marL="514350" indent="-514350">
              <a:buFont typeface="+mj-lt"/>
              <a:buAutoNum type="arabicPeriod" startAt="2"/>
            </a:pPr>
            <a:r>
              <a:rPr lang="en-US" sz="2200" dirty="0"/>
              <a:t>Testing the Project</a:t>
            </a:r>
          </a:p>
          <a:p>
            <a:pPr marL="800100" lvl="1" indent="-342900">
              <a:buFont typeface="Arial" panose="020B0604020202020204" pitchFamily="34" charset="0"/>
              <a:buChar char="•"/>
            </a:pPr>
            <a:r>
              <a:rPr lang="en-US" sz="2200" dirty="0"/>
              <a:t>Press the Play button in the Unity Editor</a:t>
            </a:r>
          </a:p>
          <a:p>
            <a:pPr marL="800100" lvl="1" indent="-342900">
              <a:buFont typeface="Arial" panose="020B0604020202020204" pitchFamily="34" charset="0"/>
              <a:buChar char="•"/>
            </a:pPr>
            <a:r>
              <a:rPr lang="en-US" sz="2200" dirty="0"/>
              <a:t>You should see: </a:t>
            </a:r>
          </a:p>
          <a:p>
            <a:pPr marL="1257300" lvl="2" indent="-342900">
              <a:buFont typeface="Arial" panose="020B0604020202020204" pitchFamily="34" charset="0"/>
              <a:buChar char="•"/>
            </a:pPr>
            <a:r>
              <a:rPr lang="en-US" sz="2200" dirty="0"/>
              <a:t>The cube floating up and down continuously</a:t>
            </a:r>
          </a:p>
          <a:p>
            <a:pPr marL="1257300" lvl="2" indent="-342900">
              <a:buFont typeface="Arial" panose="020B0604020202020204" pitchFamily="34" charset="0"/>
              <a:buChar char="•"/>
            </a:pPr>
            <a:r>
              <a:rPr lang="en-US" sz="2200" dirty="0"/>
              <a:t>The cube changing color each time you click it</a:t>
            </a:r>
          </a:p>
          <a:p>
            <a:pPr marL="514350" indent="-514350">
              <a:buFont typeface="+mj-lt"/>
              <a:buAutoNum type="arabicPeriod" startAt="2"/>
            </a:pPr>
            <a:endParaRPr lang="en-US" sz="2800" dirty="0"/>
          </a:p>
          <a:p>
            <a:endParaRPr lang="en-US" sz="2800" dirty="0"/>
          </a:p>
        </p:txBody>
      </p:sp>
    </p:spTree>
    <p:extLst>
      <p:ext uri="{BB962C8B-B14F-4D97-AF65-F5344CB8AC3E}">
        <p14:creationId xmlns:p14="http://schemas.microsoft.com/office/powerpoint/2010/main" val="285050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BDC21-8C28-1183-2F60-B050DB8E5206}"/>
            </a:ext>
          </a:extLst>
        </p:cNvPr>
        <p:cNvGrpSpPr/>
        <p:nvPr/>
      </p:nvGrpSpPr>
      <p:grpSpPr>
        <a:xfrm>
          <a:off x="0" y="0"/>
          <a:ext cx="0" cy="0"/>
          <a:chOff x="0" y="0"/>
          <a:chExt cx="0" cy="0"/>
        </a:xfrm>
      </p:grpSpPr>
      <p:sp>
        <p:nvSpPr>
          <p:cNvPr id="129" name="PlaceHolder 15">
            <a:extLst>
              <a:ext uri="{FF2B5EF4-FFF2-40B4-BE49-F238E27FC236}">
                <a16:creationId xmlns:a16="http://schemas.microsoft.com/office/drawing/2014/main" id="{8A6B5465-1893-CC4F-FB95-32B46A1F3404}"/>
              </a:ext>
            </a:extLst>
          </p:cNvPr>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r>
              <a:rPr lang="en-US" sz="3600" b="1" strike="noStrike" spc="-1" dirty="0">
                <a:solidFill>
                  <a:srgbClr val="000000"/>
                </a:solidFill>
                <a:latin typeface="Arial"/>
                <a:ea typeface="Arial"/>
              </a:rPr>
              <a:t>Practice 1 – </a:t>
            </a:r>
            <a:r>
              <a:rPr lang="en-US" sz="3600" b="1" dirty="0"/>
              <a:t>How It Works</a:t>
            </a:r>
          </a:p>
        </p:txBody>
      </p:sp>
      <p:sp>
        <p:nvSpPr>
          <p:cNvPr id="130" name="Rectangle 129">
            <a:extLst>
              <a:ext uri="{FF2B5EF4-FFF2-40B4-BE49-F238E27FC236}">
                <a16:creationId xmlns:a16="http://schemas.microsoft.com/office/drawing/2014/main" id="{2E9E2F82-8B9C-D5AC-CA00-997942D70322}"/>
              </a:ext>
            </a:extLst>
          </p:cNvPr>
          <p:cNvSpPr/>
          <p:nvPr/>
        </p:nvSpPr>
        <p:spPr>
          <a:xfrm>
            <a:off x="228600" y="1388160"/>
            <a:ext cx="10717696" cy="42175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buFont typeface="Arial" panose="020B0604020202020204" pitchFamily="34" charset="0"/>
              <a:buChar char="•"/>
            </a:pPr>
            <a:r>
              <a:rPr lang="en-US" sz="2300" b="1" dirty="0"/>
              <a:t>Animation</a:t>
            </a:r>
            <a:r>
              <a:rPr lang="en-US" sz="2300" dirty="0"/>
              <a:t>: The animation system interpolates the cube's position between the keyframes we set, creating smooth movement</a:t>
            </a:r>
          </a:p>
          <a:p>
            <a:pPr>
              <a:buFont typeface="Arial" panose="020B0604020202020204" pitchFamily="34" charset="0"/>
              <a:buChar char="•"/>
            </a:pPr>
            <a:r>
              <a:rPr lang="en-US" sz="2300" b="1" dirty="0"/>
              <a:t>Script</a:t>
            </a:r>
            <a:r>
              <a:rPr lang="en-US" sz="2300" dirty="0"/>
              <a:t>: </a:t>
            </a:r>
          </a:p>
          <a:p>
            <a:pPr marL="742950" lvl="1" indent="-285750">
              <a:buFont typeface="Arial" panose="020B0604020202020204" pitchFamily="34" charset="0"/>
              <a:buChar char="•"/>
            </a:pPr>
            <a:r>
              <a:rPr lang="en-US" sz="2300" dirty="0"/>
              <a:t>Start(): Runs when the object is initialized, gets the renderer component and sets initial color</a:t>
            </a:r>
          </a:p>
          <a:p>
            <a:pPr marL="742950" lvl="1" indent="-285750">
              <a:buFont typeface="Arial" panose="020B0604020202020204" pitchFamily="34" charset="0"/>
              <a:buChar char="•"/>
            </a:pPr>
            <a:r>
              <a:rPr lang="en-US" sz="2300" dirty="0" err="1"/>
              <a:t>OnMouseDown</a:t>
            </a:r>
            <a:r>
              <a:rPr lang="en-US" sz="2300" dirty="0"/>
              <a:t>(): Unity's built-in function that runs when the object is clicked</a:t>
            </a:r>
          </a:p>
          <a:p>
            <a:pPr marL="742950" lvl="1" indent="-285750">
              <a:buFont typeface="Arial" panose="020B0604020202020204" pitchFamily="34" charset="0"/>
              <a:buChar char="•"/>
            </a:pPr>
            <a:r>
              <a:rPr lang="en-US" sz="2300" dirty="0"/>
              <a:t>The color array and index create a cycle of colors that changes on each click</a:t>
            </a:r>
          </a:p>
          <a:p>
            <a:r>
              <a:rPr lang="en-US" sz="2600" b="1" dirty="0"/>
              <a:t> </a:t>
            </a:r>
            <a:endParaRPr lang="en-US" sz="2600" dirty="0"/>
          </a:p>
        </p:txBody>
      </p:sp>
      <p:sp>
        <p:nvSpPr>
          <p:cNvPr id="132" name="Rectangle 131">
            <a:extLst>
              <a:ext uri="{FF2B5EF4-FFF2-40B4-BE49-F238E27FC236}">
                <a16:creationId xmlns:a16="http://schemas.microsoft.com/office/drawing/2014/main" id="{BE5BFD37-E335-C46F-6D4E-CC80B57E534E}"/>
              </a:ext>
            </a:extLst>
          </p:cNvPr>
          <p:cNvSpPr/>
          <p:nvPr/>
        </p:nvSpPr>
        <p:spPr>
          <a:xfrm>
            <a:off x="8001000" y="6593040"/>
            <a:ext cx="3043080" cy="11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900" b="0" strike="noStrike" spc="-1">
                <a:solidFill>
                  <a:srgbClr val="000000"/>
                </a:solidFill>
                <a:latin typeface="Times New Roman"/>
                <a:ea typeface="DejaVu Sans"/>
              </a:rPr>
              <a:t>Rick Davidson, Complete C# Unity Game Developer 2D, 2023</a:t>
            </a:r>
            <a:endParaRPr lang="en-US" sz="900" b="0" strike="noStrike" spc="-1">
              <a:solidFill>
                <a:srgbClr val="000000"/>
              </a:solidFill>
              <a:latin typeface="Arial"/>
            </a:endParaRPr>
          </a:p>
        </p:txBody>
      </p:sp>
      <p:sp>
        <p:nvSpPr>
          <p:cNvPr id="2" name="PlaceHolder 1">
            <a:extLst>
              <a:ext uri="{FF2B5EF4-FFF2-40B4-BE49-F238E27FC236}">
                <a16:creationId xmlns:a16="http://schemas.microsoft.com/office/drawing/2014/main" id="{A002DF70-AA8C-BBF1-7EC3-7A365C5F5511}"/>
              </a:ext>
            </a:extLst>
          </p:cNvPr>
          <p:cNvSpPr>
            <a:spLocks noGrp="1"/>
          </p:cNvSpPr>
          <p:nvPr>
            <p:ph type="sldNum" idx="1"/>
          </p:nvPr>
        </p:nvSpPr>
        <p:spPr/>
        <p:txBody>
          <a:bodyPr/>
          <a:lstStyle/>
          <a:p>
            <a:fld id="{2441909E-B639-48C3-9076-80FD83D22F92}" type="slidenum">
              <a:rPr/>
              <a:t>24</a:t>
            </a:fld>
            <a:endParaRPr/>
          </a:p>
        </p:txBody>
      </p:sp>
    </p:spTree>
    <p:extLst>
      <p:ext uri="{BB962C8B-B14F-4D97-AF65-F5344CB8AC3E}">
        <p14:creationId xmlns:p14="http://schemas.microsoft.com/office/powerpoint/2010/main" val="3201346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158"/>
          <p:cNvSpPr/>
          <p:nvPr/>
        </p:nvSpPr>
        <p:spPr>
          <a:xfrm>
            <a:off x="194400" y="1455480"/>
            <a:ext cx="10827000" cy="443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160" name="PlaceHolder 11"/>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233280">
              <a:lnSpc>
                <a:spcPct val="90000"/>
              </a:lnSpc>
              <a:tabLst>
                <a:tab pos="0" algn="l"/>
              </a:tabLst>
            </a:pPr>
            <a:r>
              <a:rPr lang="en-US" sz="4000" b="1" strike="noStrike" spc="-1">
                <a:solidFill>
                  <a:srgbClr val="000000"/>
                </a:solidFill>
                <a:latin typeface="Arial"/>
                <a:ea typeface="DejaVu Sans"/>
              </a:rPr>
              <a:t>Conclusions</a:t>
            </a:r>
            <a:endParaRPr lang="en-US" sz="4000" b="0" strike="noStrike" spc="-1">
              <a:solidFill>
                <a:srgbClr val="000000"/>
              </a:solidFill>
              <a:latin typeface="Arial"/>
            </a:endParaRPr>
          </a:p>
        </p:txBody>
      </p:sp>
      <p:sp>
        <p:nvSpPr>
          <p:cNvPr id="161" name="Rectangle 160"/>
          <p:cNvSpPr/>
          <p:nvPr/>
        </p:nvSpPr>
        <p:spPr>
          <a:xfrm>
            <a:off x="1790280" y="1396080"/>
            <a:ext cx="8611560" cy="4066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200000"/>
              </a:lnSpc>
              <a:buClr>
                <a:srgbClr val="000000"/>
              </a:buClr>
              <a:buSzPct val="45000"/>
              <a:buFont typeface="Wingdings" charset="2"/>
              <a:buChar char=""/>
            </a:pPr>
            <a:r>
              <a:rPr lang="en-US" sz="1800" b="0" strike="noStrike" spc="-1">
                <a:solidFill>
                  <a:srgbClr val="000000"/>
                </a:solidFill>
                <a:latin typeface="Arial"/>
                <a:ea typeface="DejaVu Sans"/>
              </a:rPr>
              <a:t>Understanding Unity's </a:t>
            </a:r>
            <a:r>
              <a:rPr lang="en-US" sz="1800" b="1" strike="noStrike" spc="-1">
                <a:solidFill>
                  <a:srgbClr val="000000"/>
                </a:solidFill>
                <a:latin typeface="Arial"/>
                <a:ea typeface="DejaVu Sans"/>
              </a:rPr>
              <a:t>Component System</a:t>
            </a:r>
            <a:r>
              <a:rPr lang="en-US" sz="1800" b="0" strike="noStrike" spc="-1">
                <a:solidFill>
                  <a:srgbClr val="000000"/>
                </a:solidFill>
                <a:latin typeface="Arial"/>
                <a:ea typeface="DejaVu Sans"/>
              </a:rPr>
              <a:t>: Explored the modular approach where components encapsulate entity functionalities.</a:t>
            </a:r>
            <a:endParaRPr lang="en-US" sz="1800" b="0" strike="noStrike" spc="-1">
              <a:solidFill>
                <a:srgbClr val="000000"/>
              </a:solidFill>
              <a:latin typeface="Arial"/>
            </a:endParaRPr>
          </a:p>
          <a:p>
            <a:pPr marL="216000" indent="-216000">
              <a:lnSpc>
                <a:spcPct val="200000"/>
              </a:lnSpc>
              <a:buClr>
                <a:srgbClr val="000000"/>
              </a:buClr>
              <a:buSzPct val="45000"/>
              <a:buFont typeface="Wingdings" charset="2"/>
              <a:buChar char=""/>
            </a:pPr>
            <a:r>
              <a:rPr lang="en-US" sz="1800" b="0" strike="noStrike" spc="-1">
                <a:solidFill>
                  <a:srgbClr val="000000"/>
                </a:solidFill>
                <a:latin typeface="Arial"/>
                <a:ea typeface="DejaVu Sans"/>
              </a:rPr>
              <a:t>Exploration of </a:t>
            </a:r>
            <a:r>
              <a:rPr lang="en-US" sz="1800" b="1" strike="noStrike" spc="-1">
                <a:solidFill>
                  <a:srgbClr val="000000"/>
                </a:solidFill>
                <a:latin typeface="Arial"/>
                <a:ea typeface="DejaVu Sans"/>
              </a:rPr>
              <a:t>Common Components</a:t>
            </a:r>
            <a:r>
              <a:rPr lang="en-US" sz="1800" b="0" strike="noStrike" spc="-1">
                <a:solidFill>
                  <a:srgbClr val="000000"/>
                </a:solidFill>
                <a:latin typeface="Arial"/>
                <a:ea typeface="DejaVu Sans"/>
              </a:rPr>
              <a:t>: Introduced vital components like </a:t>
            </a:r>
            <a:r>
              <a:rPr lang="en-US" sz="1800" b="1" strike="noStrike" spc="-1">
                <a:solidFill>
                  <a:srgbClr val="000000"/>
                </a:solidFill>
                <a:latin typeface="Arial"/>
                <a:ea typeface="DejaVu Sans"/>
              </a:rPr>
              <a:t>Transform, Renderer, Collider, Rigidbody, </a:t>
            </a:r>
            <a:r>
              <a:rPr lang="en-US" sz="1800" b="0" strike="noStrike" spc="-1">
                <a:solidFill>
                  <a:srgbClr val="000000"/>
                </a:solidFill>
                <a:latin typeface="Arial"/>
                <a:ea typeface="DejaVu Sans"/>
              </a:rPr>
              <a:t>and</a:t>
            </a:r>
            <a:r>
              <a:rPr lang="en-US" sz="1800" b="1" strike="noStrike" spc="-1">
                <a:solidFill>
                  <a:srgbClr val="000000"/>
                </a:solidFill>
                <a:latin typeface="Arial"/>
                <a:ea typeface="DejaVu Sans"/>
              </a:rPr>
              <a:t> Scripts</a:t>
            </a:r>
            <a:r>
              <a:rPr lang="en-US" sz="1800" b="0" strike="noStrike" spc="-1">
                <a:solidFill>
                  <a:srgbClr val="000000"/>
                </a:solidFill>
                <a:latin typeface="Arial"/>
                <a:ea typeface="DejaVu Sans"/>
              </a:rPr>
              <a:t>, elucidating their roles and importance.</a:t>
            </a:r>
            <a:endParaRPr lang="en-US" sz="1800" b="0" strike="noStrike" spc="-1">
              <a:solidFill>
                <a:srgbClr val="000000"/>
              </a:solidFill>
              <a:latin typeface="Arial"/>
            </a:endParaRPr>
          </a:p>
          <a:p>
            <a:pPr marL="216000" indent="-216000">
              <a:lnSpc>
                <a:spcPct val="200000"/>
              </a:lnSpc>
              <a:buClr>
                <a:srgbClr val="000000"/>
              </a:buClr>
              <a:buSzPct val="45000"/>
              <a:buFont typeface="Wingdings" charset="2"/>
              <a:buChar char=""/>
            </a:pPr>
            <a:r>
              <a:rPr lang="en-US" sz="1800" b="1" strike="noStrike" spc="-1">
                <a:solidFill>
                  <a:srgbClr val="000000"/>
                </a:solidFill>
                <a:latin typeface="Arial"/>
                <a:ea typeface="DejaVu Sans"/>
              </a:rPr>
              <a:t>Component-Based</a:t>
            </a:r>
            <a:r>
              <a:rPr lang="en-US" sz="1800" b="0" strike="noStrike" spc="-1">
                <a:solidFill>
                  <a:srgbClr val="000000"/>
                </a:solidFill>
                <a:latin typeface="Arial"/>
                <a:ea typeface="DejaVu Sans"/>
              </a:rPr>
              <a:t> Design Advantages: Discussed the benefits—</a:t>
            </a:r>
            <a:r>
              <a:rPr lang="en-US" sz="1800" b="1" strike="noStrike" spc="-1">
                <a:solidFill>
                  <a:srgbClr val="000000"/>
                </a:solidFill>
                <a:latin typeface="Arial"/>
                <a:ea typeface="DejaVu Sans"/>
              </a:rPr>
              <a:t>reusability</a:t>
            </a:r>
            <a:r>
              <a:rPr lang="en-US" sz="1800" b="0" strike="noStrike" spc="-1">
                <a:solidFill>
                  <a:srgbClr val="000000"/>
                </a:solidFill>
                <a:latin typeface="Arial"/>
                <a:ea typeface="DejaVu Sans"/>
              </a:rPr>
              <a:t>, </a:t>
            </a:r>
            <a:r>
              <a:rPr lang="en-US" sz="1800" b="1" strike="noStrike" spc="-1">
                <a:solidFill>
                  <a:srgbClr val="000000"/>
                </a:solidFill>
                <a:latin typeface="Arial"/>
                <a:ea typeface="DejaVu Sans"/>
              </a:rPr>
              <a:t>modularity</a:t>
            </a:r>
            <a:r>
              <a:rPr lang="en-US" sz="1800" b="0" strike="noStrike" spc="-1">
                <a:solidFill>
                  <a:srgbClr val="000000"/>
                </a:solidFill>
                <a:latin typeface="Arial"/>
                <a:ea typeface="DejaVu Sans"/>
              </a:rPr>
              <a:t>, </a:t>
            </a:r>
            <a:r>
              <a:rPr lang="en-US" sz="1800" b="1" strike="noStrike" spc="-1">
                <a:solidFill>
                  <a:srgbClr val="000000"/>
                </a:solidFill>
                <a:latin typeface="Arial"/>
                <a:ea typeface="DejaVu Sans"/>
              </a:rPr>
              <a:t>extensibility </a:t>
            </a:r>
            <a:r>
              <a:rPr lang="en-US" sz="1800" b="0" strike="noStrike" spc="-1">
                <a:solidFill>
                  <a:srgbClr val="000000"/>
                </a:solidFill>
                <a:latin typeface="Arial"/>
                <a:ea typeface="DejaVu Sans"/>
              </a:rPr>
              <a:t>— of this design approach.</a:t>
            </a:r>
            <a:endParaRPr lang="en-US" sz="1800" b="0" strike="noStrike" spc="-1">
              <a:solidFill>
                <a:srgbClr val="000000"/>
              </a:solidFill>
              <a:latin typeface="Arial"/>
            </a:endParaRPr>
          </a:p>
        </p:txBody>
      </p:sp>
      <p:sp>
        <p:nvSpPr>
          <p:cNvPr id="2" name="PlaceHolder 1"/>
          <p:cNvSpPr>
            <a:spLocks noGrp="1"/>
          </p:cNvSpPr>
          <p:nvPr>
            <p:ph type="sldNum" idx="1"/>
          </p:nvPr>
        </p:nvSpPr>
        <p:spPr/>
        <p:txBody>
          <a:bodyPr/>
          <a:lstStyle/>
          <a:p>
            <a:fld id="{ED71E192-840B-472D-8788-366B06AA5107}" type="slidenum">
              <a:r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Rectangle 161"/>
          <p:cNvSpPr/>
          <p:nvPr/>
        </p:nvSpPr>
        <p:spPr>
          <a:xfrm>
            <a:off x="370440" y="1455480"/>
            <a:ext cx="10827000" cy="443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163" name="PlaceHolder 12"/>
          <p:cNvSpPr/>
          <p:nvPr/>
        </p:nvSpPr>
        <p:spPr>
          <a:xfrm>
            <a:off x="228600" y="681120"/>
            <a:ext cx="11812320" cy="70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233280">
              <a:lnSpc>
                <a:spcPct val="90000"/>
              </a:lnSpc>
              <a:tabLst>
                <a:tab pos="0" algn="l"/>
              </a:tabLst>
            </a:pPr>
            <a:r>
              <a:rPr lang="en-US" sz="4000" b="1" strike="noStrike" spc="-1">
                <a:solidFill>
                  <a:srgbClr val="000000"/>
                </a:solidFill>
                <a:latin typeface="Arial"/>
                <a:ea typeface="DejaVu Sans"/>
              </a:rPr>
              <a:t>References</a:t>
            </a:r>
            <a:endParaRPr lang="en-US" sz="4000" b="0" strike="noStrike" spc="-1">
              <a:solidFill>
                <a:srgbClr val="000000"/>
              </a:solidFill>
              <a:latin typeface="Arial"/>
            </a:endParaRPr>
          </a:p>
        </p:txBody>
      </p:sp>
      <p:sp>
        <p:nvSpPr>
          <p:cNvPr id="164" name="Rectangle 163"/>
          <p:cNvSpPr/>
          <p:nvPr/>
        </p:nvSpPr>
        <p:spPr>
          <a:xfrm>
            <a:off x="507960" y="1921680"/>
            <a:ext cx="11370240" cy="264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1: Hocking, Joseph; Schell, Jesse, Unity in action: multiplatform game development in C#, 2022</a:t>
            </a:r>
            <a:endParaRPr lang="en-US" sz="1800" b="0" strike="noStrike" spc="-1">
              <a:solidFill>
                <a:srgbClr val="000000"/>
              </a:solidFill>
              <a:latin typeface="Arial"/>
            </a:endParaRPr>
          </a:p>
          <a:p>
            <a:pPr>
              <a:lnSpc>
                <a:spcPct val="100000"/>
              </a:lnSpc>
            </a:pPr>
            <a:endParaRPr lang="en-US" sz="1800" b="0" strike="noStrike" spc="-1">
              <a:solidFill>
                <a:srgbClr val="000000"/>
              </a:solidFill>
              <a:latin typeface="Arial"/>
            </a:endParaRPr>
          </a:p>
          <a:p>
            <a:pPr>
              <a:lnSpc>
                <a:spcPct val="100000"/>
              </a:lnSpc>
            </a:pPr>
            <a:r>
              <a:rPr lang="en-US" sz="1800" b="0" strike="noStrike" spc="-1" dirty="0">
                <a:solidFill>
                  <a:srgbClr val="000000"/>
                </a:solidFill>
                <a:latin typeface="Arial"/>
                <a:ea typeface="DejaVu Sans"/>
              </a:rPr>
              <a:t>3: </a:t>
            </a:r>
            <a:r>
              <a:rPr lang="en-US" sz="1800" b="0" strike="noStrike" spc="-1" dirty="0" err="1">
                <a:solidFill>
                  <a:srgbClr val="000000"/>
                </a:solidFill>
                <a:latin typeface="Arial"/>
                <a:ea typeface="DejaVu Sans"/>
              </a:rPr>
              <a:t>Geig</a:t>
            </a:r>
            <a:r>
              <a:rPr lang="en-US" sz="1800" b="0" strike="noStrike" spc="-1" dirty="0">
                <a:solidFill>
                  <a:srgbClr val="000000"/>
                </a:solidFill>
                <a:latin typeface="Arial"/>
                <a:ea typeface="DejaVu Sans"/>
              </a:rPr>
              <a:t>, Mike, Sams teach yourself Unity Game development in 24 hours, 2014</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6: Gibson Bond, Jeremy, Introduction to Game Design, Prototyping, and Development: From Concept to Playable Game with Unity and C,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8: Unity Technologies, Unity Manual, 2023</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9: Tutorials Point, Learning Unity, 2023</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10: Goldstone Will, Unity 3.x game development essentials, 2011</a:t>
            </a:r>
            <a:endParaRPr lang="en-US" sz="1800" b="0" strike="noStrike" spc="-1" dirty="0">
              <a:solidFill>
                <a:srgbClr val="000000"/>
              </a:solidFill>
              <a:latin typeface="Arial"/>
            </a:endParaRPr>
          </a:p>
        </p:txBody>
      </p:sp>
      <p:sp>
        <p:nvSpPr>
          <p:cNvPr id="2" name="PlaceHolder 1"/>
          <p:cNvSpPr>
            <a:spLocks noGrp="1"/>
          </p:cNvSpPr>
          <p:nvPr>
            <p:ph type="sldNum" idx="1"/>
          </p:nvPr>
        </p:nvSpPr>
        <p:spPr/>
        <p:txBody>
          <a:bodyPr/>
          <a:lstStyle/>
          <a:p>
            <a:fld id="{5216530C-E261-46AB-9CEE-4478433E3C9F}" type="slidenum">
              <a:rPr/>
              <a:t>26</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4611</TotalTime>
  <Words>2977</Words>
  <Application>Microsoft Macintosh PowerPoint</Application>
  <PresentationFormat>Widescreen</PresentationFormat>
  <Paragraphs>282</Paragraphs>
  <Slides>26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OpenSymbol</vt:lpstr>
      <vt:lpstr>Symbol</vt:lpstr>
      <vt:lpstr>Times New Roman</vt:lpstr>
      <vt:lpstr>Wingdings</vt:lpstr>
      <vt:lpstr>Office Theme</vt:lpstr>
      <vt:lpstr>Understanding Unity's  Component System</vt:lpstr>
      <vt:lpstr>Learning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Rigidbody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Trí Phạm Thanh</dc:creator>
  <dc:description/>
  <cp:lastModifiedBy>Hung Lai</cp:lastModifiedBy>
  <cp:revision>104</cp:revision>
  <dcterms:created xsi:type="dcterms:W3CDTF">2023-12-04T12:53:17Z</dcterms:created>
  <dcterms:modified xsi:type="dcterms:W3CDTF">2026-01-14T16:47:24Z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partment">
    <vt:lpwstr>FE FPTU HCM</vt:lpwstr>
  </property>
  <property fmtid="{D5CDD505-2E9C-101B-9397-08002B2CF9AE}" pid="3" name="PresentationFormat">
    <vt:lpwstr>Widescreen</vt:lpwstr>
  </property>
  <property fmtid="{D5CDD505-2E9C-101B-9397-08002B2CF9AE}" pid="4" name="Slides">
    <vt:r8>27</vt:r8>
  </property>
</Properties>
</file>