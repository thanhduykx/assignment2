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Lst>
  <p:notesMasterIdLst>
    <p:notesMasterId r:id="rId39"/>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91" r:id="rId37"/>
    <p:sldId id="289" r:id="rId38"/>
  </p:sldIdLst>
  <p:sldSz cx="12192000" cy="6858000"/>
  <p:notesSz cx="7559675" cy="10691813"/>
  <p:defaultTex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2AEF7A-9E7A-CC4D-A7AA-D01522D725F5}" v="1" dt="2026-01-21T11:25:24.4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120"/>
    <p:restoredTop sz="74094"/>
  </p:normalViewPr>
  <p:slideViewPr>
    <p:cSldViewPr snapToGrid="0">
      <p:cViewPr varScale="1">
        <p:scale>
          <a:sx n="89" d="100"/>
          <a:sy n="89" d="100"/>
        </p:scale>
        <p:origin x="192" y="608"/>
      </p:cViewPr>
      <p:guideLst/>
    </p:cSldViewPr>
  </p:slideViewPr>
  <p:notesTextViewPr>
    <p:cViewPr>
      <p:scale>
        <a:sx n="155" d="100"/>
        <a:sy n="15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notesMaster" Target="notesMasters/notesMaster1.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microsoft.com/office/2016/11/relationships/changesInfo" Target="changesInfos/changesInfo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20" Type="http://schemas.openxmlformats.org/officeDocument/2006/relationships/slide" Target="slides/slide17.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ng Lai" userId="2a5147f875e28a6c" providerId="LiveId" clId="{A196B8D3-0F41-5880-89EE-3F6E5C586C5D}"/>
    <pc:docChg chg="undo custSel modSld">
      <pc:chgData name="Hung Lai" userId="2a5147f875e28a6c" providerId="LiveId" clId="{A196B8D3-0F41-5880-89EE-3F6E5C586C5D}" dt="2026-01-21T11:28:33.226" v="79" actId="20577"/>
      <pc:docMkLst>
        <pc:docMk/>
      </pc:docMkLst>
      <pc:sldChg chg="modNotesTx">
        <pc:chgData name="Hung Lai" userId="2a5147f875e28a6c" providerId="LiveId" clId="{A196B8D3-0F41-5880-89EE-3F6E5C586C5D}" dt="2026-01-21T11:25:26.060" v="74" actId="20577"/>
        <pc:sldMkLst>
          <pc:docMk/>
          <pc:sldMk cId="0" sldId="264"/>
        </pc:sldMkLst>
      </pc:sldChg>
      <pc:sldChg chg="modNotesTx">
        <pc:chgData name="Hung Lai" userId="2a5147f875e28a6c" providerId="LiveId" clId="{A196B8D3-0F41-5880-89EE-3F6E5C586C5D}" dt="2026-01-21T11:26:55.486" v="78" actId="20577"/>
        <pc:sldMkLst>
          <pc:docMk/>
          <pc:sldMk cId="0" sldId="271"/>
        </pc:sldMkLst>
      </pc:sldChg>
      <pc:sldChg chg="modNotesTx">
        <pc:chgData name="Hung Lai" userId="2a5147f875e28a6c" providerId="LiveId" clId="{A196B8D3-0F41-5880-89EE-3F6E5C586C5D}" dt="2026-01-21T11:28:33.226" v="79" actId="20577"/>
        <pc:sldMkLst>
          <pc:docMk/>
          <pc:sldMk cId="0" sldId="27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9"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pPr algn="ctr"/>
            <a:r>
              <a:rPr lang="en-US" sz="4400" b="0" strike="noStrike" spc="-1">
                <a:solidFill>
                  <a:srgbClr val="000000"/>
                </a:solidFill>
                <a:latin typeface="Arial"/>
              </a:rPr>
              <a:t>Click to move the slide</a:t>
            </a:r>
          </a:p>
        </p:txBody>
      </p:sp>
      <p:sp>
        <p:nvSpPr>
          <p:cNvPr id="130"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0">
              <a:buNone/>
            </a:pPr>
            <a:r>
              <a:rPr lang="en-US" sz="2000" b="0" strike="noStrike" spc="-1">
                <a:solidFill>
                  <a:srgbClr val="000000"/>
                </a:solidFill>
                <a:latin typeface="Arial"/>
              </a:rPr>
              <a:t>Click to edit the notes format</a:t>
            </a:r>
          </a:p>
        </p:txBody>
      </p:sp>
      <p:sp>
        <p:nvSpPr>
          <p:cNvPr id="131"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Times New Roman"/>
              </a:rPr>
              <a:t>&lt;header&gt;</a:t>
            </a:r>
          </a:p>
        </p:txBody>
      </p:sp>
      <p:sp>
        <p:nvSpPr>
          <p:cNvPr id="132" name="PlaceHolder 4"/>
          <p:cNvSpPr>
            <a:spLocks noGrp="1"/>
          </p:cNvSpPr>
          <p:nvPr>
            <p:ph type="dt" idx="4"/>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pPr>
            <a:r>
              <a:rPr lang="en-US" sz="1400" b="0" strike="noStrike" spc="-1">
                <a:solidFill>
                  <a:srgbClr val="000000"/>
                </a:solidFill>
                <a:latin typeface="Times New Roman"/>
              </a:rPr>
              <a:t>&lt;date/time&gt;</a:t>
            </a:r>
          </a:p>
        </p:txBody>
      </p:sp>
      <p:sp>
        <p:nvSpPr>
          <p:cNvPr id="133" name="PlaceHolder 5"/>
          <p:cNvSpPr>
            <a:spLocks noGrp="1"/>
          </p:cNvSpPr>
          <p:nvPr>
            <p:ph type="ftr" idx="5"/>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&lt;footer&gt;</a:t>
            </a:r>
          </a:p>
        </p:txBody>
      </p:sp>
      <p:sp>
        <p:nvSpPr>
          <p:cNvPr id="134" name="PlaceHolder 6"/>
          <p:cNvSpPr>
            <a:spLocks noGrp="1"/>
          </p:cNvSpPr>
          <p:nvPr>
            <p:ph type="sldNum" idx="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pPr>
            <a:fld id="{F8746A05-0E75-49D4-A629-1B3299BBAD5C}" type="slidenum">
              <a:rPr lang="en-US" sz="1400" b="0" strike="noStrike" spc="-1">
                <a:solidFill>
                  <a:srgbClr val="000000"/>
                </a:solidFill>
                <a:latin typeface="Times New Roman"/>
              </a:rPr>
              <a:t>‹#›</a:t>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drive.google.com/drive/folders/1eXu20cX1o-5uMFuSeHGxRS5AkhDZJTOP?usp=sharing"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 name="PlaceHolder 1"/>
          <p:cNvSpPr>
            <a:spLocks noGrp="1" noRot="1" noChangeAspect="1"/>
          </p:cNvSpPr>
          <p:nvPr>
            <p:ph type="sldImg"/>
          </p:nvPr>
        </p:nvSpPr>
        <p:spPr>
          <a:xfrm>
            <a:off x="216000" y="812520"/>
            <a:ext cx="7123320" cy="4005000"/>
          </a:xfrm>
          <a:prstGeom prst="rect">
            <a:avLst/>
          </a:prstGeom>
          <a:ln w="0">
            <a:noFill/>
          </a:ln>
        </p:spPr>
      </p:sp>
      <p:sp>
        <p:nvSpPr>
          <p:cNvPr id="252" name="PlaceHolder 2"/>
          <p:cNvSpPr>
            <a:spLocks noGrp="1"/>
          </p:cNvSpPr>
          <p:nvPr>
            <p:ph type="body"/>
          </p:nvPr>
        </p:nvSpPr>
        <p:spPr>
          <a:xfrm>
            <a:off x="756000" y="5078520"/>
            <a:ext cx="6043680" cy="4807080"/>
          </a:xfrm>
          <a:prstGeom prst="rect">
            <a:avLst/>
          </a:prstGeom>
          <a:noFill/>
          <a:ln w="0">
            <a:noFill/>
          </a:ln>
        </p:spPr>
        <p:txBody>
          <a:bodyPr lIns="0" tIns="0" rIns="0" bIns="0" anchor="t">
            <a:noAutofit/>
          </a:bodyPr>
          <a:lstStyle/>
          <a:p>
            <a:pPr marL="216000" indent="0">
              <a:lnSpc>
                <a:spcPct val="100000"/>
              </a:lnSpc>
              <a:buNone/>
              <a:tabLst>
                <a:tab pos="0" algn="l"/>
              </a:tabLst>
            </a:pPr>
            <a:r>
              <a:rPr lang="en-US" sz="1000" b="0" strike="noStrike" spc="-1">
                <a:solidFill>
                  <a:srgbClr val="000000"/>
                </a:solidFill>
                <a:latin typeface="Symbol"/>
                <a:ea typeface="Symbol"/>
              </a:rPr>
              <a:t> </a:t>
            </a:r>
            <a:r>
              <a:rPr lang="en-US" sz="1200" b="0" strike="noStrike" spc="-1">
                <a:solidFill>
                  <a:srgbClr val="000000"/>
                </a:solidFill>
                <a:latin typeface="Arial"/>
                <a:ea typeface="Arial"/>
              </a:rPr>
              <a:t>Brief overview of the importance of physics in game development.</a:t>
            </a:r>
            <a:endParaRPr lang="en-US" sz="1200" b="0" strike="noStrike" spc="-1">
              <a:solidFill>
                <a:srgbClr val="000000"/>
              </a:solidFill>
              <a:latin typeface="Arial"/>
            </a:endParaRPr>
          </a:p>
          <a:p>
            <a:pPr marL="216000" indent="0">
              <a:lnSpc>
                <a:spcPct val="100000"/>
              </a:lnSpc>
              <a:buNone/>
              <a:tabLst>
                <a:tab pos="0" algn="l"/>
              </a:tabLst>
            </a:pPr>
            <a:r>
              <a:rPr lang="en-US" sz="1000" b="0" strike="noStrike" spc="-1">
                <a:solidFill>
                  <a:srgbClr val="000000"/>
                </a:solidFill>
                <a:latin typeface="Symbol"/>
                <a:ea typeface="Symbol"/>
              </a:rPr>
              <a:t> </a:t>
            </a:r>
            <a:r>
              <a:rPr lang="en-US" sz="1200" b="0" strike="noStrike" spc="-1">
                <a:solidFill>
                  <a:srgbClr val="000000"/>
                </a:solidFill>
                <a:latin typeface="Arial"/>
                <a:ea typeface="Arial"/>
              </a:rPr>
              <a:t>Introduction to Unity's built-in physics engine and the role of colliders.</a:t>
            </a:r>
            <a:endParaRPr lang="en-US" sz="1200" b="0" strike="noStrike" spc="-1">
              <a:solidFill>
                <a:srgbClr val="000000"/>
              </a:solidFill>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 name="PlaceHolder 1"/>
          <p:cNvSpPr>
            <a:spLocks noGrp="1" noRot="1" noChangeAspect="1"/>
          </p:cNvSpPr>
          <p:nvPr>
            <p:ph type="sldImg"/>
          </p:nvPr>
        </p:nvSpPr>
        <p:spPr>
          <a:xfrm>
            <a:off x="216000" y="812520"/>
            <a:ext cx="7121520" cy="4003200"/>
          </a:xfrm>
          <a:prstGeom prst="rect">
            <a:avLst/>
          </a:prstGeom>
          <a:ln w="0">
            <a:noFill/>
          </a:ln>
        </p:spPr>
      </p:sp>
      <p:sp>
        <p:nvSpPr>
          <p:cNvPr id="254" name="PlaceHolder 2"/>
          <p:cNvSpPr>
            <a:spLocks noGrp="1"/>
          </p:cNvSpPr>
          <p:nvPr>
            <p:ph type="body"/>
          </p:nvPr>
        </p:nvSpPr>
        <p:spPr>
          <a:xfrm>
            <a:off x="756000" y="5078520"/>
            <a:ext cx="6041880" cy="4805280"/>
          </a:xfrm>
          <a:prstGeom prst="rect">
            <a:avLst/>
          </a:prstGeom>
          <a:noFill/>
          <a:ln w="0">
            <a:noFill/>
          </a:ln>
        </p:spPr>
        <p:txBody>
          <a:bodyPr lIns="0" tIns="0" rIns="0" bIns="0" anchor="t">
            <a:noAutofit/>
          </a:bodyPr>
          <a:lstStyle/>
          <a:p>
            <a:pPr marL="216000" indent="0">
              <a:lnSpc>
                <a:spcPct val="100000"/>
              </a:lnSpc>
              <a:spcBef>
                <a:spcPts val="1191"/>
              </a:spcBef>
              <a:spcAft>
                <a:spcPts val="992"/>
              </a:spcAft>
              <a:buNone/>
              <a:tabLst>
                <a:tab pos="0" algn="l"/>
              </a:tabLst>
            </a:pPr>
            <a:r>
              <a:rPr lang="en-US" sz="1000" b="0" strike="noStrike" spc="-1">
                <a:solidFill>
                  <a:srgbClr val="000000"/>
                </a:solidFill>
                <a:latin typeface="Arial"/>
              </a:rPr>
              <a:t>  Definition of scenes as individual levels, environments, or segments of a game. </a:t>
            </a:r>
          </a:p>
          <a:p>
            <a:pPr marL="216000" indent="0">
              <a:lnSpc>
                <a:spcPct val="100000"/>
              </a:lnSpc>
              <a:spcBef>
                <a:spcPts val="1191"/>
              </a:spcBef>
              <a:spcAft>
                <a:spcPts val="992"/>
              </a:spcAft>
              <a:buNone/>
              <a:tabLst>
                <a:tab pos="0" algn="l"/>
              </a:tabLst>
            </a:pPr>
            <a:r>
              <a:rPr lang="en-US" sz="1000" b="0" strike="noStrike" spc="-1">
                <a:solidFill>
                  <a:srgbClr val="000000"/>
                </a:solidFill>
                <a:latin typeface="Arial"/>
              </a:rPr>
              <a:t>  Explanation of how scenes contribute to the overall structure and flow of a game project. </a:t>
            </a:r>
          </a:p>
          <a:p>
            <a:pPr marL="216000" indent="0">
              <a:lnSpc>
                <a:spcPct val="100000"/>
              </a:lnSpc>
              <a:spcBef>
                <a:spcPts val="1191"/>
              </a:spcBef>
              <a:spcAft>
                <a:spcPts val="992"/>
              </a:spcAft>
              <a:buNone/>
              <a:tabLst>
                <a:tab pos="0" algn="l"/>
              </a:tabLst>
            </a:pPr>
            <a:endParaRPr lang="en-US" sz="1000" b="0" strike="noStrike" spc="-1">
              <a:solidFill>
                <a:srgbClr val="000000"/>
              </a:solidFill>
              <a:latin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 name="PlaceHolder 1"/>
          <p:cNvSpPr>
            <a:spLocks noGrp="1" noRot="1" noChangeAspect="1"/>
          </p:cNvSpPr>
          <p:nvPr>
            <p:ph type="sldImg"/>
          </p:nvPr>
        </p:nvSpPr>
        <p:spPr>
          <a:xfrm>
            <a:off x="216000" y="812520"/>
            <a:ext cx="7126920" cy="4008600"/>
          </a:xfrm>
          <a:prstGeom prst="rect">
            <a:avLst/>
          </a:prstGeom>
          <a:ln w="0">
            <a:noFill/>
          </a:ln>
        </p:spPr>
      </p:sp>
      <p:sp>
        <p:nvSpPr>
          <p:cNvPr id="256" name="PlaceHolder 2"/>
          <p:cNvSpPr>
            <a:spLocks noGrp="1"/>
          </p:cNvSpPr>
          <p:nvPr>
            <p:ph type="body"/>
          </p:nvPr>
        </p:nvSpPr>
        <p:spPr>
          <a:xfrm>
            <a:off x="756000" y="5078520"/>
            <a:ext cx="6047280" cy="4810680"/>
          </a:xfrm>
          <a:prstGeom prst="rect">
            <a:avLst/>
          </a:prstGeom>
          <a:noFill/>
          <a:ln w="0">
            <a:noFill/>
          </a:ln>
        </p:spPr>
        <p:txBody>
          <a:bodyPr lIns="0" tIns="0" rIns="0" bIns="0" anchor="t">
            <a:noAutofit/>
          </a:bodyPr>
          <a:lstStyle/>
          <a:p>
            <a:pPr marL="216000" indent="0">
              <a:lnSpc>
                <a:spcPct val="100000"/>
              </a:lnSpc>
              <a:buNone/>
              <a:tabLst>
                <a:tab pos="0" algn="l"/>
              </a:tabLst>
            </a:pPr>
            <a:r>
              <a:rPr lang="en-US" sz="2000" b="0" strike="noStrike" spc="-1">
                <a:solidFill>
                  <a:srgbClr val="000000"/>
                </a:solidFill>
                <a:latin typeface="Arial"/>
              </a:rPr>
              <a:t>https://docs.unity3d.com/Manual/class-Rigidbody2D.html</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r>
              <a:rPr lang="vi-VN" dirty="0"/>
              <a:t>Unity cung cấp 3 kiểu </a:t>
            </a:r>
            <a:r>
              <a:rPr lang="vi-VN" b="1" dirty="0"/>
              <a:t>Body Type</a:t>
            </a:r>
            <a:r>
              <a:rPr lang="vi-VN" dirty="0"/>
              <a:t>:</a:t>
            </a:r>
          </a:p>
          <a:p>
            <a:pPr>
              <a:buFont typeface="+mj-lt"/>
              <a:buAutoNum type="arabicPeriod"/>
            </a:pPr>
            <a:r>
              <a:rPr lang="vi-VN" b="1" dirty="0"/>
              <a:t>Dynamic</a:t>
            </a:r>
            <a:r>
              <a:rPr lang="vi-VN" dirty="0"/>
              <a:t> – Bị ảnh hưởng bởi trọng lực và va chạm.</a:t>
            </a:r>
          </a:p>
          <a:p>
            <a:pPr>
              <a:buFont typeface="+mj-lt"/>
              <a:buAutoNum type="arabicPeriod"/>
            </a:pPr>
            <a:r>
              <a:rPr lang="vi-VN" b="1" dirty="0"/>
              <a:t>Kinematic</a:t>
            </a:r>
            <a:r>
              <a:rPr lang="vi-VN" dirty="0"/>
              <a:t> – Không bị ảnh hưởng bởi lực, nhưng có thể di chuyển qua script.</a:t>
            </a:r>
          </a:p>
          <a:p>
            <a:pPr>
              <a:buFont typeface="+mj-lt"/>
              <a:buAutoNum type="arabicPeriod"/>
            </a:pPr>
            <a:r>
              <a:rPr lang="vi-VN" b="1" dirty="0"/>
              <a:t>Static</a:t>
            </a:r>
            <a:r>
              <a:rPr lang="vi-VN" dirty="0"/>
              <a:t> – Không di chuyển, thường dùng cho tường và nền đất.</a:t>
            </a:r>
          </a:p>
          <a:p>
            <a:r>
              <a:rPr lang="vi-VN" dirty="0"/>
              <a:t>⏩ </a:t>
            </a:r>
            <a:r>
              <a:rPr lang="vi-VN" b="1" dirty="0"/>
              <a:t>Giải thích dễ hiểu:</a:t>
            </a:r>
            <a:r>
              <a:rPr lang="vi-VN" dirty="0"/>
              <a:t> Nếu bạn làm game có nhân vật di chuyển, hãy dùng </a:t>
            </a:r>
            <a:r>
              <a:rPr lang="vi-VN" b="1" dirty="0"/>
              <a:t>Dynamic</a:t>
            </a:r>
            <a:r>
              <a:rPr lang="vi-VN" dirty="0"/>
              <a:t>. Nếu nhân vật di chuyển nhưng không chịu trọng lực, dùng </a:t>
            </a:r>
            <a:r>
              <a:rPr lang="vi-VN" b="1" dirty="0"/>
              <a:t>Kinematic</a:t>
            </a:r>
            <a:r>
              <a:rPr lang="vi-VN" dirty="0"/>
              <a:t>.</a:t>
            </a:r>
          </a:p>
          <a:p>
            <a:endParaRPr lang="en-VN" dirty="0"/>
          </a:p>
        </p:txBody>
      </p:sp>
      <p:sp>
        <p:nvSpPr>
          <p:cNvPr id="4" name="Slide Number Placeholder 3"/>
          <p:cNvSpPr>
            <a:spLocks noGrp="1"/>
          </p:cNvSpPr>
          <p:nvPr>
            <p:ph type="sldNum" idx="6"/>
          </p:nvPr>
        </p:nvSpPr>
        <p:spPr/>
        <p:txBody>
          <a:bodyPr/>
          <a:lstStyle/>
          <a:p>
            <a:pPr indent="0" algn="r">
              <a:buNone/>
            </a:pPr>
            <a:fld id="{F8746A05-0E75-49D4-A629-1B3299BBAD5C}" type="slidenum">
              <a:rPr lang="en-US" sz="1400" b="0" strike="noStrike" spc="-1" smtClean="0">
                <a:solidFill>
                  <a:srgbClr val="000000"/>
                </a:solidFill>
                <a:latin typeface="Times New Roman"/>
              </a:rPr>
              <a:t>7</a:t>
            </a:fld>
            <a:endParaRPr lang="en-US" sz="1400" b="0" strike="noStrike" spc="-1">
              <a:solidFill>
                <a:srgbClr val="000000"/>
              </a:solidFill>
              <a:latin typeface="Times New Roman"/>
            </a:endParaRPr>
          </a:p>
        </p:txBody>
      </p:sp>
    </p:spTree>
    <p:extLst>
      <p:ext uri="{BB962C8B-B14F-4D97-AF65-F5344CB8AC3E}">
        <p14:creationId xmlns:p14="http://schemas.microsoft.com/office/powerpoint/2010/main" val="17699445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pPr>
              <a:buFont typeface="+mj-lt"/>
              <a:buAutoNum type="arabicPeriod"/>
            </a:pPr>
            <a:r>
              <a:rPr lang="vi-VN" b="1" dirty="0"/>
              <a:t>Hiểu đơn giản:</a:t>
            </a:r>
            <a:r>
              <a:rPr lang="vi-VN" dirty="0"/>
              <a:t> Khi bật Simulated, đối tượng hoạt động như một phần của hệ thống vật lý trong game, chịu trọng lực, va chạm, và các lực khác. Nếu tắt Simulated, đối tượng sẽ ngừng tất cả các hành vi vật lý.</a:t>
            </a:r>
          </a:p>
          <a:p>
            <a:r>
              <a:rPr lang="vi-VN" b="1" dirty="0"/>
              <a:t>Ví dụ:</a:t>
            </a:r>
            <a:endParaRPr lang="vi-VN" dirty="0"/>
          </a:p>
          <a:p>
            <a:pPr>
              <a:buFont typeface="Arial" panose="020B0604020202020204" pitchFamily="34" charset="0"/>
              <a:buChar char="•"/>
            </a:pPr>
            <a:r>
              <a:rPr lang="vi-VN" b="1" dirty="0"/>
              <a:t>Khi bật Simulated:</a:t>
            </a:r>
            <a:r>
              <a:rPr lang="vi-VN" dirty="0"/>
              <a:t> Một quả bóng rơi xuống đất và nảy lên khi va chạm.</a:t>
            </a:r>
          </a:p>
          <a:p>
            <a:pPr>
              <a:buFont typeface="Arial" panose="020B0604020202020204" pitchFamily="34" charset="0"/>
              <a:buChar char="•"/>
            </a:pPr>
            <a:r>
              <a:rPr lang="vi-VN" b="1" dirty="0"/>
              <a:t>Khi tắt Simulated:</a:t>
            </a:r>
            <a:r>
              <a:rPr lang="vi-VN" dirty="0"/>
              <a:t> Quả bóng đứng yên, không bị trọng lực kéo xuống.</a:t>
            </a:r>
          </a:p>
          <a:p>
            <a:r>
              <a:rPr lang="vi-VN" dirty="0"/>
              <a:t>Bạn cần thêm ví dụ hoặc giải thích cụ thể hơn không? </a:t>
            </a:r>
            <a:r>
              <a:rPr lang="en-VN" dirty="0"/>
              <a:t>😊</a:t>
            </a:r>
          </a:p>
          <a:p>
            <a:endParaRPr lang="en-VN" dirty="0"/>
          </a:p>
        </p:txBody>
      </p:sp>
      <p:sp>
        <p:nvSpPr>
          <p:cNvPr id="4" name="Slide Number Placeholder 3"/>
          <p:cNvSpPr>
            <a:spLocks noGrp="1"/>
          </p:cNvSpPr>
          <p:nvPr>
            <p:ph type="sldNum" idx="6"/>
          </p:nvPr>
        </p:nvSpPr>
        <p:spPr/>
        <p:txBody>
          <a:bodyPr/>
          <a:lstStyle/>
          <a:p>
            <a:pPr indent="0" algn="r">
              <a:buNone/>
            </a:pPr>
            <a:fld id="{F8746A05-0E75-49D4-A629-1B3299BBAD5C}" type="slidenum">
              <a:rPr lang="en-US" sz="1400" b="0" strike="noStrike" spc="-1" smtClean="0">
                <a:solidFill>
                  <a:srgbClr val="000000"/>
                </a:solidFill>
                <a:latin typeface="Times New Roman"/>
              </a:rPr>
              <a:t>8</a:t>
            </a:fld>
            <a:endParaRPr lang="en-US" sz="1400" b="0" strike="noStrike" spc="-1">
              <a:solidFill>
                <a:srgbClr val="000000"/>
              </a:solidFill>
              <a:latin typeface="Times New Roman"/>
            </a:endParaRPr>
          </a:p>
        </p:txBody>
      </p:sp>
    </p:spTree>
    <p:extLst>
      <p:ext uri="{BB962C8B-B14F-4D97-AF65-F5344CB8AC3E}">
        <p14:creationId xmlns:p14="http://schemas.microsoft.com/office/powerpoint/2010/main" val="42282695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r>
              <a:rPr lang="vi-VN" b="1" dirty="0"/>
              <a:t>Các thuộc tính quan trọng của Rigidbody 2D</a:t>
            </a:r>
          </a:p>
          <a:p>
            <a:pPr>
              <a:buFont typeface="Arial" panose="020B0604020202020204" pitchFamily="34" charset="0"/>
              <a:buChar char="•"/>
            </a:pPr>
            <a:r>
              <a:rPr lang="vi-VN" b="1" dirty="0"/>
              <a:t>Mass (Khối lượng)</a:t>
            </a:r>
            <a:r>
              <a:rPr lang="vi-VN" dirty="0"/>
              <a:t>: Xác định độ nặng của vật.</a:t>
            </a:r>
          </a:p>
          <a:p>
            <a:pPr>
              <a:buFont typeface="Arial" panose="020B0604020202020204" pitchFamily="34" charset="0"/>
              <a:buChar char="•"/>
            </a:pPr>
            <a:r>
              <a:rPr lang="vi-VN" b="1" dirty="0"/>
              <a:t>Drag (Lực cản)</a:t>
            </a:r>
            <a:r>
              <a:rPr lang="vi-VN" dirty="0"/>
              <a:t>: Giảm tốc độ của vật.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Angular Drag</a:t>
            </a:r>
            <a:r>
              <a:rPr lang="en-US" dirty="0"/>
              <a:t> = </a:t>
            </a:r>
            <a:r>
              <a:rPr lang="en-US" b="1" dirty="0" err="1"/>
              <a:t>lực</a:t>
            </a:r>
            <a:r>
              <a:rPr lang="en-US" b="1" dirty="0"/>
              <a:t> </a:t>
            </a:r>
            <a:r>
              <a:rPr lang="en-US" b="1" dirty="0" err="1"/>
              <a:t>cản</a:t>
            </a:r>
            <a:r>
              <a:rPr lang="en-US" b="1" dirty="0"/>
              <a:t> quay</a:t>
            </a:r>
            <a:r>
              <a:rPr lang="en-US" dirty="0"/>
              <a:t> / </a:t>
            </a:r>
            <a:r>
              <a:rPr lang="en-US" b="1" dirty="0"/>
              <a:t>ma </a:t>
            </a:r>
            <a:r>
              <a:rPr lang="en-US" b="1" dirty="0" err="1"/>
              <a:t>sát</a:t>
            </a:r>
            <a:r>
              <a:rPr lang="en-US" b="1" dirty="0"/>
              <a:t> </a:t>
            </a:r>
            <a:r>
              <a:rPr lang="en-US" b="1" dirty="0" err="1"/>
              <a:t>góc</a:t>
            </a:r>
            <a:r>
              <a:rPr lang="en-US" dirty="0"/>
              <a:t> </a:t>
            </a:r>
            <a:r>
              <a:rPr lang="en-US" dirty="0" err="1"/>
              <a:t>tác</a:t>
            </a:r>
            <a:r>
              <a:rPr lang="en-US" dirty="0"/>
              <a:t> </a:t>
            </a:r>
            <a:r>
              <a:rPr lang="en-US" dirty="0" err="1"/>
              <a:t>động</a:t>
            </a:r>
            <a:r>
              <a:rPr lang="en-US" dirty="0"/>
              <a:t> </a:t>
            </a:r>
            <a:r>
              <a:rPr lang="en-US" dirty="0" err="1"/>
              <a:t>lên</a:t>
            </a:r>
            <a:r>
              <a:rPr lang="en-US" dirty="0"/>
              <a:t> </a:t>
            </a:r>
            <a:r>
              <a:rPr lang="en-US" dirty="0" err="1"/>
              <a:t>vật</a:t>
            </a:r>
            <a:r>
              <a:rPr lang="en-US" dirty="0"/>
              <a:t> </a:t>
            </a:r>
            <a:r>
              <a:rPr lang="en-US" dirty="0" err="1"/>
              <a:t>thể</a:t>
            </a:r>
            <a:r>
              <a:rPr lang="en-US" dirty="0"/>
              <a:t> </a:t>
            </a:r>
            <a:r>
              <a:rPr lang="en-US" dirty="0" err="1"/>
              <a:t>khi</a:t>
            </a:r>
            <a:r>
              <a:rPr lang="en-US" dirty="0"/>
              <a:t> </a:t>
            </a:r>
            <a:r>
              <a:rPr lang="en-US" dirty="0" err="1"/>
              <a:t>nó</a:t>
            </a:r>
            <a:r>
              <a:rPr lang="en-US" dirty="0"/>
              <a:t> </a:t>
            </a:r>
            <a:r>
              <a:rPr lang="en-US" dirty="0" err="1"/>
              <a:t>đang</a:t>
            </a:r>
            <a:r>
              <a:rPr lang="en-US" dirty="0"/>
              <a:t> </a:t>
            </a:r>
            <a:r>
              <a:rPr lang="en-US" b="1" dirty="0" err="1"/>
              <a:t>xoay</a:t>
            </a:r>
            <a:r>
              <a:rPr lang="en-US" dirty="0"/>
              <a:t>.</a:t>
            </a:r>
            <a:endParaRPr lang="vi-VN" dirty="0"/>
          </a:p>
          <a:p>
            <a:pPr>
              <a:buFont typeface="Arial" panose="020B0604020202020204" pitchFamily="34" charset="0"/>
              <a:buChar char="•"/>
            </a:pPr>
            <a:r>
              <a:rPr lang="vi-VN" b="1" dirty="0"/>
              <a:t>Gravity Scale (Tỷ lệ trọng lực)</a:t>
            </a:r>
            <a:r>
              <a:rPr lang="vi-VN" dirty="0"/>
              <a:t>: Điều chỉnh lực hút của Trái Đất lên vật.</a:t>
            </a:r>
          </a:p>
          <a:p>
            <a:r>
              <a:rPr lang="vi-VN" dirty="0"/>
              <a:t>⏩ </a:t>
            </a:r>
            <a:r>
              <a:rPr lang="vi-VN" b="1" dirty="0"/>
              <a:t>Giải thích dễ hiểu:</a:t>
            </a:r>
            <a:r>
              <a:rPr lang="vi-VN" dirty="0"/>
              <a:t> Nếu bạn muốn một vật thể rơi chậm hơn, giảm </a:t>
            </a:r>
            <a:r>
              <a:rPr lang="vi-VN" b="1" dirty="0"/>
              <a:t>Gravity Scale</a:t>
            </a:r>
            <a:r>
              <a:rPr lang="vi-VN" dirty="0"/>
              <a:t>.</a:t>
            </a:r>
          </a:p>
          <a:p>
            <a:endParaRPr lang="en-VN" dirty="0"/>
          </a:p>
        </p:txBody>
      </p:sp>
      <p:sp>
        <p:nvSpPr>
          <p:cNvPr id="4" name="Slide Number Placeholder 3"/>
          <p:cNvSpPr>
            <a:spLocks noGrp="1"/>
          </p:cNvSpPr>
          <p:nvPr>
            <p:ph type="sldNum" idx="6"/>
          </p:nvPr>
        </p:nvSpPr>
        <p:spPr/>
        <p:txBody>
          <a:bodyPr/>
          <a:lstStyle/>
          <a:p>
            <a:pPr indent="0" algn="r">
              <a:buNone/>
            </a:pPr>
            <a:fld id="{F8746A05-0E75-49D4-A629-1B3299BBAD5C}" type="slidenum">
              <a:rPr lang="en-US" sz="1400" b="0" strike="noStrike" spc="-1" smtClean="0">
                <a:solidFill>
                  <a:srgbClr val="000000"/>
                </a:solidFill>
                <a:latin typeface="Times New Roman"/>
              </a:rPr>
              <a:t>9</a:t>
            </a:fld>
            <a:endParaRPr lang="en-US" sz="1400" b="0" strike="noStrike" spc="-1">
              <a:solidFill>
                <a:srgbClr val="000000"/>
              </a:solidFill>
              <a:latin typeface="Times New Roman"/>
            </a:endParaRPr>
          </a:p>
        </p:txBody>
      </p:sp>
    </p:spTree>
    <p:extLst>
      <p:ext uri="{BB962C8B-B14F-4D97-AF65-F5344CB8AC3E}">
        <p14:creationId xmlns:p14="http://schemas.microsoft.com/office/powerpoint/2010/main" val="13113276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pPr>
              <a:buFont typeface="Arial" panose="020B0604020202020204" pitchFamily="34" charset="0"/>
              <a:buChar char="•"/>
            </a:pPr>
            <a:r>
              <a:rPr lang="vi-VN" b="1" dirty="0"/>
              <a:t>Collider 2D</a:t>
            </a:r>
            <a:r>
              <a:rPr lang="vi-VN" dirty="0"/>
              <a:t> giúp xác định khu vực va chạm của vật thể.</a:t>
            </a:r>
          </a:p>
          <a:p>
            <a:pPr>
              <a:buFont typeface="Arial" panose="020B0604020202020204" pitchFamily="34" charset="0"/>
              <a:buChar char="•"/>
            </a:pPr>
            <a:r>
              <a:rPr lang="vi-VN" dirty="0"/>
              <a:t>Một Collider </a:t>
            </a:r>
            <a:r>
              <a:rPr lang="vi-VN" b="1" dirty="0"/>
              <a:t>không cần phải có hình dạng chính xác như vật thể</a:t>
            </a:r>
            <a:r>
              <a:rPr lang="vi-VN" dirty="0"/>
              <a:t>, mà chỉ cần bao phủ khu vực cần va chạm.</a:t>
            </a:r>
          </a:p>
          <a:p>
            <a:r>
              <a:rPr lang="vi-VN" dirty="0"/>
              <a:t>⏩ </a:t>
            </a:r>
            <a:r>
              <a:rPr lang="vi-VN" b="1" dirty="0"/>
              <a:t>Giải thích dễ hiểu:</a:t>
            </a:r>
            <a:r>
              <a:rPr lang="vi-VN" dirty="0"/>
              <a:t> Một nhân vật có thể có hình dáng phức tạp, nhưng </a:t>
            </a:r>
            <a:r>
              <a:rPr lang="vi-VN" b="1" dirty="0"/>
              <a:t>Collider</a:t>
            </a:r>
            <a:r>
              <a:rPr lang="vi-VN" dirty="0"/>
              <a:t> của nó chỉ cần là hình chữ nhật đơn giản để tiết kiệm tài nguyên.</a:t>
            </a:r>
          </a:p>
          <a:p>
            <a:endParaRPr lang="en-VN" dirty="0"/>
          </a:p>
        </p:txBody>
      </p:sp>
      <p:sp>
        <p:nvSpPr>
          <p:cNvPr id="4" name="Slide Number Placeholder 3"/>
          <p:cNvSpPr>
            <a:spLocks noGrp="1"/>
          </p:cNvSpPr>
          <p:nvPr>
            <p:ph type="sldNum" idx="6"/>
          </p:nvPr>
        </p:nvSpPr>
        <p:spPr/>
        <p:txBody>
          <a:bodyPr/>
          <a:lstStyle/>
          <a:p>
            <a:pPr indent="0" algn="r">
              <a:buNone/>
            </a:pPr>
            <a:fld id="{F8746A05-0E75-49D4-A629-1B3299BBAD5C}" type="slidenum">
              <a:rPr lang="en-US" sz="1400" b="0" strike="noStrike" spc="-1" smtClean="0">
                <a:solidFill>
                  <a:srgbClr val="000000"/>
                </a:solidFill>
                <a:latin typeface="Times New Roman"/>
              </a:rPr>
              <a:t>10</a:t>
            </a:fld>
            <a:endParaRPr lang="en-US" sz="1400" b="0" strike="noStrike" spc="-1">
              <a:solidFill>
                <a:srgbClr val="000000"/>
              </a:solidFill>
              <a:latin typeface="Times New Roman"/>
            </a:endParaRPr>
          </a:p>
        </p:txBody>
      </p:sp>
    </p:spTree>
    <p:extLst>
      <p:ext uri="{BB962C8B-B14F-4D97-AF65-F5344CB8AC3E}">
        <p14:creationId xmlns:p14="http://schemas.microsoft.com/office/powerpoint/2010/main" val="26186148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r>
              <a:rPr lang="vi-VN" b="1" dirty="0"/>
              <a:t>1. Circle Collider 2D</a:t>
            </a:r>
          </a:p>
          <a:p>
            <a:pPr>
              <a:buFont typeface="Arial" panose="020B0604020202020204" pitchFamily="34" charset="0"/>
              <a:buChar char="•"/>
            </a:pPr>
            <a:r>
              <a:rPr lang="vi-VN" b="1" dirty="0"/>
              <a:t>Mô tả:</a:t>
            </a:r>
            <a:r>
              <a:rPr lang="vi-VN" dirty="0"/>
              <a:t> Dùng cho các vùng va chạm hình tròn.</a:t>
            </a:r>
          </a:p>
          <a:p>
            <a:pPr>
              <a:buFont typeface="Arial" panose="020B0604020202020204" pitchFamily="34" charset="0"/>
              <a:buChar char="•"/>
            </a:pPr>
            <a:r>
              <a:rPr lang="vi-VN" b="1" dirty="0"/>
              <a:t>Ứng dụng:</a:t>
            </a:r>
            <a:r>
              <a:rPr lang="vi-VN" dirty="0"/>
              <a:t> Thích hợp cho các đối tượng tròn như quả bóng.</a:t>
            </a:r>
          </a:p>
          <a:p>
            <a:r>
              <a:rPr lang="vi-VN" b="1" dirty="0"/>
              <a:t>2. Box Collider 2D</a:t>
            </a:r>
          </a:p>
          <a:p>
            <a:pPr>
              <a:buFont typeface="Arial" panose="020B0604020202020204" pitchFamily="34" charset="0"/>
              <a:buChar char="•"/>
            </a:pPr>
            <a:r>
              <a:rPr lang="vi-VN" b="1" dirty="0"/>
              <a:t>Mô tả:</a:t>
            </a:r>
            <a:r>
              <a:rPr lang="vi-VN" dirty="0"/>
              <a:t> Dùng cho các vùng va chạm hình vuông hoặc hình chữ nhật.</a:t>
            </a:r>
          </a:p>
          <a:p>
            <a:pPr>
              <a:buFont typeface="Arial" panose="020B0604020202020204" pitchFamily="34" charset="0"/>
              <a:buChar char="•"/>
            </a:pPr>
            <a:r>
              <a:rPr lang="vi-VN" b="1" dirty="0"/>
              <a:t>Ứng dụng:</a:t>
            </a:r>
            <a:r>
              <a:rPr lang="vi-VN" dirty="0"/>
              <a:t> Thích hợp cho các vật thể hình hộp hoặc bề mặt phẳng như tường, sàn nhà.</a:t>
            </a:r>
          </a:p>
          <a:p>
            <a:r>
              <a:rPr lang="vi-VN" b="1" dirty="0"/>
              <a:t>3. Polygon Collider 2D</a:t>
            </a:r>
          </a:p>
          <a:p>
            <a:pPr>
              <a:buFont typeface="Arial" panose="020B0604020202020204" pitchFamily="34" charset="0"/>
              <a:buChar char="•"/>
            </a:pPr>
            <a:r>
              <a:rPr lang="vi-VN" b="1" dirty="0"/>
              <a:t>Mô tả:</a:t>
            </a:r>
            <a:r>
              <a:rPr lang="vi-VN" dirty="0"/>
              <a:t> Dùng cho các vùng va chạm tự do, có hình dạng phức tạp.</a:t>
            </a:r>
          </a:p>
          <a:p>
            <a:pPr>
              <a:buFont typeface="Arial" panose="020B0604020202020204" pitchFamily="34" charset="0"/>
              <a:buChar char="•"/>
            </a:pPr>
            <a:r>
              <a:rPr lang="vi-VN" b="1" dirty="0"/>
              <a:t>Ứng dụng:</a:t>
            </a:r>
            <a:r>
              <a:rPr lang="vi-VN" dirty="0"/>
              <a:t> Thích hợp cho các vật thể không có hình dạng đơn giản, ví dụ như một tảng đá không đều.</a:t>
            </a:r>
          </a:p>
          <a:p>
            <a:r>
              <a:rPr lang="vi-VN" b="1" dirty="0"/>
              <a:t>4. Edge Collider 2D</a:t>
            </a:r>
          </a:p>
          <a:p>
            <a:pPr>
              <a:buFont typeface="Arial" panose="020B0604020202020204" pitchFamily="34" charset="0"/>
              <a:buChar char="•"/>
            </a:pPr>
            <a:r>
              <a:rPr lang="vi-VN" b="1" dirty="0"/>
              <a:t>Mô tả:</a:t>
            </a:r>
            <a:r>
              <a:rPr lang="vi-VN" dirty="0"/>
              <a:t> Dùng cho các vùng va chạm tự do mà không được bao kín, ví dụ như các cạnh hoặc đường cong.</a:t>
            </a:r>
          </a:p>
          <a:p>
            <a:pPr>
              <a:buFont typeface="Arial" panose="020B0604020202020204" pitchFamily="34" charset="0"/>
              <a:buChar char="•"/>
            </a:pPr>
            <a:r>
              <a:rPr lang="vi-VN" b="1" dirty="0"/>
              <a:t>Ứng dụng:</a:t>
            </a:r>
            <a:r>
              <a:rPr lang="vi-VN" dirty="0"/>
              <a:t> Thích hợp cho các đường viền hoặc các cạnh của một con đường.</a:t>
            </a:r>
          </a:p>
          <a:p>
            <a:r>
              <a:rPr lang="vi-VN" b="1" dirty="0"/>
              <a:t>5. Capsule Collider 2D</a:t>
            </a:r>
          </a:p>
          <a:p>
            <a:pPr>
              <a:buFont typeface="Arial" panose="020B0604020202020204" pitchFamily="34" charset="0"/>
              <a:buChar char="•"/>
            </a:pPr>
            <a:r>
              <a:rPr lang="vi-VN" b="1" dirty="0"/>
              <a:t>Mô tả:</a:t>
            </a:r>
            <a:r>
              <a:rPr lang="vi-VN" dirty="0"/>
              <a:t> Dùng cho các vùng va chạm hình trụ tròn hoặc viên thuốc.</a:t>
            </a:r>
          </a:p>
          <a:p>
            <a:pPr>
              <a:buFont typeface="Arial" panose="020B0604020202020204" pitchFamily="34" charset="0"/>
              <a:buChar char="•"/>
            </a:pPr>
            <a:r>
              <a:rPr lang="vi-VN" b="1" dirty="0"/>
              <a:t>Ứng dụng:</a:t>
            </a:r>
            <a:r>
              <a:rPr lang="vi-VN" dirty="0"/>
              <a:t> Thường được sử dụng cho nhân vật hoặc đối tượng có hình dạng tương tự.</a:t>
            </a:r>
          </a:p>
          <a:p>
            <a:r>
              <a:rPr lang="vi-VN" b="1" dirty="0"/>
              <a:t>6. Composite Collider 2D</a:t>
            </a:r>
          </a:p>
          <a:p>
            <a:pPr>
              <a:buFont typeface="Arial" panose="020B0604020202020204" pitchFamily="34" charset="0"/>
              <a:buChar char="•"/>
            </a:pPr>
            <a:r>
              <a:rPr lang="vi-VN" b="1" dirty="0"/>
              <a:t>Mô tả:</a:t>
            </a:r>
            <a:r>
              <a:rPr lang="vi-VN" dirty="0"/>
              <a:t> Dùng để hợp nhất các hình dạng của </a:t>
            </a:r>
            <a:r>
              <a:rPr lang="vi-VN" b="1" dirty="0"/>
              <a:t>Box Collider 2D</a:t>
            </a:r>
            <a:r>
              <a:rPr lang="vi-VN" dirty="0"/>
              <a:t> và </a:t>
            </a:r>
            <a:r>
              <a:rPr lang="vi-VN" b="1" dirty="0"/>
              <a:t>Polygon Collider 2D</a:t>
            </a:r>
            <a:r>
              <a:rPr lang="vi-VN" dirty="0"/>
              <a:t>.</a:t>
            </a:r>
          </a:p>
          <a:p>
            <a:pPr>
              <a:buFont typeface="Arial" panose="020B0604020202020204" pitchFamily="34" charset="0"/>
              <a:buChar char="•"/>
            </a:pPr>
            <a:r>
              <a:rPr lang="vi-VN" b="1" dirty="0"/>
              <a:t>Ứng dụng:</a:t>
            </a:r>
            <a:r>
              <a:rPr lang="vi-VN" dirty="0"/>
              <a:t> Giúp giảm số lượng collider riêng lẻ, cải thiện hiệu suất khi xử lý các vùng va chạm lớn hoặc phức tạp.</a:t>
            </a:r>
          </a:p>
          <a:p>
            <a:r>
              <a:rPr lang="vi-VN" b="1" dirty="0"/>
              <a:t>7. Custom Collider 2D</a:t>
            </a:r>
          </a:p>
          <a:p>
            <a:pPr>
              <a:buFont typeface="Arial" panose="020B0604020202020204" pitchFamily="34" charset="0"/>
              <a:buChar char="•"/>
            </a:pPr>
            <a:r>
              <a:rPr lang="vi-VN" b="1" dirty="0"/>
              <a:t>Mô tả:</a:t>
            </a:r>
            <a:r>
              <a:rPr lang="vi-VN" dirty="0"/>
              <a:t> Cho phép tạo các vùng va chạm với hình dạng tùy chỉnh.</a:t>
            </a:r>
          </a:p>
          <a:p>
            <a:pPr>
              <a:buFont typeface="Arial" panose="020B0604020202020204" pitchFamily="34" charset="0"/>
              <a:buChar char="•"/>
            </a:pPr>
            <a:r>
              <a:rPr lang="vi-VN" b="1" dirty="0"/>
              <a:t>Ứng dụng:</a:t>
            </a:r>
            <a:r>
              <a:rPr lang="vi-VN" dirty="0"/>
              <a:t> Hữu ích khi cần một vùng va chạm đặc biệt, không phù hợp với các loại collider có sẵn.</a:t>
            </a:r>
          </a:p>
          <a:p>
            <a:r>
              <a:rPr lang="vi-VN" dirty="0"/>
              <a:t>Mỗi loại Collider 2D có một ứng dụng cụ thể dựa trên hình dạng và chức năng của đối tượng trong game. Chọn đúng loại sẽ giúp tiết kiệm tài nguyên và cải thiện hiệu suất của trò chơi. </a:t>
            </a:r>
            <a:endParaRPr lang="en-VN" dirty="0"/>
          </a:p>
        </p:txBody>
      </p:sp>
      <p:sp>
        <p:nvSpPr>
          <p:cNvPr id="4" name="Slide Number Placeholder 3"/>
          <p:cNvSpPr>
            <a:spLocks noGrp="1"/>
          </p:cNvSpPr>
          <p:nvPr>
            <p:ph type="sldNum" idx="6"/>
          </p:nvPr>
        </p:nvSpPr>
        <p:spPr/>
        <p:txBody>
          <a:bodyPr/>
          <a:lstStyle/>
          <a:p>
            <a:pPr indent="0" algn="r">
              <a:buNone/>
            </a:pPr>
            <a:fld id="{F8746A05-0E75-49D4-A629-1B3299BBAD5C}" type="slidenum">
              <a:rPr lang="en-US" sz="1400" b="0" strike="noStrike" spc="-1" smtClean="0">
                <a:solidFill>
                  <a:srgbClr val="000000"/>
                </a:solidFill>
                <a:latin typeface="Times New Roman"/>
              </a:rPr>
              <a:t>11</a:t>
            </a:fld>
            <a:endParaRPr lang="en-US" sz="1400" b="0" strike="noStrike" spc="-1">
              <a:solidFill>
                <a:srgbClr val="000000"/>
              </a:solidFill>
              <a:latin typeface="Times New Roman"/>
            </a:endParaRPr>
          </a:p>
        </p:txBody>
      </p:sp>
    </p:spTree>
    <p:extLst>
      <p:ext uri="{BB962C8B-B14F-4D97-AF65-F5344CB8AC3E}">
        <p14:creationId xmlns:p14="http://schemas.microsoft.com/office/powerpoint/2010/main" val="29516033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r>
              <a:rPr lang="vi-VN" b="1" dirty="0"/>
              <a:t>Capsule Collider 2D</a:t>
            </a:r>
          </a:p>
          <a:p>
            <a:pPr>
              <a:buFont typeface="Arial" panose="020B0604020202020204" pitchFamily="34" charset="0"/>
              <a:buChar char="•"/>
            </a:pPr>
            <a:r>
              <a:rPr lang="vi-VN" b="1" dirty="0"/>
              <a:t>Mô tả:</a:t>
            </a:r>
            <a:r>
              <a:rPr lang="vi-VN" dirty="0"/>
              <a:t> Dùng cho các vùng va chạm hình trụ tròn hoặc viên thuốc.</a:t>
            </a:r>
          </a:p>
          <a:p>
            <a:pPr>
              <a:buFont typeface="Arial" panose="020B0604020202020204" pitchFamily="34" charset="0"/>
              <a:buChar char="•"/>
            </a:pPr>
            <a:r>
              <a:rPr lang="vi-VN" b="1" dirty="0"/>
              <a:t>Ứng dụng:</a:t>
            </a:r>
            <a:r>
              <a:rPr lang="vi-VN" dirty="0"/>
              <a:t> Thường được sử dụng cho nhân vật hoặc đối tượng có hình dạng tương tự.</a:t>
            </a:r>
          </a:p>
          <a:p>
            <a:endParaRPr lang="en-VN" dirty="0"/>
          </a:p>
        </p:txBody>
      </p:sp>
      <p:sp>
        <p:nvSpPr>
          <p:cNvPr id="4" name="Slide Number Placeholder 3"/>
          <p:cNvSpPr>
            <a:spLocks noGrp="1"/>
          </p:cNvSpPr>
          <p:nvPr>
            <p:ph type="sldNum" idx="6"/>
          </p:nvPr>
        </p:nvSpPr>
        <p:spPr/>
        <p:txBody>
          <a:bodyPr/>
          <a:lstStyle/>
          <a:p>
            <a:pPr indent="0" algn="r">
              <a:buNone/>
            </a:pPr>
            <a:fld id="{F8746A05-0E75-49D4-A629-1B3299BBAD5C}" type="slidenum">
              <a:rPr lang="en-US" sz="1400" b="0" strike="noStrike" spc="-1" smtClean="0">
                <a:solidFill>
                  <a:srgbClr val="000000"/>
                </a:solidFill>
                <a:latin typeface="Times New Roman"/>
              </a:rPr>
              <a:t>14</a:t>
            </a:fld>
            <a:endParaRPr lang="en-US" sz="1400" b="0" strike="noStrike" spc="-1">
              <a:solidFill>
                <a:srgbClr val="000000"/>
              </a:solidFill>
              <a:latin typeface="Times New Roman"/>
            </a:endParaRPr>
          </a:p>
        </p:txBody>
      </p:sp>
    </p:spTree>
    <p:extLst>
      <p:ext uri="{BB962C8B-B14F-4D97-AF65-F5344CB8AC3E}">
        <p14:creationId xmlns:p14="http://schemas.microsoft.com/office/powerpoint/2010/main" val="19461443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r>
              <a:rPr lang="vi-VN" b="1" dirty="0"/>
              <a:t>Composite Collider 2D</a:t>
            </a:r>
          </a:p>
          <a:p>
            <a:pPr>
              <a:buFont typeface="Arial" panose="020B0604020202020204" pitchFamily="34" charset="0"/>
              <a:buChar char="•"/>
            </a:pPr>
            <a:r>
              <a:rPr lang="vi-VN" b="1" dirty="0"/>
              <a:t>Mô tả:</a:t>
            </a:r>
            <a:r>
              <a:rPr lang="vi-VN" dirty="0"/>
              <a:t> Dùng để hợp nhất các hình dạng của </a:t>
            </a:r>
            <a:r>
              <a:rPr lang="vi-VN" b="1" dirty="0"/>
              <a:t>Box Collider 2D</a:t>
            </a:r>
            <a:r>
              <a:rPr lang="vi-VN" dirty="0"/>
              <a:t> và </a:t>
            </a:r>
            <a:r>
              <a:rPr lang="vi-VN" b="1" dirty="0"/>
              <a:t>Polygon Collider 2D</a:t>
            </a:r>
            <a:r>
              <a:rPr lang="vi-VN" dirty="0"/>
              <a:t>.</a:t>
            </a:r>
          </a:p>
          <a:p>
            <a:pPr>
              <a:buFont typeface="Arial" panose="020B0604020202020204" pitchFamily="34" charset="0"/>
              <a:buChar char="•"/>
            </a:pPr>
            <a:r>
              <a:rPr lang="vi-VN" b="1" dirty="0"/>
              <a:t>Ứng dụng:</a:t>
            </a:r>
            <a:r>
              <a:rPr lang="vi-VN" dirty="0"/>
              <a:t> Giúp giảm số lượng collider riêng lẻ, cải thiện hiệu suất khi xử lý các vùng va chạm lớn hoặc phức tạp.</a:t>
            </a:r>
          </a:p>
          <a:p>
            <a:endParaRPr lang="en-VN" dirty="0"/>
          </a:p>
        </p:txBody>
      </p:sp>
      <p:sp>
        <p:nvSpPr>
          <p:cNvPr id="4" name="Slide Number Placeholder 3"/>
          <p:cNvSpPr>
            <a:spLocks noGrp="1"/>
          </p:cNvSpPr>
          <p:nvPr>
            <p:ph type="sldNum" idx="6"/>
          </p:nvPr>
        </p:nvSpPr>
        <p:spPr/>
        <p:txBody>
          <a:bodyPr/>
          <a:lstStyle/>
          <a:p>
            <a:pPr indent="0" algn="r">
              <a:buNone/>
            </a:pPr>
            <a:fld id="{F8746A05-0E75-49D4-A629-1B3299BBAD5C}" type="slidenum">
              <a:rPr lang="en-US" sz="1400" b="0" strike="noStrike" spc="-1" smtClean="0">
                <a:solidFill>
                  <a:srgbClr val="000000"/>
                </a:solidFill>
                <a:latin typeface="Times New Roman"/>
              </a:rPr>
              <a:t>15</a:t>
            </a:fld>
            <a:endParaRPr lang="en-US" sz="1400" b="0" strike="noStrike" spc="-1">
              <a:solidFill>
                <a:srgbClr val="000000"/>
              </a:solidFill>
              <a:latin typeface="Times New Roman"/>
            </a:endParaRPr>
          </a:p>
        </p:txBody>
      </p:sp>
    </p:spTree>
    <p:extLst>
      <p:ext uri="{BB962C8B-B14F-4D97-AF65-F5344CB8AC3E}">
        <p14:creationId xmlns:p14="http://schemas.microsoft.com/office/powerpoint/2010/main" val="10025459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 name="PlaceHolder 1"/>
          <p:cNvSpPr>
            <a:spLocks noGrp="1" noRot="1" noChangeAspect="1"/>
          </p:cNvSpPr>
          <p:nvPr>
            <p:ph type="sldImg"/>
          </p:nvPr>
        </p:nvSpPr>
        <p:spPr>
          <a:xfrm>
            <a:off x="215900" y="812800"/>
            <a:ext cx="7126288" cy="4008438"/>
          </a:xfrm>
          <a:prstGeom prst="rect">
            <a:avLst/>
          </a:prstGeom>
          <a:ln w="0">
            <a:noFill/>
          </a:ln>
        </p:spPr>
      </p:sp>
      <p:sp>
        <p:nvSpPr>
          <p:cNvPr id="258" name="PlaceHolder 2"/>
          <p:cNvSpPr>
            <a:spLocks noGrp="1"/>
          </p:cNvSpPr>
          <p:nvPr>
            <p:ph type="body"/>
          </p:nvPr>
        </p:nvSpPr>
        <p:spPr>
          <a:xfrm>
            <a:off x="756000" y="5078520"/>
            <a:ext cx="6047280" cy="4810680"/>
          </a:xfrm>
          <a:prstGeom prst="rect">
            <a:avLst/>
          </a:prstGeom>
          <a:noFill/>
          <a:ln w="0">
            <a:noFill/>
          </a:ln>
        </p:spPr>
        <p:txBody>
          <a:bodyPr lIns="0" tIns="0" rIns="0" bIns="0" anchor="t">
            <a:noAutofit/>
          </a:bodyPr>
          <a:lstStyle/>
          <a:p>
            <a:pPr marL="216000" indent="0">
              <a:lnSpc>
                <a:spcPct val="100000"/>
              </a:lnSpc>
              <a:buNone/>
              <a:tabLst>
                <a:tab pos="0" algn="l"/>
              </a:tabLst>
            </a:pPr>
            <a:r>
              <a:rPr lang="en-US" sz="2000" b="0" strike="noStrike" spc="-1" dirty="0">
                <a:solidFill>
                  <a:srgbClr val="000000"/>
                </a:solidFill>
                <a:latin typeface="Arial"/>
              </a:rPr>
              <a:t>https://docs.unity3d.com/Manual/class-TilemapCollider2D.html</a:t>
            </a:r>
          </a:p>
          <a:p>
            <a:pPr marL="216000" indent="0">
              <a:lnSpc>
                <a:spcPct val="100000"/>
              </a:lnSpc>
              <a:buNone/>
              <a:tabLst>
                <a:tab pos="0" algn="l"/>
              </a:tabLst>
            </a:pPr>
            <a:endParaRPr lang="en-US" sz="2000" b="0" strike="noStrike" spc="-1" dirty="0">
              <a:solidFill>
                <a:srgbClr val="000000"/>
              </a:solidFill>
              <a:latin typeface="Arial"/>
            </a:endParaRPr>
          </a:p>
          <a:p>
            <a:r>
              <a:rPr lang="vi-VN" sz="3200" b="1" dirty="0"/>
              <a:t>Tilemap Collider 2D là gì?</a:t>
            </a:r>
          </a:p>
          <a:p>
            <a:pPr>
              <a:buFont typeface="Arial" panose="020B0604020202020204" pitchFamily="34" charset="0"/>
              <a:buChar char="•"/>
            </a:pPr>
            <a:r>
              <a:rPr lang="vi-VN" sz="3200" b="1" dirty="0"/>
              <a:t>Tilemap Collider 2D</a:t>
            </a:r>
            <a:r>
              <a:rPr lang="vi-VN" sz="3200" dirty="0"/>
              <a:t> là một thành phần dùng để tạo các vùng va chạm (</a:t>
            </a:r>
            <a:r>
              <a:rPr lang="vi-VN" sz="3200" b="1" dirty="0"/>
              <a:t>Collider shapes</a:t>
            </a:r>
            <a:r>
              <a:rPr lang="vi-VN" sz="3200" dirty="0"/>
              <a:t>) cho các ô (</a:t>
            </a:r>
            <a:r>
              <a:rPr lang="vi-VN" sz="3200" b="1" dirty="0"/>
              <a:t>Tiles</a:t>
            </a:r>
            <a:r>
              <a:rPr lang="vi-VN" sz="3200" dirty="0"/>
              <a:t>) trên một </a:t>
            </a:r>
            <a:r>
              <a:rPr lang="vi-VN" sz="3200" b="1" dirty="0"/>
              <a:t>Tilemap component</a:t>
            </a:r>
            <a:r>
              <a:rPr lang="vi-VN" sz="3200" dirty="0"/>
              <a:t>.</a:t>
            </a:r>
          </a:p>
          <a:p>
            <a:pPr>
              <a:buFont typeface="Arial" panose="020B0604020202020204" pitchFamily="34" charset="0"/>
              <a:buChar char="•"/>
            </a:pPr>
            <a:r>
              <a:rPr lang="vi-VN" sz="3200" dirty="0"/>
              <a:t>Khi bạn thêm hoặc xóa ô trên </a:t>
            </a:r>
            <a:r>
              <a:rPr lang="vi-VN" sz="3200" b="1" dirty="0"/>
              <a:t>Tilemap</a:t>
            </a:r>
            <a:r>
              <a:rPr lang="vi-VN" sz="3200" dirty="0"/>
              <a:t>, </a:t>
            </a:r>
            <a:r>
              <a:rPr lang="vi-VN" sz="3200" b="1" dirty="0"/>
              <a:t>Tilemap Collider 2D</a:t>
            </a:r>
            <a:r>
              <a:rPr lang="vi-VN" sz="3200" dirty="0"/>
              <a:t> sẽ tự động cập nhật các vùng va chạm trong giai đoạn </a:t>
            </a:r>
            <a:r>
              <a:rPr lang="vi-VN" sz="3200" b="1" dirty="0"/>
              <a:t>LateUpdate</a:t>
            </a:r>
            <a:r>
              <a:rPr lang="vi-VN" sz="3200" dirty="0"/>
              <a:t>.</a:t>
            </a:r>
          </a:p>
          <a:p>
            <a:r>
              <a:rPr lang="vi-VN" sz="3200" dirty="0"/>
              <a:t>⏩ </a:t>
            </a:r>
            <a:r>
              <a:rPr lang="vi-VN" sz="3200" b="1" dirty="0"/>
              <a:t>Hiểu đơn giản:</a:t>
            </a:r>
            <a:r>
              <a:rPr lang="vi-VN" sz="3200" dirty="0"/>
              <a:t> Nếu bạn đang tạo bản đồ game (platformer) với các ô lưới (tiles), Tilemap Collider 2D sẽ tự động xác định vùng va chạm cho mỗi ô. Điều này tiết kiệm thời gian và giảm công sức so với việc thêm Collider thủ công.</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pPr>
              <a:buFont typeface="+mj-lt"/>
              <a:buAutoNum type="arabicPeriod"/>
            </a:pPr>
            <a:r>
              <a:rPr lang="vi-VN" b="1" dirty="0"/>
              <a:t>Kết hợp để tạo vùng va chạm liền mạch:</a:t>
            </a:r>
            <a:endParaRPr lang="vi-VN" dirty="0"/>
          </a:p>
          <a:p>
            <a:pPr marL="742950" lvl="1" indent="-285750">
              <a:buFont typeface="+mj-lt"/>
              <a:buAutoNum type="arabicPeriod"/>
            </a:pPr>
            <a:r>
              <a:rPr lang="vi-VN" dirty="0"/>
              <a:t>Khi bạn thêm </a:t>
            </a:r>
            <a:r>
              <a:rPr lang="vi-VN" b="1" dirty="0"/>
              <a:t>Tilemap Collider 2D</a:t>
            </a:r>
            <a:r>
              <a:rPr lang="vi-VN" dirty="0"/>
              <a:t> và </a:t>
            </a:r>
            <a:r>
              <a:rPr lang="vi-VN" b="1" dirty="0"/>
              <a:t>Composite Collider 2D</a:t>
            </a:r>
            <a:r>
              <a:rPr lang="vi-VN" dirty="0"/>
              <a:t> vào cùng một </a:t>
            </a:r>
            <a:r>
              <a:rPr lang="vi-VN" b="1" dirty="0"/>
              <a:t>Tilemap</a:t>
            </a:r>
            <a:r>
              <a:rPr lang="vi-VN" dirty="0"/>
              <a:t>, Unity sẽ kết hợp các vùng va chạm của các ô liền kề lại với nhau.</a:t>
            </a:r>
          </a:p>
          <a:p>
            <a:pPr marL="742950" lvl="1" indent="-285750">
              <a:buFont typeface="+mj-lt"/>
              <a:buAutoNum type="arabicPeriod"/>
            </a:pPr>
            <a:r>
              <a:rPr lang="vi-VN" dirty="0"/>
              <a:t>Điều này giúp làm mượt các </a:t>
            </a:r>
            <a:r>
              <a:rPr lang="vi-VN" b="1" dirty="0"/>
              <a:t>góc</a:t>
            </a:r>
            <a:r>
              <a:rPr lang="vi-VN" dirty="0"/>
              <a:t> và </a:t>
            </a:r>
            <a:r>
              <a:rPr lang="vi-VN" b="1" dirty="0"/>
              <a:t>cạnh</a:t>
            </a:r>
            <a:r>
              <a:rPr lang="vi-VN" dirty="0"/>
              <a:t> giữa các vùng va chạm của các ô (tiles).</a:t>
            </a:r>
          </a:p>
          <a:p>
            <a:pPr>
              <a:buFont typeface="+mj-lt"/>
              <a:buAutoNum type="arabicPeriod"/>
            </a:pPr>
            <a:r>
              <a:rPr lang="vi-VN" b="1" dirty="0"/>
              <a:t>Tối ưu hóa hiệu suất:</a:t>
            </a:r>
            <a:endParaRPr lang="vi-VN" dirty="0"/>
          </a:p>
          <a:p>
            <a:pPr marL="742950" lvl="1" indent="-285750">
              <a:buFont typeface="+mj-lt"/>
              <a:buAutoNum type="arabicPeriod"/>
            </a:pPr>
            <a:r>
              <a:rPr lang="vi-VN" dirty="0"/>
              <a:t>Sử dụng cả hai thành phần này sẽ </a:t>
            </a:r>
            <a:r>
              <a:rPr lang="vi-VN" b="1" dirty="0"/>
              <a:t>giảm số lượng Collider riêng lẻ</a:t>
            </a:r>
            <a:r>
              <a:rPr lang="vi-VN" dirty="0"/>
              <a:t> trong quá trình cập nhật vật lý.</a:t>
            </a:r>
          </a:p>
          <a:p>
            <a:pPr marL="742950" lvl="1" indent="-285750">
              <a:buFont typeface="+mj-lt"/>
              <a:buAutoNum type="arabicPeriod"/>
            </a:pPr>
            <a:r>
              <a:rPr lang="vi-VN" dirty="0"/>
              <a:t>Giảm khối lượng tính toán và </a:t>
            </a:r>
            <a:r>
              <a:rPr lang="vi-VN" b="1" dirty="0"/>
              <a:t>tăng hiệu suất tổng thể</a:t>
            </a:r>
            <a:r>
              <a:rPr lang="vi-VN" dirty="0"/>
              <a:t> của game.</a:t>
            </a:r>
          </a:p>
          <a:p>
            <a:r>
              <a:rPr lang="vi-VN" b="1" dirty="0"/>
              <a:t>Ví dụ thực tế:</a:t>
            </a:r>
          </a:p>
          <a:p>
            <a:pPr>
              <a:buFont typeface="Arial" panose="020B0604020202020204" pitchFamily="34" charset="0"/>
              <a:buChar char="•"/>
            </a:pPr>
            <a:r>
              <a:rPr lang="vi-VN" dirty="0"/>
              <a:t>Khi bạn xây dựng một bản đồ với nhiều ô lưới (tiles) như trong game platformer, từng ô sẽ có Collider riêng biệt nếu chỉ dùng </a:t>
            </a:r>
            <a:r>
              <a:rPr lang="vi-VN" b="1" dirty="0"/>
              <a:t>Tilemap Collider 2D</a:t>
            </a:r>
            <a:r>
              <a:rPr lang="vi-VN" dirty="0"/>
              <a:t>.</a:t>
            </a:r>
          </a:p>
          <a:p>
            <a:pPr>
              <a:buFont typeface="Arial" panose="020B0604020202020204" pitchFamily="34" charset="0"/>
              <a:buChar char="•"/>
            </a:pPr>
            <a:r>
              <a:rPr lang="vi-VN" dirty="0"/>
              <a:t>Nhưng khi thêm </a:t>
            </a:r>
            <a:r>
              <a:rPr lang="vi-VN" b="1" dirty="0"/>
              <a:t>Composite Collider 2D</a:t>
            </a:r>
            <a:r>
              <a:rPr lang="vi-VN" dirty="0"/>
              <a:t>, Unity sẽ hợp nhất các vùng va chạm, biến chúng thành một vùng duy nhất, liền mạch hơn.</a:t>
            </a:r>
          </a:p>
          <a:p>
            <a:endParaRPr lang="en-VN" dirty="0"/>
          </a:p>
        </p:txBody>
      </p:sp>
      <p:sp>
        <p:nvSpPr>
          <p:cNvPr id="4" name="Slide Number Placeholder 3"/>
          <p:cNvSpPr>
            <a:spLocks noGrp="1"/>
          </p:cNvSpPr>
          <p:nvPr>
            <p:ph type="sldNum" idx="6"/>
          </p:nvPr>
        </p:nvSpPr>
        <p:spPr/>
        <p:txBody>
          <a:bodyPr/>
          <a:lstStyle/>
          <a:p>
            <a:pPr indent="0" algn="r">
              <a:buNone/>
            </a:pPr>
            <a:fld id="{F8746A05-0E75-49D4-A629-1B3299BBAD5C}" type="slidenum">
              <a:rPr lang="en-US" sz="1400" b="0" strike="noStrike" spc="-1" smtClean="0">
                <a:solidFill>
                  <a:srgbClr val="000000"/>
                </a:solidFill>
                <a:latin typeface="Times New Roman"/>
              </a:rPr>
              <a:t>17</a:t>
            </a:fld>
            <a:endParaRPr lang="en-US" sz="1400" b="0" strike="noStrike" spc="-1">
              <a:solidFill>
                <a:srgbClr val="000000"/>
              </a:solidFill>
              <a:latin typeface="Times New Roman"/>
            </a:endParaRPr>
          </a:p>
        </p:txBody>
      </p:sp>
    </p:spTree>
    <p:extLst>
      <p:ext uri="{BB962C8B-B14F-4D97-AF65-F5344CB8AC3E}">
        <p14:creationId xmlns:p14="http://schemas.microsoft.com/office/powerpoint/2010/main" val="33227562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pPr>
              <a:buFont typeface="+mj-lt"/>
              <a:buAutoNum type="arabicPeriod"/>
            </a:pPr>
            <a:r>
              <a:rPr lang="vi-VN" b="1" dirty="0"/>
              <a:t>OnCollisionEnter2D:</a:t>
            </a:r>
            <a:endParaRPr lang="vi-VN" dirty="0"/>
          </a:p>
          <a:p>
            <a:pPr marL="742950" lvl="1" indent="-285750">
              <a:buFont typeface="+mj-lt"/>
              <a:buAutoNum type="arabicPeriod"/>
            </a:pPr>
            <a:r>
              <a:rPr lang="vi-VN" b="1" dirty="0"/>
              <a:t>Kích hoạt:</a:t>
            </a:r>
            <a:r>
              <a:rPr lang="vi-VN" dirty="0"/>
              <a:t> Xảy ra khi </a:t>
            </a:r>
            <a:r>
              <a:rPr lang="vi-VN" b="1" dirty="0"/>
              <a:t>hai Collider chạm nhau</a:t>
            </a:r>
            <a:r>
              <a:rPr lang="vi-VN" dirty="0"/>
              <a:t>.</a:t>
            </a:r>
          </a:p>
          <a:p>
            <a:pPr marL="742950" lvl="1" indent="-285750">
              <a:buFont typeface="+mj-lt"/>
              <a:buAutoNum type="arabicPeriod"/>
            </a:pPr>
            <a:r>
              <a:rPr lang="vi-VN" b="1" dirty="0"/>
              <a:t>Ứng dụng:</a:t>
            </a:r>
            <a:r>
              <a:rPr lang="vi-VN" dirty="0"/>
              <a:t> Dùng cho các phản hồi vật lý hoặc hành động cụ thể liên quan đến va chạm.</a:t>
            </a:r>
          </a:p>
          <a:p>
            <a:pPr marL="742950" lvl="1" indent="-285750">
              <a:buFont typeface="+mj-lt"/>
              <a:buAutoNum type="arabicPeriod"/>
            </a:pPr>
            <a:r>
              <a:rPr lang="vi-VN" b="1" dirty="0"/>
              <a:t>Ví dụ:</a:t>
            </a:r>
            <a:r>
              <a:rPr lang="vi-VN" dirty="0"/>
              <a:t> Khi nhân vật va chạm với một vật thể, một âm thanh phát ra hoặc nhân vật mất máu.</a:t>
            </a:r>
          </a:p>
          <a:p>
            <a:pPr>
              <a:buFont typeface="+mj-lt"/>
              <a:buAutoNum type="arabicPeriod"/>
            </a:pPr>
            <a:r>
              <a:rPr lang="vi-VN" dirty="0"/>
              <a:t>⏩ </a:t>
            </a:r>
            <a:r>
              <a:rPr lang="vi-VN" b="1" dirty="0"/>
              <a:t>Hiểu đơn giản:</a:t>
            </a:r>
            <a:r>
              <a:rPr lang="vi-VN" dirty="0"/>
              <a:t> Nếu bạn muốn mô phỏng lực và tương tác vật lý thật sự, dùng </a:t>
            </a:r>
            <a:r>
              <a:rPr lang="vi-VN" b="1" dirty="0"/>
              <a:t>Collision</a:t>
            </a:r>
            <a:r>
              <a:rPr lang="vi-VN" dirty="0"/>
              <a:t>.</a:t>
            </a:r>
          </a:p>
          <a:p>
            <a:pPr>
              <a:buFont typeface="+mj-lt"/>
              <a:buAutoNum type="arabicPeriod" startAt="2"/>
            </a:pPr>
            <a:r>
              <a:rPr lang="vi-VN" b="1" dirty="0"/>
              <a:t>OnTriggerEnter2D:</a:t>
            </a:r>
            <a:endParaRPr lang="vi-VN" dirty="0"/>
          </a:p>
          <a:p>
            <a:pPr marL="742950" lvl="1" indent="-285750">
              <a:buFont typeface="+mj-lt"/>
              <a:buAutoNum type="arabicPeriod" startAt="2"/>
            </a:pPr>
            <a:r>
              <a:rPr lang="vi-VN" b="1" dirty="0"/>
              <a:t>Kích hoạt:</a:t>
            </a:r>
            <a:r>
              <a:rPr lang="vi-VN" dirty="0"/>
              <a:t> Xảy ra khi một vật thể </a:t>
            </a:r>
            <a:r>
              <a:rPr lang="vi-VN" b="1" dirty="0"/>
              <a:t>đi vào vùng Trigger</a:t>
            </a:r>
            <a:r>
              <a:rPr lang="vi-VN" dirty="0"/>
              <a:t> mà không có phản hồi vật lý (không va chạm thật sự).</a:t>
            </a:r>
          </a:p>
          <a:p>
            <a:pPr marL="742950" lvl="1" indent="-285750">
              <a:buFont typeface="+mj-lt"/>
              <a:buAutoNum type="arabicPeriod" startAt="2"/>
            </a:pPr>
            <a:r>
              <a:rPr lang="vi-VN" b="1" dirty="0"/>
              <a:t>Ứng dụng:</a:t>
            </a:r>
            <a:r>
              <a:rPr lang="vi-VN" dirty="0"/>
              <a:t> Dùng để phát hiện tương tác mà không cần va chạm, chẳng hạn như mở cửa khi nhân vật bước vào vùng trigger.</a:t>
            </a:r>
          </a:p>
          <a:p>
            <a:pPr marL="742950" lvl="1" indent="-285750">
              <a:buFont typeface="+mj-lt"/>
              <a:buAutoNum type="arabicPeriod" startAt="2"/>
            </a:pPr>
            <a:r>
              <a:rPr lang="vi-VN" b="1" dirty="0"/>
              <a:t>Lưu ý:</a:t>
            </a:r>
            <a:r>
              <a:rPr lang="vi-VN" dirty="0"/>
              <a:t> Để sử dụng Trigger, bật tùy chọn </a:t>
            </a:r>
            <a:r>
              <a:rPr lang="vi-VN" b="1" dirty="0"/>
              <a:t>"Is Trigger"</a:t>
            </a:r>
            <a:r>
              <a:rPr lang="vi-VN" dirty="0"/>
              <a:t> trong Collider.</a:t>
            </a:r>
          </a:p>
          <a:p>
            <a:pPr>
              <a:buFont typeface="+mj-lt"/>
              <a:buAutoNum type="arabicPeriod" startAt="2"/>
            </a:pPr>
            <a:r>
              <a:rPr lang="vi-VN" dirty="0"/>
              <a:t>⏩ </a:t>
            </a:r>
            <a:r>
              <a:rPr lang="vi-VN" b="1" dirty="0"/>
              <a:t>Hiểu đơn giản:</a:t>
            </a:r>
            <a:r>
              <a:rPr lang="vi-VN" dirty="0"/>
              <a:t> Trigger giúp phát hiện đối tượng "đi qua" mà không cần hiệu ứng va chạm.</a:t>
            </a:r>
          </a:p>
          <a:p>
            <a:endParaRPr lang="en-VN" dirty="0"/>
          </a:p>
        </p:txBody>
      </p:sp>
      <p:sp>
        <p:nvSpPr>
          <p:cNvPr id="4" name="Slide Number Placeholder 3"/>
          <p:cNvSpPr>
            <a:spLocks noGrp="1"/>
          </p:cNvSpPr>
          <p:nvPr>
            <p:ph type="sldNum" idx="6"/>
          </p:nvPr>
        </p:nvSpPr>
        <p:spPr/>
        <p:txBody>
          <a:bodyPr/>
          <a:lstStyle/>
          <a:p>
            <a:pPr indent="0" algn="r">
              <a:buNone/>
            </a:pPr>
            <a:fld id="{F8746A05-0E75-49D4-A629-1B3299BBAD5C}" type="slidenum">
              <a:rPr lang="en-US" sz="1400" b="0" strike="noStrike" spc="-1" smtClean="0">
                <a:solidFill>
                  <a:srgbClr val="000000"/>
                </a:solidFill>
                <a:latin typeface="Times New Roman"/>
              </a:rPr>
              <a:t>18</a:t>
            </a:fld>
            <a:endParaRPr lang="en-US" sz="1400" b="0" strike="noStrike" spc="-1">
              <a:solidFill>
                <a:srgbClr val="000000"/>
              </a:solidFill>
              <a:latin typeface="Times New Roman"/>
            </a:endParaRPr>
          </a:p>
        </p:txBody>
      </p:sp>
    </p:spTree>
    <p:extLst>
      <p:ext uri="{BB962C8B-B14F-4D97-AF65-F5344CB8AC3E}">
        <p14:creationId xmlns:p14="http://schemas.microsoft.com/office/powerpoint/2010/main" val="37539658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r>
              <a:rPr lang="vi-VN" b="1" dirty="0"/>
              <a:t>Khái niệm về Collision (Va chạm):</a:t>
            </a:r>
          </a:p>
          <a:p>
            <a:pPr>
              <a:buFont typeface="Arial" panose="020B0604020202020204" pitchFamily="34" charset="0"/>
              <a:buChar char="•"/>
            </a:pPr>
            <a:r>
              <a:rPr lang="vi-VN" b="1" dirty="0"/>
              <a:t>Collision</a:t>
            </a:r>
            <a:r>
              <a:rPr lang="vi-VN" dirty="0"/>
              <a:t> là quá trình nhận biết khi hai hoặc nhiều đối tượng trong môi trường game </a:t>
            </a:r>
            <a:r>
              <a:rPr lang="vi-VN" b="1" dirty="0"/>
              <a:t>giao nhau</a:t>
            </a:r>
            <a:r>
              <a:rPr lang="vi-VN" dirty="0"/>
              <a:t>.</a:t>
            </a:r>
          </a:p>
          <a:p>
            <a:pPr>
              <a:buFont typeface="Arial" panose="020B0604020202020204" pitchFamily="34" charset="0"/>
              <a:buChar char="•"/>
            </a:pPr>
            <a:r>
              <a:rPr lang="vi-VN" dirty="0"/>
              <a:t>Việc phát hiện va chạm rất quan trọng trong game để đảm bảo rằng các đối tượng tương tác với nhau một cách hợp lý.</a:t>
            </a:r>
          </a:p>
          <a:p>
            <a:r>
              <a:rPr lang="vi-VN" b="1" dirty="0"/>
              <a:t>Các khái niệm chính:</a:t>
            </a:r>
          </a:p>
          <a:p>
            <a:pPr>
              <a:buFont typeface="+mj-lt"/>
              <a:buAutoNum type="arabicPeriod"/>
            </a:pPr>
            <a:r>
              <a:rPr lang="vi-VN" b="1" dirty="0"/>
              <a:t>Intersection Recognition (Nhận biết giao nhau):</a:t>
            </a:r>
            <a:endParaRPr lang="vi-VN" dirty="0"/>
          </a:p>
          <a:p>
            <a:pPr marL="742950" lvl="1" indent="-285750">
              <a:buFont typeface="+mj-lt"/>
              <a:buAutoNum type="arabicPeriod"/>
            </a:pPr>
            <a:r>
              <a:rPr lang="vi-VN" dirty="0"/>
              <a:t>Xác định thời điểm các đối tượng trong game gặp nhau hoặc cắt nhau.</a:t>
            </a:r>
          </a:p>
          <a:p>
            <a:pPr marL="742950" lvl="1" indent="-285750">
              <a:buFont typeface="+mj-lt"/>
              <a:buAutoNum type="arabicPeriod"/>
            </a:pPr>
            <a:r>
              <a:rPr lang="vi-VN" dirty="0"/>
              <a:t>Ví dụ: Nhân vật chính và một bức tường va chạm, Unity sẽ nhận diện sự kiện này để xử lý.</a:t>
            </a:r>
          </a:p>
          <a:p>
            <a:pPr>
              <a:buFont typeface="+mj-lt"/>
              <a:buAutoNum type="arabicPeriod"/>
            </a:pPr>
            <a:r>
              <a:rPr lang="vi-VN" b="1" dirty="0"/>
              <a:t>Event Triggering (Kích hoạt sự kiện):</a:t>
            </a:r>
            <a:endParaRPr lang="vi-VN" dirty="0"/>
          </a:p>
          <a:p>
            <a:pPr marL="742950" lvl="1" indent="-285750">
              <a:buFont typeface="+mj-lt"/>
              <a:buAutoNum type="arabicPeriod"/>
            </a:pPr>
            <a:r>
              <a:rPr lang="vi-VN" dirty="0"/>
              <a:t>Đây là bước quan trọng để kích hoạt các hành động dựa trên va chạm.</a:t>
            </a:r>
          </a:p>
          <a:p>
            <a:pPr marL="742950" lvl="1" indent="-285750">
              <a:buFont typeface="+mj-lt"/>
              <a:buAutoNum type="arabicPeriod"/>
            </a:pPr>
            <a:r>
              <a:rPr lang="vi-VN" dirty="0"/>
              <a:t>Ví dụ: Khi hai nhân vật trong game va chạm, sự kiện giảm máu sẽ được kích hoạt.</a:t>
            </a:r>
          </a:p>
          <a:p>
            <a:r>
              <a:rPr lang="vi-VN" b="1" dirty="0"/>
              <a:t>Ví dụ minh họa:</a:t>
            </a:r>
          </a:p>
          <a:p>
            <a:pPr>
              <a:buFont typeface="Arial" panose="020B0604020202020204" pitchFamily="34" charset="0"/>
              <a:buChar char="•"/>
            </a:pPr>
            <a:r>
              <a:rPr lang="vi-VN" b="1" dirty="0"/>
              <a:t>Tình huống:</a:t>
            </a:r>
            <a:r>
              <a:rPr lang="vi-VN" dirty="0"/>
              <a:t> Hai nhân vật trong game va chạm với nhau.</a:t>
            </a:r>
          </a:p>
          <a:p>
            <a:pPr>
              <a:buFont typeface="Arial" panose="020B0604020202020204" pitchFamily="34" charset="0"/>
              <a:buChar char="•"/>
            </a:pPr>
            <a:r>
              <a:rPr lang="vi-VN" b="1" dirty="0"/>
              <a:t>Hành động:</a:t>
            </a:r>
            <a:r>
              <a:rPr lang="vi-VN" dirty="0"/>
              <a:t> Sự kiện giảm máu được kích hoạt để phản ánh va chạm.</a:t>
            </a:r>
          </a:p>
          <a:p>
            <a:endParaRPr lang="en-VN" b="1" dirty="0"/>
          </a:p>
        </p:txBody>
      </p:sp>
      <p:sp>
        <p:nvSpPr>
          <p:cNvPr id="4" name="Slide Number Placeholder 3"/>
          <p:cNvSpPr>
            <a:spLocks noGrp="1"/>
          </p:cNvSpPr>
          <p:nvPr>
            <p:ph type="sldNum" idx="6"/>
          </p:nvPr>
        </p:nvSpPr>
        <p:spPr/>
        <p:txBody>
          <a:bodyPr/>
          <a:lstStyle/>
          <a:p>
            <a:pPr indent="0" algn="r">
              <a:buNone/>
            </a:pPr>
            <a:fld id="{F8746A05-0E75-49D4-A629-1B3299BBAD5C}" type="slidenum">
              <a:rPr lang="en-US" sz="1400" b="0" strike="noStrike" spc="-1" smtClean="0">
                <a:solidFill>
                  <a:srgbClr val="000000"/>
                </a:solidFill>
                <a:latin typeface="Times New Roman"/>
              </a:rPr>
              <a:t>19</a:t>
            </a:fld>
            <a:endParaRPr lang="en-US" sz="1400" b="0" strike="noStrike" spc="-1">
              <a:solidFill>
                <a:srgbClr val="000000"/>
              </a:solidFill>
              <a:latin typeface="Times New Roman"/>
            </a:endParaRPr>
          </a:p>
        </p:txBody>
      </p:sp>
    </p:spTree>
    <p:extLst>
      <p:ext uri="{BB962C8B-B14F-4D97-AF65-F5344CB8AC3E}">
        <p14:creationId xmlns:p14="http://schemas.microsoft.com/office/powerpoint/2010/main" val="11575137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idx="6"/>
          </p:nvPr>
        </p:nvSpPr>
        <p:spPr/>
        <p:txBody>
          <a:bodyPr/>
          <a:lstStyle/>
          <a:p>
            <a:pPr indent="0" algn="r">
              <a:buNone/>
            </a:pPr>
            <a:fld id="{F8746A05-0E75-49D4-A629-1B3299BBAD5C}" type="slidenum">
              <a:rPr lang="en-US" sz="1400" b="0" strike="noStrike" spc="-1" smtClean="0">
                <a:solidFill>
                  <a:srgbClr val="000000"/>
                </a:solidFill>
                <a:latin typeface="Times New Roman"/>
              </a:rPr>
              <a:t>20</a:t>
            </a:fld>
            <a:endParaRPr lang="en-US" sz="1400" b="0" strike="noStrike" spc="-1">
              <a:solidFill>
                <a:srgbClr val="000000"/>
              </a:solidFill>
              <a:latin typeface="Times New Roman"/>
            </a:endParaRPr>
          </a:p>
        </p:txBody>
      </p:sp>
    </p:spTree>
    <p:extLst>
      <p:ext uri="{BB962C8B-B14F-4D97-AF65-F5344CB8AC3E}">
        <p14:creationId xmlns:p14="http://schemas.microsoft.com/office/powerpoint/2010/main" val="40953969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 name="PlaceHolder 1"/>
          <p:cNvSpPr>
            <a:spLocks noGrp="1" noRot="1" noChangeAspect="1"/>
          </p:cNvSpPr>
          <p:nvPr>
            <p:ph type="sldImg"/>
          </p:nvPr>
        </p:nvSpPr>
        <p:spPr>
          <a:xfrm>
            <a:off x="217488" y="812800"/>
            <a:ext cx="7121525" cy="4005263"/>
          </a:xfrm>
          <a:prstGeom prst="rect">
            <a:avLst/>
          </a:prstGeom>
          <a:ln w="0">
            <a:noFill/>
          </a:ln>
        </p:spPr>
      </p:sp>
      <p:sp>
        <p:nvSpPr>
          <p:cNvPr id="260" name="PlaceHolder 2"/>
          <p:cNvSpPr>
            <a:spLocks noGrp="1"/>
          </p:cNvSpPr>
          <p:nvPr>
            <p:ph type="body"/>
          </p:nvPr>
        </p:nvSpPr>
        <p:spPr>
          <a:xfrm>
            <a:off x="756000" y="5078520"/>
            <a:ext cx="6044400" cy="4807800"/>
          </a:xfrm>
          <a:prstGeom prst="rect">
            <a:avLst/>
          </a:prstGeom>
          <a:noFill/>
          <a:ln w="0">
            <a:noFill/>
          </a:ln>
        </p:spPr>
        <p:txBody>
          <a:bodyPr lIns="0" tIns="0" rIns="0" bIns="0" anchor="t">
            <a:noAutofit/>
          </a:bodyPr>
          <a:lstStyle/>
          <a:p>
            <a:pPr marL="216000" indent="0">
              <a:lnSpc>
                <a:spcPct val="100000"/>
              </a:lnSpc>
              <a:buNone/>
              <a:tabLst>
                <a:tab pos="0" algn="l"/>
              </a:tabLst>
            </a:pPr>
            <a:r>
              <a:rPr lang="en-US" sz="2000" b="0" strike="noStrike" spc="-1" dirty="0">
                <a:solidFill>
                  <a:srgbClr val="000000"/>
                </a:solidFill>
                <a:latin typeface="Arial"/>
              </a:rPr>
              <a:t>Sweep-based CCD: </a:t>
            </a:r>
            <a:r>
              <a:rPr lang="en-US" sz="2000" b="0" strike="noStrike" spc="-1" dirty="0" err="1">
                <a:solidFill>
                  <a:srgbClr val="000000"/>
                </a:solidFill>
                <a:latin typeface="Arial"/>
              </a:rPr>
              <a:t>giả</a:t>
            </a:r>
            <a:r>
              <a:rPr lang="en-US" sz="2000" b="0" strike="noStrike" spc="-1" dirty="0">
                <a:solidFill>
                  <a:srgbClr val="000000"/>
                </a:solidFill>
                <a:latin typeface="Arial"/>
              </a:rPr>
              <a:t> </a:t>
            </a:r>
            <a:r>
              <a:rPr lang="en-US" sz="2000" b="0" strike="noStrike" spc="-1" dirty="0" err="1">
                <a:solidFill>
                  <a:srgbClr val="000000"/>
                </a:solidFill>
                <a:latin typeface="Arial"/>
              </a:rPr>
              <a:t>lập</a:t>
            </a:r>
            <a:r>
              <a:rPr lang="en-US" sz="2000" b="0" strike="noStrike" spc="-1" dirty="0">
                <a:solidFill>
                  <a:srgbClr val="000000"/>
                </a:solidFill>
                <a:latin typeface="Arial"/>
              </a:rPr>
              <a:t> </a:t>
            </a:r>
            <a:r>
              <a:rPr lang="en-US" sz="2000" b="0" strike="noStrike" spc="-1" dirty="0" err="1">
                <a:solidFill>
                  <a:srgbClr val="000000"/>
                </a:solidFill>
                <a:latin typeface="Arial"/>
              </a:rPr>
              <a:t>việc</a:t>
            </a:r>
            <a:r>
              <a:rPr lang="en-US" sz="2000" b="0" strike="noStrike" spc="-1" dirty="0">
                <a:solidFill>
                  <a:srgbClr val="000000"/>
                </a:solidFill>
                <a:latin typeface="Arial"/>
              </a:rPr>
              <a:t> di </a:t>
            </a:r>
            <a:r>
              <a:rPr lang="en-US" sz="2000" b="0" strike="noStrike" spc="-1" dirty="0" err="1">
                <a:solidFill>
                  <a:srgbClr val="000000"/>
                </a:solidFill>
                <a:latin typeface="Arial"/>
              </a:rPr>
              <a:t>chuyển</a:t>
            </a:r>
            <a:r>
              <a:rPr lang="en-US" sz="2000" b="0" strike="noStrike" spc="-1" dirty="0">
                <a:solidFill>
                  <a:srgbClr val="000000"/>
                </a:solidFill>
                <a:latin typeface="Arial"/>
              </a:rPr>
              <a:t> </a:t>
            </a:r>
            <a:r>
              <a:rPr lang="en-US" sz="2000" b="0" strike="noStrike" spc="-1" dirty="0" err="1">
                <a:solidFill>
                  <a:srgbClr val="000000"/>
                </a:solidFill>
                <a:latin typeface="Arial"/>
              </a:rPr>
              <a:t>đối</a:t>
            </a:r>
            <a:r>
              <a:rPr lang="en-US" sz="2000" b="0" strike="noStrike" spc="-1" dirty="0">
                <a:solidFill>
                  <a:srgbClr val="000000"/>
                </a:solidFill>
                <a:latin typeface="Arial"/>
              </a:rPr>
              <a:t> </a:t>
            </a:r>
            <a:r>
              <a:rPr lang="en-US" sz="2000" b="0" strike="noStrike" spc="-1" dirty="0" err="1">
                <a:solidFill>
                  <a:srgbClr val="000000"/>
                </a:solidFill>
                <a:latin typeface="Arial"/>
              </a:rPr>
              <a:t>tượng</a:t>
            </a:r>
            <a:r>
              <a:rPr lang="en-US" sz="2000" b="0" strike="noStrike" spc="-1" dirty="0">
                <a:solidFill>
                  <a:srgbClr val="000000"/>
                </a:solidFill>
                <a:latin typeface="Arial"/>
              </a:rPr>
              <a:t> </a:t>
            </a:r>
            <a:r>
              <a:rPr lang="en-US" sz="2000" b="0" strike="noStrike" spc="-1" dirty="0" err="1">
                <a:solidFill>
                  <a:srgbClr val="000000"/>
                </a:solidFill>
                <a:latin typeface="Arial"/>
              </a:rPr>
              <a:t>từ</a:t>
            </a:r>
            <a:r>
              <a:rPr lang="en-US" sz="2000" b="0" strike="noStrike" spc="-1" dirty="0">
                <a:solidFill>
                  <a:srgbClr val="000000"/>
                </a:solidFill>
                <a:latin typeface="Arial"/>
              </a:rPr>
              <a:t> </a:t>
            </a:r>
            <a:r>
              <a:rPr lang="en-US" sz="2000" b="0" strike="noStrike" spc="-1" dirty="0" err="1">
                <a:solidFill>
                  <a:srgbClr val="000000"/>
                </a:solidFill>
                <a:latin typeface="Arial"/>
              </a:rPr>
              <a:t>vị</a:t>
            </a:r>
            <a:r>
              <a:rPr lang="en-US" sz="2000" b="0" strike="noStrike" spc="-1" dirty="0">
                <a:solidFill>
                  <a:srgbClr val="000000"/>
                </a:solidFill>
                <a:latin typeface="Arial"/>
              </a:rPr>
              <a:t> </a:t>
            </a:r>
            <a:r>
              <a:rPr lang="en-US" sz="2000" b="0" strike="noStrike" spc="-1" dirty="0" err="1">
                <a:solidFill>
                  <a:srgbClr val="000000"/>
                </a:solidFill>
                <a:latin typeface="Arial"/>
              </a:rPr>
              <a:t>trí</a:t>
            </a:r>
            <a:r>
              <a:rPr lang="en-US" sz="2000" b="0" strike="noStrike" spc="-1" dirty="0">
                <a:solidFill>
                  <a:srgbClr val="000000"/>
                </a:solidFill>
                <a:latin typeface="Arial"/>
              </a:rPr>
              <a:t> </a:t>
            </a:r>
            <a:r>
              <a:rPr lang="en-US" sz="2000" b="0" strike="noStrike" spc="-1" dirty="0" err="1">
                <a:solidFill>
                  <a:srgbClr val="000000"/>
                </a:solidFill>
                <a:latin typeface="Arial"/>
              </a:rPr>
              <a:t>cũ</a:t>
            </a:r>
            <a:r>
              <a:rPr lang="en-US" sz="2000" b="0" strike="noStrike" spc="-1" dirty="0">
                <a:solidFill>
                  <a:srgbClr val="000000"/>
                </a:solidFill>
                <a:latin typeface="Arial"/>
              </a:rPr>
              <a:t> </a:t>
            </a:r>
            <a:r>
              <a:rPr lang="en-US" sz="2000" b="0" strike="noStrike" spc="-1" dirty="0" err="1">
                <a:solidFill>
                  <a:srgbClr val="000000"/>
                </a:solidFill>
                <a:latin typeface="Arial"/>
              </a:rPr>
              <a:t>đến</a:t>
            </a:r>
            <a:r>
              <a:rPr lang="en-US" sz="2000" b="0" strike="noStrike" spc="-1" dirty="0">
                <a:solidFill>
                  <a:srgbClr val="000000"/>
                </a:solidFill>
                <a:latin typeface="Arial"/>
              </a:rPr>
              <a:t> </a:t>
            </a:r>
            <a:r>
              <a:rPr lang="en-US" sz="2000" b="0" strike="noStrike" spc="-1" dirty="0" err="1">
                <a:solidFill>
                  <a:srgbClr val="000000"/>
                </a:solidFill>
                <a:latin typeface="Arial"/>
              </a:rPr>
              <a:t>vị</a:t>
            </a:r>
            <a:r>
              <a:rPr lang="en-US" sz="2000" b="0" strike="noStrike" spc="-1" dirty="0">
                <a:solidFill>
                  <a:srgbClr val="000000"/>
                </a:solidFill>
                <a:latin typeface="Arial"/>
              </a:rPr>
              <a:t> </a:t>
            </a:r>
            <a:r>
              <a:rPr lang="en-US" sz="2000" b="0" strike="noStrike" spc="-1" dirty="0" err="1">
                <a:solidFill>
                  <a:srgbClr val="000000"/>
                </a:solidFill>
                <a:latin typeface="Arial"/>
              </a:rPr>
              <a:t>trí</a:t>
            </a:r>
            <a:r>
              <a:rPr lang="en-US" sz="2000" b="0" strike="noStrike" spc="-1" dirty="0">
                <a:solidFill>
                  <a:srgbClr val="000000"/>
                </a:solidFill>
                <a:latin typeface="Arial"/>
              </a:rPr>
              <a:t> </a:t>
            </a:r>
            <a:r>
              <a:rPr lang="en-US" sz="2000" b="0" strike="noStrike" spc="-1" dirty="0" err="1">
                <a:solidFill>
                  <a:srgbClr val="000000"/>
                </a:solidFill>
                <a:latin typeface="Arial"/>
              </a:rPr>
              <a:t>mới</a:t>
            </a:r>
            <a:r>
              <a:rPr lang="en-US" sz="2000" b="0" strike="noStrike" spc="-1" dirty="0">
                <a:solidFill>
                  <a:srgbClr val="000000"/>
                </a:solidFill>
                <a:latin typeface="Arial"/>
              </a:rPr>
              <a:t>, </a:t>
            </a:r>
            <a:r>
              <a:rPr lang="en-US" sz="2000" b="0" strike="noStrike" spc="-1" dirty="0" err="1">
                <a:solidFill>
                  <a:srgbClr val="000000"/>
                </a:solidFill>
                <a:latin typeface="Arial"/>
              </a:rPr>
              <a:t>kiểm</a:t>
            </a:r>
            <a:r>
              <a:rPr lang="en-US" sz="2000" b="0" strike="noStrike" spc="-1" dirty="0">
                <a:solidFill>
                  <a:srgbClr val="000000"/>
                </a:solidFill>
                <a:latin typeface="Arial"/>
              </a:rPr>
              <a:t> </a:t>
            </a:r>
            <a:r>
              <a:rPr lang="en-US" sz="2000" b="0" strike="noStrike" spc="-1" dirty="0" err="1">
                <a:solidFill>
                  <a:srgbClr val="000000"/>
                </a:solidFill>
                <a:latin typeface="Arial"/>
              </a:rPr>
              <a:t>tra</a:t>
            </a:r>
            <a:r>
              <a:rPr lang="en-US" sz="2000" b="0" strike="noStrike" spc="-1" dirty="0">
                <a:solidFill>
                  <a:srgbClr val="000000"/>
                </a:solidFill>
                <a:latin typeface="Arial"/>
              </a:rPr>
              <a:t> </a:t>
            </a:r>
            <a:r>
              <a:rPr lang="en-US" sz="2000" b="0" strike="noStrike" spc="-1" dirty="0" err="1">
                <a:solidFill>
                  <a:srgbClr val="000000"/>
                </a:solidFill>
                <a:latin typeface="Arial"/>
              </a:rPr>
              <a:t>va</a:t>
            </a:r>
            <a:r>
              <a:rPr lang="en-US" sz="2000" b="0" strike="noStrike" spc="-1" dirty="0">
                <a:solidFill>
                  <a:srgbClr val="000000"/>
                </a:solidFill>
                <a:latin typeface="Arial"/>
              </a:rPr>
              <a:t> </a:t>
            </a:r>
            <a:r>
              <a:rPr lang="en-US" sz="2000" b="0" strike="noStrike" spc="-1" dirty="0" err="1">
                <a:solidFill>
                  <a:srgbClr val="000000"/>
                </a:solidFill>
                <a:latin typeface="Arial"/>
              </a:rPr>
              <a:t>chạm</a:t>
            </a:r>
            <a:r>
              <a:rPr lang="en-US" sz="2000" b="0" strike="noStrike" spc="-1" dirty="0">
                <a:solidFill>
                  <a:srgbClr val="000000"/>
                </a:solidFill>
                <a:latin typeface="Arial"/>
              </a:rPr>
              <a:t> </a:t>
            </a:r>
            <a:r>
              <a:rPr lang="en-US" sz="2000" b="0" strike="noStrike" spc="-1" dirty="0" err="1">
                <a:solidFill>
                  <a:srgbClr val="000000"/>
                </a:solidFill>
                <a:latin typeface="Arial"/>
              </a:rPr>
              <a:t>dọc</a:t>
            </a:r>
            <a:r>
              <a:rPr lang="en-US" sz="2000" b="0" strike="noStrike" spc="-1" dirty="0">
                <a:solidFill>
                  <a:srgbClr val="000000"/>
                </a:solidFill>
                <a:latin typeface="Arial"/>
              </a:rPr>
              <a:t> </a:t>
            </a:r>
            <a:r>
              <a:rPr lang="en-US" sz="2000" b="0" strike="noStrike" spc="-1" dirty="0" err="1">
                <a:solidFill>
                  <a:srgbClr val="000000"/>
                </a:solidFill>
                <a:latin typeface="Arial"/>
              </a:rPr>
              <a:t>theo</a:t>
            </a:r>
            <a:r>
              <a:rPr lang="en-US" sz="2000" b="0" strike="noStrike" spc="-1" dirty="0">
                <a:solidFill>
                  <a:srgbClr val="000000"/>
                </a:solidFill>
                <a:latin typeface="Arial"/>
              </a:rPr>
              <a:t> </a:t>
            </a:r>
            <a:r>
              <a:rPr lang="en-US" sz="2000" b="0" strike="noStrike" spc="-1" dirty="0" err="1">
                <a:solidFill>
                  <a:srgbClr val="000000"/>
                </a:solidFill>
                <a:latin typeface="Arial"/>
              </a:rPr>
              <a:t>đường</a:t>
            </a:r>
            <a:r>
              <a:rPr lang="en-US" sz="2000" b="0" strike="noStrike" spc="-1" dirty="0">
                <a:solidFill>
                  <a:srgbClr val="000000"/>
                </a:solidFill>
                <a:latin typeface="Arial"/>
              </a:rPr>
              <a:t> </a:t>
            </a:r>
            <a:r>
              <a:rPr lang="en-US" sz="2000" b="0" strike="noStrike" spc="-1" dirty="0" err="1">
                <a:solidFill>
                  <a:srgbClr val="000000"/>
                </a:solidFill>
                <a:latin typeface="Arial"/>
              </a:rPr>
              <a:t>đi</a:t>
            </a:r>
            <a:r>
              <a:rPr lang="en-US" sz="2000" b="0" strike="noStrike" spc="-1" dirty="0">
                <a:solidFill>
                  <a:srgbClr val="000000"/>
                </a:solidFill>
                <a:latin typeface="Arial"/>
              </a:rPr>
              <a:t> (sweep) </a:t>
            </a:r>
            <a:r>
              <a:rPr lang="en-US" sz="2000" b="0" strike="noStrike" spc="-1" dirty="0" err="1">
                <a:solidFill>
                  <a:srgbClr val="000000"/>
                </a:solidFill>
                <a:latin typeface="Arial"/>
              </a:rPr>
              <a:t>để</a:t>
            </a:r>
            <a:r>
              <a:rPr lang="en-US" sz="2000" b="0" strike="noStrike" spc="-1" dirty="0">
                <a:solidFill>
                  <a:srgbClr val="000000"/>
                </a:solidFill>
                <a:latin typeface="Arial"/>
              </a:rPr>
              <a:t> </a:t>
            </a:r>
            <a:r>
              <a:rPr lang="en-US" sz="2000" b="0" strike="noStrike" spc="-1" dirty="0" err="1">
                <a:solidFill>
                  <a:srgbClr val="000000"/>
                </a:solidFill>
                <a:latin typeface="Arial"/>
              </a:rPr>
              <a:t>xác</a:t>
            </a:r>
            <a:r>
              <a:rPr lang="en-US" sz="2000" b="0" strike="noStrike" spc="-1" dirty="0">
                <a:solidFill>
                  <a:srgbClr val="000000"/>
                </a:solidFill>
                <a:latin typeface="Arial"/>
              </a:rPr>
              <a:t> </a:t>
            </a:r>
            <a:r>
              <a:rPr lang="en-US" sz="2000" b="0" strike="noStrike" spc="-1" dirty="0" err="1">
                <a:solidFill>
                  <a:srgbClr val="000000"/>
                </a:solidFill>
                <a:latin typeface="Arial"/>
              </a:rPr>
              <a:t>định</a:t>
            </a:r>
            <a:r>
              <a:rPr lang="en-US" sz="2000" b="0" strike="noStrike" spc="-1" dirty="0">
                <a:solidFill>
                  <a:srgbClr val="000000"/>
                </a:solidFill>
                <a:latin typeface="Arial"/>
              </a:rPr>
              <a:t> </a:t>
            </a:r>
            <a:r>
              <a:rPr lang="en-US" sz="2000" b="0" strike="noStrike" spc="-1" dirty="0" err="1">
                <a:solidFill>
                  <a:srgbClr val="000000"/>
                </a:solidFill>
                <a:latin typeface="Arial"/>
              </a:rPr>
              <a:t>nơi</a:t>
            </a:r>
            <a:r>
              <a:rPr lang="en-US" sz="2000" b="0" strike="noStrike" spc="-1" dirty="0">
                <a:solidFill>
                  <a:srgbClr val="000000"/>
                </a:solidFill>
                <a:latin typeface="Arial"/>
              </a:rPr>
              <a:t> </a:t>
            </a:r>
            <a:r>
              <a:rPr lang="en-US" sz="2000" b="0" strike="noStrike" spc="-1" dirty="0" err="1">
                <a:solidFill>
                  <a:srgbClr val="000000"/>
                </a:solidFill>
                <a:latin typeface="Arial"/>
              </a:rPr>
              <a:t>và</a:t>
            </a:r>
            <a:r>
              <a:rPr lang="en-US" sz="2000" b="0" strike="noStrike" spc="-1" dirty="0">
                <a:solidFill>
                  <a:srgbClr val="000000"/>
                </a:solidFill>
                <a:latin typeface="Arial"/>
              </a:rPr>
              <a:t> </a:t>
            </a:r>
            <a:r>
              <a:rPr lang="en-US" sz="2000" b="0" strike="noStrike" spc="-1" dirty="0" err="1">
                <a:solidFill>
                  <a:srgbClr val="000000"/>
                </a:solidFill>
                <a:latin typeface="Arial"/>
              </a:rPr>
              <a:t>thời</a:t>
            </a:r>
            <a:r>
              <a:rPr lang="en-US" sz="2000" b="0" strike="noStrike" spc="-1" dirty="0">
                <a:solidFill>
                  <a:srgbClr val="000000"/>
                </a:solidFill>
                <a:latin typeface="Arial"/>
              </a:rPr>
              <a:t> </a:t>
            </a:r>
            <a:r>
              <a:rPr lang="en-US" sz="2000" b="0" strike="noStrike" spc="-1" dirty="0" err="1">
                <a:solidFill>
                  <a:srgbClr val="000000"/>
                </a:solidFill>
                <a:latin typeface="Arial"/>
              </a:rPr>
              <a:t>điểm</a:t>
            </a:r>
            <a:r>
              <a:rPr lang="en-US" sz="2000" b="0" strike="noStrike" spc="-1" dirty="0">
                <a:solidFill>
                  <a:srgbClr val="000000"/>
                </a:solidFill>
                <a:latin typeface="Arial"/>
              </a:rPr>
              <a:t> </a:t>
            </a:r>
            <a:r>
              <a:rPr lang="en-US" sz="2000" b="0" strike="noStrike" spc="-1" dirty="0" err="1">
                <a:solidFill>
                  <a:srgbClr val="000000"/>
                </a:solidFill>
                <a:latin typeface="Arial"/>
              </a:rPr>
              <a:t>va</a:t>
            </a:r>
            <a:r>
              <a:rPr lang="en-US" sz="2000" b="0" strike="noStrike" spc="-1" dirty="0">
                <a:solidFill>
                  <a:srgbClr val="000000"/>
                </a:solidFill>
                <a:latin typeface="Arial"/>
              </a:rPr>
              <a:t> </a:t>
            </a:r>
            <a:r>
              <a:rPr lang="en-US" sz="2000" b="0" strike="noStrike" spc="-1" dirty="0" err="1">
                <a:solidFill>
                  <a:srgbClr val="000000"/>
                </a:solidFill>
                <a:latin typeface="Arial"/>
              </a:rPr>
              <a:t>chạm</a:t>
            </a:r>
            <a:r>
              <a:rPr lang="en-US" sz="2000" b="0" strike="noStrike" spc="-1" dirty="0">
                <a:solidFill>
                  <a:srgbClr val="000000"/>
                </a:solidFill>
                <a:latin typeface="Arial"/>
              </a:rPr>
              <a:t> </a:t>
            </a:r>
            <a:r>
              <a:rPr lang="en-US" sz="2000" b="0" strike="noStrike" spc="-1" dirty="0" err="1">
                <a:solidFill>
                  <a:srgbClr val="000000"/>
                </a:solidFill>
                <a:latin typeface="Arial"/>
              </a:rPr>
              <a:t>xảy</a:t>
            </a:r>
            <a:r>
              <a:rPr lang="en-US" sz="2000" b="0" strike="noStrike" spc="-1" dirty="0">
                <a:solidFill>
                  <a:srgbClr val="000000"/>
                </a:solidFill>
                <a:latin typeface="Arial"/>
              </a:rPr>
              <a:t> </a:t>
            </a:r>
            <a:r>
              <a:rPr lang="en-US" sz="2000" b="0" strike="noStrike" spc="-1" dirty="0" err="1">
                <a:solidFill>
                  <a:srgbClr val="000000"/>
                </a:solidFill>
                <a:latin typeface="Arial"/>
              </a:rPr>
              <a:t>ra.</a:t>
            </a:r>
            <a:r>
              <a:rPr lang="en-US" sz="2000" b="0" strike="noStrike" spc="-1" dirty="0">
                <a:solidFill>
                  <a:srgbClr val="000000"/>
                </a:solidFill>
                <a:latin typeface="Arial"/>
              </a:rPr>
              <a:t> </a:t>
            </a:r>
            <a:r>
              <a:rPr lang="en-US" sz="2000" b="0" strike="noStrike" spc="-1" dirty="0" err="1">
                <a:solidFill>
                  <a:srgbClr val="000000"/>
                </a:solidFill>
                <a:latin typeface="Arial"/>
              </a:rPr>
              <a:t>Chính</a:t>
            </a:r>
            <a:r>
              <a:rPr lang="en-US" sz="2000" b="0" strike="noStrike" spc="-1" dirty="0">
                <a:solidFill>
                  <a:srgbClr val="000000"/>
                </a:solidFill>
                <a:latin typeface="Arial"/>
              </a:rPr>
              <a:t> </a:t>
            </a:r>
            <a:r>
              <a:rPr lang="en-US" sz="2000" b="0" strike="noStrike" spc="-1" dirty="0" err="1">
                <a:solidFill>
                  <a:srgbClr val="000000"/>
                </a:solidFill>
                <a:latin typeface="Arial"/>
              </a:rPr>
              <a:t>xác</a:t>
            </a:r>
            <a:r>
              <a:rPr lang="en-US" sz="2000" b="0" strike="noStrike" spc="-1" dirty="0">
                <a:solidFill>
                  <a:srgbClr val="000000"/>
                </a:solidFill>
                <a:latin typeface="Arial"/>
              </a:rPr>
              <a:t> </a:t>
            </a:r>
            <a:r>
              <a:rPr lang="en-US" sz="2000" b="0" strike="noStrike" spc="-1" dirty="0" err="1">
                <a:solidFill>
                  <a:srgbClr val="000000"/>
                </a:solidFill>
                <a:latin typeface="Arial"/>
              </a:rPr>
              <a:t>cao</a:t>
            </a:r>
            <a:r>
              <a:rPr lang="en-US" sz="2000" b="0" strike="noStrike" spc="-1" dirty="0">
                <a:solidFill>
                  <a:srgbClr val="000000"/>
                </a:solidFill>
                <a:latin typeface="Arial"/>
              </a:rPr>
              <a:t>, </a:t>
            </a:r>
            <a:r>
              <a:rPr lang="en-US" sz="2000" b="0" strike="noStrike" spc="-1" dirty="0" err="1">
                <a:solidFill>
                  <a:srgbClr val="000000"/>
                </a:solidFill>
                <a:latin typeface="Arial"/>
              </a:rPr>
              <a:t>tốn</a:t>
            </a:r>
            <a:r>
              <a:rPr lang="en-US" sz="2000" b="0" strike="noStrike" spc="-1" dirty="0">
                <a:solidFill>
                  <a:srgbClr val="000000"/>
                </a:solidFill>
                <a:latin typeface="Arial"/>
              </a:rPr>
              <a:t> </a:t>
            </a:r>
            <a:r>
              <a:rPr lang="en-US" sz="2000" b="0" strike="noStrike" spc="-1" dirty="0" err="1">
                <a:solidFill>
                  <a:srgbClr val="000000"/>
                </a:solidFill>
                <a:latin typeface="Arial"/>
              </a:rPr>
              <a:t>tài</a:t>
            </a:r>
            <a:r>
              <a:rPr lang="en-US" sz="2000" b="0" strike="noStrike" spc="-1" dirty="0">
                <a:solidFill>
                  <a:srgbClr val="000000"/>
                </a:solidFill>
                <a:latin typeface="Arial"/>
              </a:rPr>
              <a:t> </a:t>
            </a:r>
            <a:r>
              <a:rPr lang="en-US" sz="2000" b="0" strike="noStrike" spc="-1" dirty="0" err="1">
                <a:solidFill>
                  <a:srgbClr val="000000"/>
                </a:solidFill>
                <a:latin typeface="Arial"/>
              </a:rPr>
              <a:t>nguyên</a:t>
            </a:r>
            <a:endParaRPr lang="en-US" sz="2000" b="0" strike="noStrike" spc="-1" dirty="0">
              <a:solidFill>
                <a:srgbClr val="000000"/>
              </a:solidFill>
              <a:latin typeface="Arial"/>
            </a:endParaRPr>
          </a:p>
          <a:p>
            <a:pPr marL="216000" indent="0">
              <a:lnSpc>
                <a:spcPct val="100000"/>
              </a:lnSpc>
              <a:buNone/>
              <a:tabLst>
                <a:tab pos="0" algn="l"/>
              </a:tabLst>
            </a:pPr>
            <a:r>
              <a:rPr lang="en-US" sz="2000" b="0" strike="noStrike" spc="-1" dirty="0">
                <a:solidFill>
                  <a:srgbClr val="000000"/>
                </a:solidFill>
                <a:latin typeface="Arial"/>
              </a:rPr>
              <a:t>Speculative CCD: </a:t>
            </a:r>
            <a:r>
              <a:rPr lang="en-US" sz="2000" b="0" strike="noStrike" spc="-1" dirty="0" err="1">
                <a:solidFill>
                  <a:srgbClr val="000000"/>
                </a:solidFill>
                <a:latin typeface="Arial"/>
              </a:rPr>
              <a:t>dự</a:t>
            </a:r>
            <a:r>
              <a:rPr lang="en-US" sz="2000" b="0" strike="noStrike" spc="-1" dirty="0">
                <a:solidFill>
                  <a:srgbClr val="000000"/>
                </a:solidFill>
                <a:latin typeface="Arial"/>
              </a:rPr>
              <a:t> </a:t>
            </a:r>
            <a:r>
              <a:rPr lang="en-US" sz="2000" b="0" strike="noStrike" spc="-1" dirty="0" err="1">
                <a:solidFill>
                  <a:srgbClr val="000000"/>
                </a:solidFill>
                <a:latin typeface="Arial"/>
              </a:rPr>
              <a:t>đoán</a:t>
            </a:r>
            <a:r>
              <a:rPr lang="en-US" sz="2000" b="0" strike="noStrike" spc="-1" dirty="0">
                <a:solidFill>
                  <a:srgbClr val="000000"/>
                </a:solidFill>
                <a:latin typeface="Arial"/>
              </a:rPr>
              <a:t> </a:t>
            </a:r>
            <a:r>
              <a:rPr lang="en-US" sz="2000" b="0" strike="noStrike" spc="-1" dirty="0" err="1">
                <a:solidFill>
                  <a:srgbClr val="000000"/>
                </a:solidFill>
                <a:latin typeface="Arial"/>
              </a:rPr>
              <a:t>sự</a:t>
            </a:r>
            <a:r>
              <a:rPr lang="en-US" sz="2000" b="0" strike="noStrike" spc="-1" dirty="0">
                <a:solidFill>
                  <a:srgbClr val="000000"/>
                </a:solidFill>
                <a:latin typeface="Arial"/>
              </a:rPr>
              <a:t> </a:t>
            </a:r>
            <a:r>
              <a:rPr lang="en-US" sz="2000" b="0" strike="noStrike" spc="-1" dirty="0" err="1">
                <a:solidFill>
                  <a:srgbClr val="000000"/>
                </a:solidFill>
                <a:latin typeface="Arial"/>
              </a:rPr>
              <a:t>va</a:t>
            </a:r>
            <a:r>
              <a:rPr lang="en-US" sz="2000" b="0" strike="noStrike" spc="-1" dirty="0">
                <a:solidFill>
                  <a:srgbClr val="000000"/>
                </a:solidFill>
                <a:latin typeface="Arial"/>
              </a:rPr>
              <a:t> </a:t>
            </a:r>
            <a:r>
              <a:rPr lang="en-US" sz="2000" b="0" strike="noStrike" spc="-1" dirty="0" err="1">
                <a:solidFill>
                  <a:srgbClr val="000000"/>
                </a:solidFill>
                <a:latin typeface="Arial"/>
              </a:rPr>
              <a:t>chạm</a:t>
            </a:r>
            <a:r>
              <a:rPr lang="en-US" sz="2000" b="0" strike="noStrike" spc="-1" dirty="0">
                <a:solidFill>
                  <a:srgbClr val="000000"/>
                </a:solidFill>
                <a:latin typeface="Arial"/>
              </a:rPr>
              <a:t> </a:t>
            </a:r>
            <a:r>
              <a:rPr lang="en-US" sz="2000" b="0" strike="noStrike" spc="-1" dirty="0" err="1">
                <a:solidFill>
                  <a:srgbClr val="000000"/>
                </a:solidFill>
                <a:latin typeface="Arial"/>
              </a:rPr>
              <a:t>trước</a:t>
            </a:r>
            <a:r>
              <a:rPr lang="en-US" sz="2000" b="0" strike="noStrike" spc="-1" dirty="0">
                <a:solidFill>
                  <a:srgbClr val="000000"/>
                </a:solidFill>
                <a:latin typeface="Arial"/>
              </a:rPr>
              <a:t> </a:t>
            </a:r>
            <a:r>
              <a:rPr lang="en-US" sz="2000" b="0" strike="noStrike" spc="-1" dirty="0" err="1">
                <a:solidFill>
                  <a:srgbClr val="000000"/>
                </a:solidFill>
                <a:latin typeface="Arial"/>
              </a:rPr>
              <a:t>khi</a:t>
            </a:r>
            <a:r>
              <a:rPr lang="en-US" sz="2000" b="0" strike="noStrike" spc="-1" dirty="0">
                <a:solidFill>
                  <a:srgbClr val="000000"/>
                </a:solidFill>
                <a:latin typeface="Arial"/>
              </a:rPr>
              <a:t> </a:t>
            </a:r>
            <a:r>
              <a:rPr lang="en-US" sz="2000" b="0" strike="noStrike" spc="-1" dirty="0" err="1">
                <a:solidFill>
                  <a:srgbClr val="000000"/>
                </a:solidFill>
                <a:latin typeface="Arial"/>
              </a:rPr>
              <a:t>nó</a:t>
            </a:r>
            <a:r>
              <a:rPr lang="en-US" sz="2000" b="0" strike="noStrike" spc="-1" dirty="0">
                <a:solidFill>
                  <a:srgbClr val="000000"/>
                </a:solidFill>
                <a:latin typeface="Arial"/>
              </a:rPr>
              <a:t> </a:t>
            </a:r>
            <a:r>
              <a:rPr lang="en-US" sz="2000" b="0" strike="noStrike" spc="-1" dirty="0" err="1">
                <a:solidFill>
                  <a:srgbClr val="000000"/>
                </a:solidFill>
                <a:latin typeface="Arial"/>
              </a:rPr>
              <a:t>xảy</a:t>
            </a:r>
            <a:r>
              <a:rPr lang="en-US" sz="2000" b="0" strike="noStrike" spc="-1" dirty="0">
                <a:solidFill>
                  <a:srgbClr val="000000"/>
                </a:solidFill>
                <a:latin typeface="Arial"/>
              </a:rPr>
              <a:t> </a:t>
            </a:r>
            <a:r>
              <a:rPr lang="en-US" sz="2000" b="0" strike="noStrike" spc="-1" dirty="0" err="1">
                <a:solidFill>
                  <a:srgbClr val="000000"/>
                </a:solidFill>
                <a:latin typeface="Arial"/>
              </a:rPr>
              <a:t>ra.</a:t>
            </a:r>
            <a:r>
              <a:rPr lang="en-US" sz="2000" b="0" strike="noStrike" spc="-1" dirty="0">
                <a:solidFill>
                  <a:srgbClr val="000000"/>
                </a:solidFill>
                <a:latin typeface="Arial"/>
              </a:rPr>
              <a:t> </a:t>
            </a:r>
            <a:r>
              <a:rPr lang="en-US" sz="2000" b="0" strike="noStrike" spc="-1" dirty="0" err="1">
                <a:solidFill>
                  <a:srgbClr val="000000"/>
                </a:solidFill>
                <a:latin typeface="Arial"/>
              </a:rPr>
              <a:t>Thay</a:t>
            </a:r>
            <a:r>
              <a:rPr lang="en-US" sz="2000" b="0" strike="noStrike" spc="-1" dirty="0">
                <a:solidFill>
                  <a:srgbClr val="000000"/>
                </a:solidFill>
                <a:latin typeface="Arial"/>
              </a:rPr>
              <a:t> </a:t>
            </a:r>
            <a:r>
              <a:rPr lang="en-US" sz="2000" b="0" strike="noStrike" spc="-1" dirty="0" err="1">
                <a:solidFill>
                  <a:srgbClr val="000000"/>
                </a:solidFill>
                <a:latin typeface="Arial"/>
              </a:rPr>
              <a:t>vì</a:t>
            </a:r>
            <a:r>
              <a:rPr lang="en-US" sz="2000" b="0" strike="noStrike" spc="-1" dirty="0">
                <a:solidFill>
                  <a:srgbClr val="000000"/>
                </a:solidFill>
                <a:latin typeface="Arial"/>
              </a:rPr>
              <a:t> </a:t>
            </a:r>
            <a:r>
              <a:rPr lang="en-US" sz="2000" b="0" strike="noStrike" spc="-1" dirty="0" err="1">
                <a:solidFill>
                  <a:srgbClr val="000000"/>
                </a:solidFill>
                <a:latin typeface="Arial"/>
              </a:rPr>
              <a:t>kiểm</a:t>
            </a:r>
            <a:r>
              <a:rPr lang="en-US" sz="2000" b="0" strike="noStrike" spc="-1" dirty="0">
                <a:solidFill>
                  <a:srgbClr val="000000"/>
                </a:solidFill>
                <a:latin typeface="Arial"/>
              </a:rPr>
              <a:t> </a:t>
            </a:r>
            <a:r>
              <a:rPr lang="en-US" sz="2000" b="0" strike="noStrike" spc="-1" dirty="0" err="1">
                <a:solidFill>
                  <a:srgbClr val="000000"/>
                </a:solidFill>
                <a:latin typeface="Arial"/>
              </a:rPr>
              <a:t>tra</a:t>
            </a:r>
            <a:r>
              <a:rPr lang="en-US" sz="2000" b="0" strike="noStrike" spc="-1" dirty="0">
                <a:solidFill>
                  <a:srgbClr val="000000"/>
                </a:solidFill>
                <a:latin typeface="Arial"/>
              </a:rPr>
              <a:t> </a:t>
            </a:r>
            <a:r>
              <a:rPr lang="en-US" sz="2000" b="0" strike="noStrike" spc="-1" dirty="0" err="1">
                <a:solidFill>
                  <a:srgbClr val="000000"/>
                </a:solidFill>
                <a:latin typeface="Arial"/>
              </a:rPr>
              <a:t>toàn</a:t>
            </a:r>
            <a:r>
              <a:rPr lang="en-US" sz="2000" b="0" strike="noStrike" spc="-1" dirty="0">
                <a:solidFill>
                  <a:srgbClr val="000000"/>
                </a:solidFill>
                <a:latin typeface="Arial"/>
              </a:rPr>
              <a:t> </a:t>
            </a:r>
            <a:r>
              <a:rPr lang="en-US" sz="2000" b="0" strike="noStrike" spc="-1" dirty="0" err="1">
                <a:solidFill>
                  <a:srgbClr val="000000"/>
                </a:solidFill>
                <a:latin typeface="Arial"/>
              </a:rPr>
              <a:t>bộ</a:t>
            </a:r>
            <a:r>
              <a:rPr lang="en-US" sz="2000" b="0" strike="noStrike" spc="-1" dirty="0">
                <a:solidFill>
                  <a:srgbClr val="000000"/>
                </a:solidFill>
                <a:latin typeface="Arial"/>
              </a:rPr>
              <a:t> </a:t>
            </a:r>
            <a:r>
              <a:rPr lang="en-US" sz="2000" b="0" strike="noStrike" spc="-1" dirty="0" err="1">
                <a:solidFill>
                  <a:srgbClr val="000000"/>
                </a:solidFill>
                <a:latin typeface="Arial"/>
              </a:rPr>
              <a:t>quá</a:t>
            </a:r>
            <a:r>
              <a:rPr lang="en-US" sz="2000" b="0" strike="noStrike" spc="-1" dirty="0">
                <a:solidFill>
                  <a:srgbClr val="000000"/>
                </a:solidFill>
                <a:latin typeface="Arial"/>
              </a:rPr>
              <a:t> </a:t>
            </a:r>
            <a:r>
              <a:rPr lang="en-US" sz="2000" b="0" strike="noStrike" spc="-1" dirty="0" err="1">
                <a:solidFill>
                  <a:srgbClr val="000000"/>
                </a:solidFill>
                <a:latin typeface="Arial"/>
              </a:rPr>
              <a:t>trình</a:t>
            </a:r>
            <a:r>
              <a:rPr lang="en-US" sz="2000" b="0" strike="noStrike" spc="-1" dirty="0">
                <a:solidFill>
                  <a:srgbClr val="000000"/>
                </a:solidFill>
                <a:latin typeface="Arial"/>
              </a:rPr>
              <a:t> di </a:t>
            </a:r>
            <a:r>
              <a:rPr lang="en-US" sz="2000" b="0" strike="noStrike" spc="-1" dirty="0" err="1">
                <a:solidFill>
                  <a:srgbClr val="000000"/>
                </a:solidFill>
                <a:latin typeface="Arial"/>
              </a:rPr>
              <a:t>chuyển</a:t>
            </a:r>
            <a:r>
              <a:rPr lang="en-US" sz="2000" b="0" strike="noStrike" spc="-1" dirty="0">
                <a:solidFill>
                  <a:srgbClr val="000000"/>
                </a:solidFill>
                <a:latin typeface="Arial"/>
              </a:rPr>
              <a:t>, </a:t>
            </a:r>
            <a:r>
              <a:rPr lang="en-US" sz="2000" b="0" strike="noStrike" spc="-1" dirty="0" err="1">
                <a:solidFill>
                  <a:srgbClr val="000000"/>
                </a:solidFill>
                <a:latin typeface="Arial"/>
              </a:rPr>
              <a:t>nó</a:t>
            </a:r>
            <a:r>
              <a:rPr lang="en-US" sz="2000" b="0" strike="noStrike" spc="-1" dirty="0">
                <a:solidFill>
                  <a:srgbClr val="000000"/>
                </a:solidFill>
                <a:latin typeface="Arial"/>
              </a:rPr>
              <a:t> </a:t>
            </a:r>
            <a:r>
              <a:rPr lang="en-US" sz="2000" b="0" strike="noStrike" spc="-1" dirty="0" err="1">
                <a:solidFill>
                  <a:srgbClr val="000000"/>
                </a:solidFill>
                <a:latin typeface="Arial"/>
              </a:rPr>
              <a:t>dự</a:t>
            </a:r>
            <a:r>
              <a:rPr lang="en-US" sz="2000" b="0" strike="noStrike" spc="-1" dirty="0">
                <a:solidFill>
                  <a:srgbClr val="000000"/>
                </a:solidFill>
                <a:latin typeface="Arial"/>
              </a:rPr>
              <a:t> </a:t>
            </a:r>
            <a:r>
              <a:rPr lang="en-US" sz="2000" b="0" strike="noStrike" spc="-1" dirty="0" err="1">
                <a:solidFill>
                  <a:srgbClr val="000000"/>
                </a:solidFill>
                <a:latin typeface="Arial"/>
              </a:rPr>
              <a:t>đoán</a:t>
            </a:r>
            <a:r>
              <a:rPr lang="en-US" sz="2000" b="0" strike="noStrike" spc="-1" dirty="0">
                <a:solidFill>
                  <a:srgbClr val="000000"/>
                </a:solidFill>
                <a:latin typeface="Arial"/>
              </a:rPr>
              <a:t> </a:t>
            </a:r>
            <a:r>
              <a:rPr lang="en-US" sz="2000" b="0" strike="noStrike" spc="-1" dirty="0" err="1">
                <a:solidFill>
                  <a:srgbClr val="000000"/>
                </a:solidFill>
                <a:latin typeface="Arial"/>
              </a:rPr>
              <a:t>và</a:t>
            </a:r>
            <a:r>
              <a:rPr lang="en-US" sz="2000" b="0" strike="noStrike" spc="-1" dirty="0">
                <a:solidFill>
                  <a:srgbClr val="000000"/>
                </a:solidFill>
                <a:latin typeface="Arial"/>
              </a:rPr>
              <a:t> </a:t>
            </a:r>
            <a:r>
              <a:rPr lang="en-US" sz="2000" b="0" strike="noStrike" spc="-1" dirty="0" err="1">
                <a:solidFill>
                  <a:srgbClr val="000000"/>
                </a:solidFill>
                <a:latin typeface="Arial"/>
              </a:rPr>
              <a:t>kiểm</a:t>
            </a:r>
            <a:r>
              <a:rPr lang="en-US" sz="2000" b="0" strike="noStrike" spc="-1" dirty="0">
                <a:solidFill>
                  <a:srgbClr val="000000"/>
                </a:solidFill>
                <a:latin typeface="Arial"/>
              </a:rPr>
              <a:t> </a:t>
            </a:r>
            <a:r>
              <a:rPr lang="en-US" sz="2000" b="0" strike="noStrike" spc="-1" dirty="0" err="1">
                <a:solidFill>
                  <a:srgbClr val="000000"/>
                </a:solidFill>
                <a:latin typeface="Arial"/>
              </a:rPr>
              <a:t>tra</a:t>
            </a:r>
            <a:r>
              <a:rPr lang="en-US" sz="2000" b="0" strike="noStrike" spc="-1" dirty="0">
                <a:solidFill>
                  <a:srgbClr val="000000"/>
                </a:solidFill>
                <a:latin typeface="Arial"/>
              </a:rPr>
              <a:t> </a:t>
            </a:r>
            <a:r>
              <a:rPr lang="en-US" sz="2000" b="0" strike="noStrike" spc="-1" dirty="0" err="1">
                <a:solidFill>
                  <a:srgbClr val="000000"/>
                </a:solidFill>
                <a:latin typeface="Arial"/>
              </a:rPr>
              <a:t>chỉ</a:t>
            </a:r>
            <a:r>
              <a:rPr lang="en-US" sz="2000" b="0" strike="noStrike" spc="-1" dirty="0">
                <a:solidFill>
                  <a:srgbClr val="000000"/>
                </a:solidFill>
                <a:latin typeface="Arial"/>
              </a:rPr>
              <a:t> </a:t>
            </a:r>
            <a:r>
              <a:rPr lang="en-US" sz="2000" b="0" strike="noStrike" spc="-1" dirty="0" err="1">
                <a:solidFill>
                  <a:srgbClr val="000000"/>
                </a:solidFill>
                <a:latin typeface="Arial"/>
              </a:rPr>
              <a:t>những</a:t>
            </a:r>
            <a:r>
              <a:rPr lang="en-US" sz="2000" b="0" strike="noStrike" spc="-1" dirty="0">
                <a:solidFill>
                  <a:srgbClr val="000000"/>
                </a:solidFill>
                <a:latin typeface="Arial"/>
              </a:rPr>
              <a:t> </a:t>
            </a:r>
            <a:r>
              <a:rPr lang="en-US" sz="2000" b="0" strike="noStrike" spc="-1" dirty="0" err="1">
                <a:solidFill>
                  <a:srgbClr val="000000"/>
                </a:solidFill>
                <a:latin typeface="Arial"/>
              </a:rPr>
              <a:t>vùng</a:t>
            </a:r>
            <a:r>
              <a:rPr lang="en-US" sz="2000" b="0" strike="noStrike" spc="-1" dirty="0">
                <a:solidFill>
                  <a:srgbClr val="000000"/>
                </a:solidFill>
                <a:latin typeface="Arial"/>
              </a:rPr>
              <a:t> </a:t>
            </a:r>
            <a:r>
              <a:rPr lang="en-US" sz="2000" b="0" strike="noStrike" spc="-1" dirty="0" err="1">
                <a:solidFill>
                  <a:srgbClr val="000000"/>
                </a:solidFill>
                <a:latin typeface="Arial"/>
              </a:rPr>
              <a:t>có</a:t>
            </a:r>
            <a:r>
              <a:rPr lang="en-US" sz="2000" b="0" strike="noStrike" spc="-1" dirty="0">
                <a:solidFill>
                  <a:srgbClr val="000000"/>
                </a:solidFill>
                <a:latin typeface="Arial"/>
              </a:rPr>
              <a:t> </a:t>
            </a:r>
            <a:r>
              <a:rPr lang="en-US" sz="2000" b="0" strike="noStrike" spc="-1" dirty="0" err="1">
                <a:solidFill>
                  <a:srgbClr val="000000"/>
                </a:solidFill>
                <a:latin typeface="Arial"/>
              </a:rPr>
              <a:t>thể</a:t>
            </a:r>
            <a:r>
              <a:rPr lang="en-US" sz="2000" b="0" strike="noStrike" spc="-1" dirty="0">
                <a:solidFill>
                  <a:srgbClr val="000000"/>
                </a:solidFill>
                <a:latin typeface="Arial"/>
              </a:rPr>
              <a:t> </a:t>
            </a:r>
            <a:r>
              <a:rPr lang="en-US" sz="2000" b="0" strike="noStrike" spc="-1" dirty="0" err="1">
                <a:solidFill>
                  <a:srgbClr val="000000"/>
                </a:solidFill>
                <a:latin typeface="Arial"/>
              </a:rPr>
              <a:t>xảy</a:t>
            </a:r>
            <a:r>
              <a:rPr lang="en-US" sz="2000" b="0" strike="noStrike" spc="-1" dirty="0">
                <a:solidFill>
                  <a:srgbClr val="000000"/>
                </a:solidFill>
                <a:latin typeface="Arial"/>
              </a:rPr>
              <a:t> </a:t>
            </a:r>
            <a:r>
              <a:rPr lang="en-US" sz="2000" b="0" strike="noStrike" spc="-1" dirty="0" err="1">
                <a:solidFill>
                  <a:srgbClr val="000000"/>
                </a:solidFill>
                <a:latin typeface="Arial"/>
              </a:rPr>
              <a:t>ra</a:t>
            </a:r>
            <a:r>
              <a:rPr lang="en-US" sz="2000" b="0" strike="noStrike" spc="-1" dirty="0">
                <a:solidFill>
                  <a:srgbClr val="000000"/>
                </a:solidFill>
                <a:latin typeface="Arial"/>
              </a:rPr>
              <a:t> </a:t>
            </a:r>
            <a:r>
              <a:rPr lang="en-US" sz="2000" b="0" strike="noStrike" spc="-1" dirty="0" err="1">
                <a:solidFill>
                  <a:srgbClr val="000000"/>
                </a:solidFill>
                <a:latin typeface="Arial"/>
              </a:rPr>
              <a:t>va</a:t>
            </a:r>
            <a:r>
              <a:rPr lang="en-US" sz="2000" b="0" strike="noStrike" spc="-1" dirty="0">
                <a:solidFill>
                  <a:srgbClr val="000000"/>
                </a:solidFill>
                <a:latin typeface="Arial"/>
              </a:rPr>
              <a:t> </a:t>
            </a:r>
            <a:r>
              <a:rPr lang="en-US" sz="2000" b="0" strike="noStrike" spc="-1" dirty="0" err="1">
                <a:solidFill>
                  <a:srgbClr val="000000"/>
                </a:solidFill>
                <a:latin typeface="Arial"/>
              </a:rPr>
              <a:t>chạm</a:t>
            </a:r>
            <a:r>
              <a:rPr lang="en-US" sz="2000" b="0" strike="noStrike" spc="-1" dirty="0">
                <a:solidFill>
                  <a:srgbClr val="000000"/>
                </a:solidFill>
                <a:latin typeface="Arial"/>
              </a:rPr>
              <a:t>. Hiệu </a:t>
            </a:r>
            <a:r>
              <a:rPr lang="en-US" sz="2000" b="0" strike="noStrike" spc="-1" dirty="0" err="1">
                <a:solidFill>
                  <a:srgbClr val="000000"/>
                </a:solidFill>
                <a:latin typeface="Arial"/>
              </a:rPr>
              <a:t>suất</a:t>
            </a:r>
            <a:r>
              <a:rPr lang="en-US" sz="2000" b="0" strike="noStrike" spc="-1" dirty="0">
                <a:solidFill>
                  <a:srgbClr val="000000"/>
                </a:solidFill>
                <a:latin typeface="Arial"/>
              </a:rPr>
              <a:t> </a:t>
            </a:r>
            <a:r>
              <a:rPr lang="en-US" sz="2000" b="0" strike="noStrike" spc="-1" dirty="0" err="1">
                <a:solidFill>
                  <a:srgbClr val="000000"/>
                </a:solidFill>
                <a:latin typeface="Arial"/>
              </a:rPr>
              <a:t>cao</a:t>
            </a:r>
            <a:r>
              <a:rPr lang="en-US" sz="2000" b="0" strike="noStrike" spc="-1" dirty="0">
                <a:solidFill>
                  <a:srgbClr val="000000"/>
                </a:solidFill>
                <a:latin typeface="Arial"/>
              </a:rPr>
              <a:t>, </a:t>
            </a:r>
            <a:r>
              <a:rPr lang="en-US" sz="2000" b="0" strike="noStrike" spc="-1" dirty="0" err="1">
                <a:solidFill>
                  <a:srgbClr val="000000"/>
                </a:solidFill>
                <a:latin typeface="Arial"/>
              </a:rPr>
              <a:t>chính</a:t>
            </a:r>
            <a:r>
              <a:rPr lang="en-US" sz="2000" b="0" strike="noStrike" spc="-1" dirty="0">
                <a:solidFill>
                  <a:srgbClr val="000000"/>
                </a:solidFill>
                <a:latin typeface="Arial"/>
              </a:rPr>
              <a:t> </a:t>
            </a:r>
            <a:r>
              <a:rPr lang="en-US" sz="2000" b="0" strike="noStrike" spc="-1" dirty="0" err="1">
                <a:solidFill>
                  <a:srgbClr val="000000"/>
                </a:solidFill>
                <a:latin typeface="Arial"/>
              </a:rPr>
              <a:t>xác</a:t>
            </a:r>
            <a:r>
              <a:rPr lang="en-US" sz="2000" b="0" strike="noStrike" spc="-1" dirty="0">
                <a:solidFill>
                  <a:srgbClr val="000000"/>
                </a:solidFill>
                <a:latin typeface="Arial"/>
              </a:rPr>
              <a:t> </a:t>
            </a:r>
            <a:r>
              <a:rPr lang="en-US" sz="2000" b="0" strike="noStrike" spc="-1" dirty="0" err="1">
                <a:solidFill>
                  <a:srgbClr val="000000"/>
                </a:solidFill>
                <a:latin typeface="Arial"/>
              </a:rPr>
              <a:t>vừa</a:t>
            </a:r>
            <a:r>
              <a:rPr lang="en-US" sz="2000" b="0" strike="noStrike" spc="-1" dirty="0">
                <a:solidFill>
                  <a:srgbClr val="000000"/>
                </a:solidFill>
                <a:latin typeface="Arial"/>
              </a:rPr>
              <a:t> </a:t>
            </a:r>
            <a:r>
              <a:rPr lang="en-US" sz="2000" b="0" strike="noStrike" spc="-1" dirty="0" err="1">
                <a:solidFill>
                  <a:srgbClr val="000000"/>
                </a:solidFill>
                <a:latin typeface="Arial"/>
              </a:rPr>
              <a:t>đủ</a:t>
            </a:r>
            <a:endParaRPr lang="en-US" sz="2000" b="0" strike="noStrike" spc="-1" dirty="0">
              <a:solidFill>
                <a:srgbClr val="000000"/>
              </a:solidFill>
              <a:latin typeface="Arial"/>
            </a:endParaRPr>
          </a:p>
          <a:p>
            <a:pPr marL="216000" indent="0">
              <a:lnSpc>
                <a:spcPct val="100000"/>
              </a:lnSpc>
              <a:buNone/>
              <a:tabLst>
                <a:tab pos="0" algn="l"/>
              </a:tabLst>
            </a:pPr>
            <a:endParaRPr lang="en-US" sz="2000" b="0" strike="noStrike" spc="-1" dirty="0">
              <a:solidFill>
                <a:srgbClr val="000000"/>
              </a:solidFill>
              <a:latin typeface="Arial"/>
            </a:endParaRPr>
          </a:p>
          <a:p>
            <a:r>
              <a:rPr lang="vi-VN" b="1" dirty="0"/>
              <a:t>Continuous Collision Detection (CCD) là gì?</a:t>
            </a:r>
          </a:p>
          <a:p>
            <a:r>
              <a:rPr lang="vi-VN" dirty="0"/>
              <a:t>CCD là cơ chế giúp đảm bảo các vật thể di chuyển nhanh </a:t>
            </a:r>
            <a:r>
              <a:rPr lang="vi-VN" b="1" dirty="0"/>
              <a:t>va chạm với các đối tượng khác</a:t>
            </a:r>
            <a:r>
              <a:rPr lang="vi-VN" dirty="0"/>
              <a:t> thay vì "xuyên qua" hoặc "chui lọt" qua chúng. Đây là vấn đề thường gặp khi các vật thể di chuyển quá nhanh, dẫn đến bỏ sót va chạm trong một khung hình (frame).</a:t>
            </a:r>
          </a:p>
          <a:p>
            <a:r>
              <a:rPr lang="vi-VN" b="1" dirty="0"/>
              <a:t>Các phương pháp CCD trong Unity:</a:t>
            </a:r>
          </a:p>
          <a:p>
            <a:pPr>
              <a:buFont typeface="+mj-lt"/>
              <a:buAutoNum type="arabicPeriod"/>
            </a:pPr>
            <a:r>
              <a:rPr lang="vi-VN" b="1" dirty="0"/>
              <a:t>Sweep-based CCD:</a:t>
            </a:r>
            <a:endParaRPr lang="vi-VN" dirty="0"/>
          </a:p>
          <a:p>
            <a:pPr marL="742950" lvl="1" indent="-285750">
              <a:buFont typeface="+mj-lt"/>
              <a:buAutoNum type="arabicPeriod"/>
            </a:pPr>
            <a:r>
              <a:rPr lang="vi-VN" b="1" dirty="0"/>
              <a:t>Cách hoạt động:</a:t>
            </a:r>
            <a:r>
              <a:rPr lang="vi-VN" dirty="0"/>
              <a:t> Kiểm tra toàn bộ đường đi của vật thể giữa hai khung hình để phát hiện va chạm.</a:t>
            </a:r>
          </a:p>
          <a:p>
            <a:pPr marL="742950" lvl="1" indent="-285750">
              <a:buFont typeface="+mj-lt"/>
              <a:buAutoNum type="arabicPeriod"/>
            </a:pPr>
            <a:r>
              <a:rPr lang="vi-VN" b="1" dirty="0"/>
              <a:t>Khi nào nên dùng:</a:t>
            </a:r>
            <a:r>
              <a:rPr lang="vi-VN" dirty="0"/>
              <a:t> Thích hợp cho các vật thể di chuyển nhanh nhưng cần kiểm tra chính xác từng bước.</a:t>
            </a:r>
          </a:p>
          <a:p>
            <a:pPr marL="742950" lvl="1" indent="-285750">
              <a:buFont typeface="+mj-lt"/>
              <a:buAutoNum type="arabicPeriod"/>
            </a:pPr>
            <a:r>
              <a:rPr lang="vi-VN" b="1" dirty="0"/>
              <a:t>Cách kích hoạt:</a:t>
            </a:r>
            <a:endParaRPr lang="vi-VN" dirty="0"/>
          </a:p>
          <a:p>
            <a:pPr marL="1143000" lvl="2" indent="-228600">
              <a:buFont typeface="+mj-lt"/>
              <a:buAutoNum type="arabicPeriod"/>
            </a:pPr>
            <a:r>
              <a:rPr lang="vi-VN" dirty="0"/>
              <a:t>Chọn một </a:t>
            </a:r>
            <a:r>
              <a:rPr lang="vi-VN" b="1" dirty="0"/>
              <a:t>Rigidbody</a:t>
            </a:r>
            <a:r>
              <a:rPr lang="vi-VN" dirty="0"/>
              <a:t> trong cửa sổ </a:t>
            </a:r>
            <a:r>
              <a:rPr lang="vi-VN" b="1" dirty="0"/>
              <a:t>Inspector</a:t>
            </a:r>
            <a:r>
              <a:rPr lang="vi-VN" dirty="0"/>
              <a:t>.</a:t>
            </a:r>
          </a:p>
          <a:p>
            <a:pPr marL="1143000" lvl="2" indent="-228600">
              <a:buFont typeface="+mj-lt"/>
              <a:buAutoNum type="arabicPeriod"/>
            </a:pPr>
            <a:r>
              <a:rPr lang="vi-VN" dirty="0"/>
              <a:t>Đặt </a:t>
            </a:r>
            <a:r>
              <a:rPr lang="vi-VN" b="1" dirty="0"/>
              <a:t>Collision Detection</a:t>
            </a:r>
            <a:r>
              <a:rPr lang="vi-VN" dirty="0"/>
              <a:t> thành </a:t>
            </a:r>
            <a:r>
              <a:rPr lang="vi-VN" b="1" dirty="0"/>
              <a:t>Continuous</a:t>
            </a:r>
            <a:r>
              <a:rPr lang="vi-VN" dirty="0"/>
              <a:t> hoặc </a:t>
            </a:r>
            <a:r>
              <a:rPr lang="vi-VN" b="1" dirty="0"/>
              <a:t>Continuous Dynamic</a:t>
            </a:r>
            <a:r>
              <a:rPr lang="vi-VN" dirty="0"/>
              <a:t>.</a:t>
            </a:r>
          </a:p>
          <a:p>
            <a:pPr>
              <a:buFont typeface="+mj-lt"/>
              <a:buAutoNum type="arabicPeriod"/>
            </a:pPr>
            <a:r>
              <a:rPr lang="vi-VN" b="1" dirty="0"/>
              <a:t>Speculative CCD:</a:t>
            </a:r>
            <a:endParaRPr lang="vi-VN" dirty="0"/>
          </a:p>
          <a:p>
            <a:pPr marL="742950" lvl="1" indent="-285750">
              <a:buFont typeface="+mj-lt"/>
              <a:buAutoNum type="arabicPeriod"/>
            </a:pPr>
            <a:r>
              <a:rPr lang="vi-VN" b="1" dirty="0"/>
              <a:t>Cách hoạt động:</a:t>
            </a:r>
            <a:r>
              <a:rPr lang="vi-VN" dirty="0"/>
              <a:t> Dự đoán trước các va chạm có thể xảy ra và xử lý chúng trước khi vật thể thật sự va chạm.</a:t>
            </a:r>
          </a:p>
          <a:p>
            <a:pPr marL="742950" lvl="1" indent="-285750">
              <a:buFont typeface="+mj-lt"/>
              <a:buAutoNum type="arabicPeriod"/>
            </a:pPr>
            <a:r>
              <a:rPr lang="vi-VN" b="1" dirty="0"/>
              <a:t>Khi nào nên dùng:</a:t>
            </a:r>
            <a:r>
              <a:rPr lang="vi-VN" dirty="0"/>
              <a:t> Thích hợp cho các tương tác vật lý nhẹ hơn, giúp hiệu suất cao hơn.</a:t>
            </a:r>
          </a:p>
          <a:p>
            <a:pPr marL="742950" lvl="1" indent="-285750">
              <a:buFont typeface="+mj-lt"/>
              <a:buAutoNum type="arabicPeriod"/>
            </a:pPr>
            <a:r>
              <a:rPr lang="vi-VN" b="1" dirty="0"/>
              <a:t>Cách kích hoạt:</a:t>
            </a:r>
            <a:endParaRPr lang="vi-VN" dirty="0"/>
          </a:p>
          <a:p>
            <a:pPr marL="1143000" lvl="2" indent="-228600">
              <a:buFont typeface="+mj-lt"/>
              <a:buAutoNum type="arabicPeriod"/>
            </a:pPr>
            <a:r>
              <a:rPr lang="vi-VN" dirty="0"/>
              <a:t>Đặt </a:t>
            </a:r>
            <a:r>
              <a:rPr lang="vi-VN" b="1" dirty="0"/>
              <a:t>Collision Detection</a:t>
            </a:r>
            <a:r>
              <a:rPr lang="vi-VN" dirty="0"/>
              <a:t> thành </a:t>
            </a:r>
            <a:r>
              <a:rPr lang="vi-VN" b="1" dirty="0"/>
              <a:t>Continuous Speculative</a:t>
            </a:r>
            <a:r>
              <a:rPr lang="vi-VN" dirty="0"/>
              <a:t>.</a:t>
            </a:r>
          </a:p>
          <a:p>
            <a:r>
              <a:rPr lang="vi-VN" b="1" dirty="0"/>
              <a:t>Ví dụ:</a:t>
            </a:r>
          </a:p>
          <a:p>
            <a:pPr>
              <a:buFont typeface="Arial" panose="020B0604020202020204" pitchFamily="34" charset="0"/>
              <a:buChar char="•"/>
            </a:pPr>
            <a:r>
              <a:rPr lang="vi-VN" b="1" dirty="0"/>
              <a:t>Sweep-based CCD:</a:t>
            </a:r>
            <a:r>
              <a:rPr lang="vi-VN" dirty="0"/>
              <a:t> Một viên đạn nhanh cần kiểm tra chính xác liệu nó có va chạm với bức tường mỏng hay không. CCD sẽ kiểm tra từng đoạn đường di chuyển để không bỏ lỡ va chạm.</a:t>
            </a:r>
          </a:p>
          <a:p>
            <a:pPr>
              <a:buFont typeface="Arial" panose="020B0604020202020204" pitchFamily="34" charset="0"/>
              <a:buChar char="•"/>
            </a:pPr>
            <a:r>
              <a:rPr lang="vi-VN" b="1" dirty="0"/>
              <a:t>Speculative CCD:</a:t>
            </a:r>
            <a:r>
              <a:rPr lang="vi-VN" dirty="0"/>
              <a:t> Dùng khi một nhân vật di chuyển nhanh qua môi trường và cần xử lý các va chạm tiềm năng với vật cản nhỏ.</a:t>
            </a:r>
          </a:p>
          <a:p>
            <a:pPr marL="216000" indent="0">
              <a:lnSpc>
                <a:spcPct val="100000"/>
              </a:lnSpc>
              <a:buNone/>
              <a:tabLst>
                <a:tab pos="0" algn="l"/>
              </a:tabLst>
            </a:pPr>
            <a:endParaRPr lang="en-US" sz="2000" b="0" strike="noStrike" spc="-1" dirty="0">
              <a:solidFill>
                <a:srgbClr val="000000"/>
              </a:solidFill>
              <a:latin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PlaceHolder 1"/>
          <p:cNvSpPr>
            <a:spLocks noGrp="1" noRot="1" noChangeAspect="1"/>
          </p:cNvSpPr>
          <p:nvPr>
            <p:ph type="sldImg"/>
          </p:nvPr>
        </p:nvSpPr>
        <p:spPr>
          <a:xfrm>
            <a:off x="216000" y="812520"/>
            <a:ext cx="7125840" cy="4007520"/>
          </a:xfrm>
          <a:prstGeom prst="rect">
            <a:avLst/>
          </a:prstGeom>
          <a:ln w="0">
            <a:noFill/>
          </a:ln>
        </p:spPr>
      </p:sp>
      <p:sp>
        <p:nvSpPr>
          <p:cNvPr id="262" name="PlaceHolder 2"/>
          <p:cNvSpPr>
            <a:spLocks noGrp="1"/>
          </p:cNvSpPr>
          <p:nvPr>
            <p:ph type="body"/>
          </p:nvPr>
        </p:nvSpPr>
        <p:spPr>
          <a:xfrm>
            <a:off x="756000" y="5078520"/>
            <a:ext cx="6046200" cy="4809600"/>
          </a:xfrm>
          <a:prstGeom prst="rect">
            <a:avLst/>
          </a:prstGeom>
          <a:noFill/>
          <a:ln w="0">
            <a:noFill/>
          </a:ln>
        </p:spPr>
        <p:txBody>
          <a:bodyPr lIns="0" tIns="0" rIns="0" bIns="0" anchor="t">
            <a:noAutofit/>
          </a:bodyPr>
          <a:lstStyle/>
          <a:p>
            <a:pPr marL="216000" indent="0">
              <a:lnSpc>
                <a:spcPct val="100000"/>
              </a:lnSpc>
              <a:buNone/>
              <a:tabLst>
                <a:tab pos="0" algn="l"/>
              </a:tabLst>
            </a:pPr>
            <a:r>
              <a:rPr lang="en-US" sz="2000" b="0" strike="noStrike" spc="-1">
                <a:solidFill>
                  <a:srgbClr val="000000"/>
                </a:solidFill>
                <a:latin typeface="Arial"/>
              </a:rPr>
              <a:t>https://docs.unity3d.com/Manual/class-PhysicMaterial.html</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PlaceHolder 1"/>
          <p:cNvSpPr>
            <a:spLocks noGrp="1" noRot="1" noChangeAspect="1"/>
          </p:cNvSpPr>
          <p:nvPr>
            <p:ph type="sldImg"/>
          </p:nvPr>
        </p:nvSpPr>
        <p:spPr>
          <a:xfrm>
            <a:off x="217488" y="812800"/>
            <a:ext cx="7123112" cy="4006850"/>
          </a:xfrm>
          <a:prstGeom prst="rect">
            <a:avLst/>
          </a:prstGeom>
          <a:ln w="0">
            <a:noFill/>
          </a:ln>
        </p:spPr>
      </p:sp>
      <p:sp>
        <p:nvSpPr>
          <p:cNvPr id="264" name="PlaceHolder 2"/>
          <p:cNvSpPr>
            <a:spLocks noGrp="1"/>
          </p:cNvSpPr>
          <p:nvPr>
            <p:ph type="body"/>
          </p:nvPr>
        </p:nvSpPr>
        <p:spPr>
          <a:xfrm>
            <a:off x="756000" y="5078520"/>
            <a:ext cx="6046200" cy="4809600"/>
          </a:xfrm>
          <a:prstGeom prst="rect">
            <a:avLst/>
          </a:prstGeom>
          <a:noFill/>
          <a:ln w="0">
            <a:noFill/>
          </a:ln>
        </p:spPr>
        <p:txBody>
          <a:bodyPr lIns="0" tIns="0" rIns="0" bIns="0" anchor="t">
            <a:noAutofit/>
          </a:bodyPr>
          <a:lstStyle/>
          <a:p>
            <a:pPr marL="216000" indent="0">
              <a:lnSpc>
                <a:spcPct val="100000"/>
              </a:lnSpc>
              <a:buNone/>
              <a:tabLst>
                <a:tab pos="0" algn="l"/>
              </a:tabLst>
            </a:pPr>
            <a:r>
              <a:rPr lang="en-US" sz="2000" b="0" strike="noStrike" spc="-1" dirty="0">
                <a:solidFill>
                  <a:srgbClr val="000000"/>
                </a:solidFill>
                <a:latin typeface="Arial"/>
              </a:rPr>
              <a:t>For student: Open the file in:./Media/1.5-Ball-Board-Game-final-demo.mp4 to show the target of this practice.</a:t>
            </a:r>
          </a:p>
          <a:p>
            <a:pPr marL="216000" indent="0">
              <a:lnSpc>
                <a:spcPct val="100000"/>
              </a:lnSpc>
              <a:buNone/>
              <a:tabLst>
                <a:tab pos="0" algn="l"/>
              </a:tabLst>
            </a:pPr>
            <a:endParaRPr lang="en-US" sz="2000" b="0" strike="noStrike" spc="-1" dirty="0">
              <a:solidFill>
                <a:srgbClr val="000000"/>
              </a:solidFill>
              <a:latin typeface="Arial"/>
            </a:endParaRPr>
          </a:p>
          <a:p>
            <a:pPr marL="216000" indent="0">
              <a:lnSpc>
                <a:spcPct val="100000"/>
              </a:lnSpc>
              <a:buNone/>
              <a:tabLst>
                <a:tab pos="0" algn="l"/>
              </a:tabLst>
            </a:pPr>
            <a:r>
              <a:rPr lang="en-US" sz="2000" b="0" strike="noStrike" spc="-1" dirty="0">
                <a:solidFill>
                  <a:srgbClr val="000000"/>
                </a:solidFill>
                <a:latin typeface="Arial"/>
              </a:rPr>
              <a:t>Students need to follow the next slide's instructions to practice with Unity.</a:t>
            </a:r>
          </a:p>
          <a:p>
            <a:pPr marL="216000" indent="0">
              <a:lnSpc>
                <a:spcPct val="100000"/>
              </a:lnSpc>
              <a:buNone/>
              <a:tabLst>
                <a:tab pos="0" algn="l"/>
              </a:tabLst>
            </a:pPr>
            <a:endParaRPr lang="en-US" sz="2000" b="0" strike="noStrike" spc="-1" dirty="0">
              <a:solidFill>
                <a:srgbClr val="000000"/>
              </a:solidFill>
              <a:latin typeface="Arial"/>
            </a:endParaRPr>
          </a:p>
          <a:p>
            <a:pPr marL="216000" indent="0">
              <a:lnSpc>
                <a:spcPct val="100000"/>
              </a:lnSpc>
              <a:buNone/>
              <a:tabLst>
                <a:tab pos="0" algn="l"/>
              </a:tabLst>
            </a:pPr>
            <a:r>
              <a:rPr lang="en-US" sz="2000" b="1" strike="noStrike" spc="-1" dirty="0">
                <a:solidFill>
                  <a:srgbClr val="000000"/>
                </a:solidFill>
                <a:latin typeface="Arial"/>
              </a:rPr>
              <a:t>Practice Resources sharing</a:t>
            </a:r>
            <a:r>
              <a:rPr lang="en-US" sz="2000" b="0" strike="noStrike" spc="-1" dirty="0">
                <a:solidFill>
                  <a:srgbClr val="000000"/>
                </a:solidFill>
                <a:latin typeface="Arial"/>
              </a:rPr>
              <a:t>:</a:t>
            </a:r>
          </a:p>
          <a:p>
            <a:pPr marL="216000" indent="0">
              <a:lnSpc>
                <a:spcPct val="100000"/>
              </a:lnSpc>
              <a:buNone/>
              <a:tabLst>
                <a:tab pos="0" algn="l"/>
              </a:tabLst>
            </a:pPr>
            <a:r>
              <a:rPr lang="en-US" sz="2000" b="0" u="sng" strike="noStrike" spc="-1" dirty="0">
                <a:solidFill>
                  <a:srgbClr val="000000"/>
                </a:solidFill>
                <a:uFillTx/>
                <a:latin typeface="Arial"/>
                <a:hlinkClick r:id="rId3"/>
              </a:rPr>
              <a:t>https://drive.google.com/drive/folders/1eXu20cX1o-5uMFuSeHGxRS5AkhDZJTOP?usp=sharing</a:t>
            </a:r>
            <a:endParaRPr lang="en-US" sz="2000" b="0" strike="noStrike" spc="-1" dirty="0">
              <a:solidFill>
                <a:srgbClr val="000000"/>
              </a:solidFill>
              <a:latin typeface="Arial"/>
            </a:endParaRPr>
          </a:p>
          <a:p>
            <a:pPr marL="216000" indent="0">
              <a:lnSpc>
                <a:spcPct val="100000"/>
              </a:lnSpc>
              <a:buNone/>
              <a:tabLst>
                <a:tab pos="0" algn="l"/>
              </a:tabLst>
            </a:pPr>
            <a:endParaRPr lang="en-US" sz="2000" b="0" strike="noStrike" spc="-1" dirty="0">
              <a:solidFill>
                <a:srgbClr val="000000"/>
              </a:solidFill>
              <a:latin typeface="Arial"/>
            </a:endParaRPr>
          </a:p>
          <a:p>
            <a:pPr marL="216000" indent="0">
              <a:lnSpc>
                <a:spcPct val="100000"/>
              </a:lnSpc>
              <a:buNone/>
              <a:tabLst>
                <a:tab pos="0" algn="l"/>
              </a:tabLst>
            </a:pPr>
            <a:r>
              <a:rPr lang="en-US" sz="2000" b="0" strike="noStrike" spc="-1" dirty="0">
                <a:solidFill>
                  <a:srgbClr val="000000"/>
                </a:solidFill>
                <a:latin typeface="Arial"/>
              </a:rPr>
              <a:t>For lecturer: open file in: ./Lecturer-Guide/</a:t>
            </a:r>
            <a:r>
              <a:rPr lang="en-US" sz="2000" b="1" strike="noStrike" spc="-1" dirty="0">
                <a:solidFill>
                  <a:srgbClr val="000000"/>
                </a:solidFill>
                <a:latin typeface="Arial"/>
              </a:rPr>
              <a:t>1.5-Lecturer-Guide.mp4 </a:t>
            </a:r>
            <a:endParaRPr lang="en-US" sz="2000" b="0" strike="noStrike" spc="-1" dirty="0">
              <a:solidFill>
                <a:srgbClr val="000000"/>
              </a:solidFill>
              <a:latin typeface="Arial"/>
            </a:endParaRPr>
          </a:p>
          <a:p>
            <a:pPr marL="216000" indent="0">
              <a:lnSpc>
                <a:spcPct val="100000"/>
              </a:lnSpc>
              <a:buNone/>
              <a:tabLst>
                <a:tab pos="0" algn="l"/>
              </a:tabLst>
            </a:pPr>
            <a:r>
              <a:rPr lang="en-US" sz="2000" b="0" strike="noStrike" spc="-1" dirty="0">
                <a:solidFill>
                  <a:srgbClr val="000000"/>
                </a:solidFill>
                <a:latin typeface="Arial"/>
              </a:rPr>
              <a:t>And user Assets file in ./Lecturer-Guide/Assets/1.5-BallBoard-game/* </a:t>
            </a:r>
          </a:p>
          <a:p>
            <a:pPr marL="216000" indent="0">
              <a:lnSpc>
                <a:spcPct val="100000"/>
              </a:lnSpc>
              <a:buNone/>
              <a:tabLst>
                <a:tab pos="0" algn="l"/>
              </a:tabLst>
            </a:pPr>
            <a:r>
              <a:rPr lang="en-US" sz="2000" b="0" strike="noStrike" spc="-1" dirty="0">
                <a:solidFill>
                  <a:srgbClr val="000000"/>
                </a:solidFill>
                <a:latin typeface="Arial"/>
              </a:rPr>
              <a:t>To create the final project.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lstStyle/>
          <a:p>
            <a:fld id="{C0176CAC-7BEC-4E24-99CF-97F238EF288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8"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sldNum" idx="1"/>
          </p:nvPr>
        </p:nvSpPr>
        <p:spPr/>
        <p:txBody>
          <a:bodyPr/>
          <a:lstStyle/>
          <a:p>
            <a:fld id="{D5418A5A-3B0F-430D-9A20-23FE43864D93}"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0"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sldNum" idx="1"/>
          </p:nvPr>
        </p:nvSpPr>
        <p:spPr/>
        <p:txBody>
          <a:bodyPr/>
          <a:lstStyle/>
          <a:p>
            <a:fld id="{F7600BB3-C883-4863-9883-425DEF11449A}"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2"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3"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5" name="PlaceHolder 4"/>
          <p:cNvSpPr>
            <a:spLocks noGrp="1"/>
          </p:cNvSpPr>
          <p:nvPr>
            <p:ph type="sldNum" idx="1"/>
          </p:nvPr>
        </p:nvSpPr>
        <p:spPr/>
        <p:txBody>
          <a:bodyPr/>
          <a:lstStyle/>
          <a:p>
            <a:fld id="{F88E58C7-7482-4135-B617-A668C31DCED0}"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 name="PlaceHolder 2"/>
          <p:cNvSpPr>
            <a:spLocks noGrp="1"/>
          </p:cNvSpPr>
          <p:nvPr>
            <p:ph type="sldNum" idx="1"/>
          </p:nvPr>
        </p:nvSpPr>
        <p:spPr/>
        <p:txBody>
          <a:bodyPr/>
          <a:lstStyle/>
          <a:p>
            <a:fld id="{BE8FDC28-564B-4DB0-9BAF-EE937A47C1CE}"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5"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Arial"/>
            </a:endParaRPr>
          </a:p>
        </p:txBody>
      </p:sp>
      <p:sp>
        <p:nvSpPr>
          <p:cNvPr id="3" name="PlaceHolder 2"/>
          <p:cNvSpPr>
            <a:spLocks noGrp="1"/>
          </p:cNvSpPr>
          <p:nvPr>
            <p:ph type="sldNum" idx="1"/>
          </p:nvPr>
        </p:nvSpPr>
        <p:spPr/>
        <p:txBody>
          <a:bodyPr/>
          <a:lstStyle/>
          <a:p>
            <a:fld id="{F920A445-F1FB-4BA5-891E-126CF1842A3B}"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7"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8"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9"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6" name="PlaceHolder 5"/>
          <p:cNvSpPr>
            <a:spLocks noGrp="1"/>
          </p:cNvSpPr>
          <p:nvPr>
            <p:ph type="sldNum" idx="1"/>
          </p:nvPr>
        </p:nvSpPr>
        <p:spPr/>
        <p:txBody>
          <a:bodyPr/>
          <a:lstStyle/>
          <a:p>
            <a:fld id="{8155CE02-6E56-4EE0-B7A8-C3A3864BEE64}"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1"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2"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3"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6" name="PlaceHolder 5"/>
          <p:cNvSpPr>
            <a:spLocks noGrp="1"/>
          </p:cNvSpPr>
          <p:nvPr>
            <p:ph type="sldNum" idx="1"/>
          </p:nvPr>
        </p:nvSpPr>
        <p:spPr/>
        <p:txBody>
          <a:bodyPr/>
          <a:lstStyle/>
          <a:p>
            <a:fld id="{7C923D44-A89D-4B51-9D1A-5847BDFF22B6}"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5"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6"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7"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6" name="PlaceHolder 5"/>
          <p:cNvSpPr>
            <a:spLocks noGrp="1"/>
          </p:cNvSpPr>
          <p:nvPr>
            <p:ph type="sldNum" idx="1"/>
          </p:nvPr>
        </p:nvSpPr>
        <p:spPr/>
        <p:txBody>
          <a:bodyPr/>
          <a:lstStyle/>
          <a:p>
            <a:fld id="{189291DC-282D-414E-8514-D6EABD76F9CC}"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9"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0"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5" name="PlaceHolder 4"/>
          <p:cNvSpPr>
            <a:spLocks noGrp="1"/>
          </p:cNvSpPr>
          <p:nvPr>
            <p:ph type="sldNum" idx="1"/>
          </p:nvPr>
        </p:nvSpPr>
        <p:spPr/>
        <p:txBody>
          <a:bodyPr/>
          <a:lstStyle/>
          <a:p>
            <a:fld id="{D9297B4F-FC8A-4ECC-A8F2-BA8BE76B143B}"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2"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3"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4"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5"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7" name="PlaceHolder 6"/>
          <p:cNvSpPr>
            <a:spLocks noGrp="1"/>
          </p:cNvSpPr>
          <p:nvPr>
            <p:ph type="sldNum" idx="1"/>
          </p:nvPr>
        </p:nvSpPr>
        <p:spPr/>
        <p:txBody>
          <a:bodyPr/>
          <a:lstStyle/>
          <a:p>
            <a:fld id="{87988D9C-4C18-4B2F-B5F3-923EC4496152}"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7"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8"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9"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0"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1"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2"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9" name="PlaceHolder 8"/>
          <p:cNvSpPr>
            <a:spLocks noGrp="1"/>
          </p:cNvSpPr>
          <p:nvPr>
            <p:ph type="sldNum" idx="1"/>
          </p:nvPr>
        </p:nvSpPr>
        <p:spPr/>
        <p:txBody>
          <a:bodyPr/>
          <a:lstStyle/>
          <a:p>
            <a:fld id="{F3323B0D-5FA7-4907-97D7-074DF11423E2}" type="slidenum">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lstStyle/>
          <a:p>
            <a:fld id="{220BFF66-4961-4377-94E2-C750BC0664BA}" type="slidenum">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51"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sldNum" idx="2"/>
          </p:nvPr>
        </p:nvSpPr>
        <p:spPr/>
        <p:txBody>
          <a:bodyPr/>
          <a:lstStyle/>
          <a:p>
            <a:fld id="{5187FF1E-51BE-431E-AEA1-D5C7F8889691}" type="slidenum">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53"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sldNum" idx="2"/>
          </p:nvPr>
        </p:nvSpPr>
        <p:spPr/>
        <p:txBody>
          <a:bodyPr/>
          <a:lstStyle/>
          <a:p>
            <a:fld id="{D0EE2C7D-5344-4A60-8584-79E4C069A1B6}" type="slidenum">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55"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56"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5" name="PlaceHolder 4"/>
          <p:cNvSpPr>
            <a:spLocks noGrp="1"/>
          </p:cNvSpPr>
          <p:nvPr>
            <p:ph type="sldNum" idx="2"/>
          </p:nvPr>
        </p:nvSpPr>
        <p:spPr/>
        <p:txBody>
          <a:bodyPr/>
          <a:lstStyle/>
          <a:p>
            <a:fld id="{86CB833B-ECA7-481B-9711-D07E23BD47C2}" type="slidenum">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 name="PlaceHolder 2"/>
          <p:cNvSpPr>
            <a:spLocks noGrp="1"/>
          </p:cNvSpPr>
          <p:nvPr>
            <p:ph type="sldNum" idx="2"/>
          </p:nvPr>
        </p:nvSpPr>
        <p:spPr/>
        <p:txBody>
          <a:bodyPr/>
          <a:lstStyle/>
          <a:p>
            <a:fld id="{8166A502-1878-472D-8EB3-2E0065245345}" type="slidenum">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8"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Arial"/>
            </a:endParaRPr>
          </a:p>
        </p:txBody>
      </p:sp>
      <p:sp>
        <p:nvSpPr>
          <p:cNvPr id="3" name="PlaceHolder 2"/>
          <p:cNvSpPr>
            <a:spLocks noGrp="1"/>
          </p:cNvSpPr>
          <p:nvPr>
            <p:ph type="sldNum" idx="2"/>
          </p:nvPr>
        </p:nvSpPr>
        <p:spPr/>
        <p:txBody>
          <a:bodyPr/>
          <a:lstStyle/>
          <a:p>
            <a:fld id="{5177DB25-5215-4593-8BF0-F547995D8381}" type="slidenum">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60"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61"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62"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6" name="PlaceHolder 5"/>
          <p:cNvSpPr>
            <a:spLocks noGrp="1"/>
          </p:cNvSpPr>
          <p:nvPr>
            <p:ph type="sldNum" idx="2"/>
          </p:nvPr>
        </p:nvSpPr>
        <p:spPr/>
        <p:txBody>
          <a:bodyPr/>
          <a:lstStyle/>
          <a:p>
            <a:fld id="{AA9561CD-609A-4F9E-985D-2DEF3CF6F691}" type="slidenum">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64"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65"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66"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6" name="PlaceHolder 5"/>
          <p:cNvSpPr>
            <a:spLocks noGrp="1"/>
          </p:cNvSpPr>
          <p:nvPr>
            <p:ph type="sldNum" idx="2"/>
          </p:nvPr>
        </p:nvSpPr>
        <p:spPr/>
        <p:txBody>
          <a:bodyPr/>
          <a:lstStyle/>
          <a:p>
            <a:fld id="{123A0F52-1773-47DA-98E5-BE311012C72C}" type="slidenum">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68"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69"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70"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6" name="PlaceHolder 5"/>
          <p:cNvSpPr>
            <a:spLocks noGrp="1"/>
          </p:cNvSpPr>
          <p:nvPr>
            <p:ph type="sldNum" idx="2"/>
          </p:nvPr>
        </p:nvSpPr>
        <p:spPr/>
        <p:txBody>
          <a:bodyPr/>
          <a:lstStyle/>
          <a:p>
            <a:fld id="{31D0977F-734F-4876-9242-BB30EB23C7D9}" type="slidenum">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72"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73"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5" name="PlaceHolder 4"/>
          <p:cNvSpPr>
            <a:spLocks noGrp="1"/>
          </p:cNvSpPr>
          <p:nvPr>
            <p:ph type="sldNum" idx="2"/>
          </p:nvPr>
        </p:nvSpPr>
        <p:spPr/>
        <p:txBody>
          <a:bodyPr/>
          <a:lstStyle/>
          <a:p>
            <a:fld id="{3433CD93-14BE-4784-9432-4A052B625BE6}" type="slidenum">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75"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76"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77"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78"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7" name="PlaceHolder 6"/>
          <p:cNvSpPr>
            <a:spLocks noGrp="1"/>
          </p:cNvSpPr>
          <p:nvPr>
            <p:ph type="sldNum" idx="2"/>
          </p:nvPr>
        </p:nvSpPr>
        <p:spPr/>
        <p:txBody>
          <a:bodyPr/>
          <a:lstStyle/>
          <a:p>
            <a:fld id="{477DF073-14BC-4C04-8A47-163021F62C6F}" type="slidenum">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80"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81"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82"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83"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84"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85"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9" name="PlaceHolder 8"/>
          <p:cNvSpPr>
            <a:spLocks noGrp="1"/>
          </p:cNvSpPr>
          <p:nvPr>
            <p:ph type="sldNum" idx="2"/>
          </p:nvPr>
        </p:nvSpPr>
        <p:spPr/>
        <p:txBody>
          <a:bodyPr/>
          <a:lstStyle/>
          <a:p>
            <a:fld id="{838C7002-5EF2-4404-ACE2-EDA690D7A683}" type="slidenum">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lstStyle/>
          <a:p>
            <a:fld id="{ABDC13C9-35C1-4274-9958-2246CA88A84A}" type="slidenum">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94"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sldNum" idx="3"/>
          </p:nvPr>
        </p:nvSpPr>
        <p:spPr/>
        <p:txBody>
          <a:bodyPr/>
          <a:lstStyle/>
          <a:p>
            <a:fld id="{187E3470-168D-4632-A7A0-2E56F62F3F6E}" type="slidenum">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96"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sldNum" idx="3"/>
          </p:nvPr>
        </p:nvSpPr>
        <p:spPr/>
        <p:txBody>
          <a:bodyPr/>
          <a:lstStyle/>
          <a:p>
            <a:fld id="{36CF40E5-7F4E-4297-9883-597F723D5501}" type="slidenum">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98"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99"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5" name="PlaceHolder 4"/>
          <p:cNvSpPr>
            <a:spLocks noGrp="1"/>
          </p:cNvSpPr>
          <p:nvPr>
            <p:ph type="sldNum" idx="3"/>
          </p:nvPr>
        </p:nvSpPr>
        <p:spPr/>
        <p:txBody>
          <a:bodyPr/>
          <a:lstStyle/>
          <a:p>
            <a:fld id="{DAAB6883-8ABB-4C9F-8AA7-8375C897EA66}" type="slidenum">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 name="PlaceHolder 2"/>
          <p:cNvSpPr>
            <a:spLocks noGrp="1"/>
          </p:cNvSpPr>
          <p:nvPr>
            <p:ph type="sldNum" idx="3"/>
          </p:nvPr>
        </p:nvSpPr>
        <p:spPr/>
        <p:txBody>
          <a:bodyPr/>
          <a:lstStyle/>
          <a:p>
            <a:fld id="{E8B01E84-8C75-4AD2-8C66-FA15589C4D80}" type="slidenum">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1"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Arial"/>
            </a:endParaRPr>
          </a:p>
        </p:txBody>
      </p:sp>
      <p:sp>
        <p:nvSpPr>
          <p:cNvPr id="3" name="PlaceHolder 2"/>
          <p:cNvSpPr>
            <a:spLocks noGrp="1"/>
          </p:cNvSpPr>
          <p:nvPr>
            <p:ph type="sldNum" idx="3"/>
          </p:nvPr>
        </p:nvSpPr>
        <p:spPr/>
        <p:txBody>
          <a:bodyPr/>
          <a:lstStyle/>
          <a:p>
            <a:fld id="{B9AE600A-08A0-435F-889C-510A82686AE2}" type="slidenum">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03"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04"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05"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6" name="PlaceHolder 5"/>
          <p:cNvSpPr>
            <a:spLocks noGrp="1"/>
          </p:cNvSpPr>
          <p:nvPr>
            <p:ph type="sldNum" idx="3"/>
          </p:nvPr>
        </p:nvSpPr>
        <p:spPr/>
        <p:txBody>
          <a:bodyPr/>
          <a:lstStyle/>
          <a:p>
            <a:fld id="{E4B9D666-D979-4458-8145-12B1F5F0CB99}" type="slidenum">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07"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08"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09"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6" name="PlaceHolder 5"/>
          <p:cNvSpPr>
            <a:spLocks noGrp="1"/>
          </p:cNvSpPr>
          <p:nvPr>
            <p:ph type="sldNum" idx="3"/>
          </p:nvPr>
        </p:nvSpPr>
        <p:spPr/>
        <p:txBody>
          <a:bodyPr/>
          <a:lstStyle/>
          <a:p>
            <a:fld id="{AB1A9E21-A559-433A-86CA-B8E8D0F45648}" type="slidenum">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11"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12"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13"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6" name="PlaceHolder 5"/>
          <p:cNvSpPr>
            <a:spLocks noGrp="1"/>
          </p:cNvSpPr>
          <p:nvPr>
            <p:ph type="sldNum" idx="3"/>
          </p:nvPr>
        </p:nvSpPr>
        <p:spPr/>
        <p:txBody>
          <a:bodyPr/>
          <a:lstStyle/>
          <a:p>
            <a:fld id="{80C1C343-0B00-49D7-84A5-70B8FDF8B383}" type="slidenum">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15"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16"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5" name="PlaceHolder 4"/>
          <p:cNvSpPr>
            <a:spLocks noGrp="1"/>
          </p:cNvSpPr>
          <p:nvPr>
            <p:ph type="sldNum" idx="3"/>
          </p:nvPr>
        </p:nvSpPr>
        <p:spPr/>
        <p:txBody>
          <a:bodyPr/>
          <a:lstStyle/>
          <a:p>
            <a:fld id="{56735563-6087-468F-8D66-B02E9E52E708}" type="slidenum">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1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18"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19"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20"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21"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7" name="PlaceHolder 6"/>
          <p:cNvSpPr>
            <a:spLocks noGrp="1"/>
          </p:cNvSpPr>
          <p:nvPr>
            <p:ph type="sldNum" idx="3"/>
          </p:nvPr>
        </p:nvSpPr>
        <p:spPr/>
        <p:txBody>
          <a:bodyPr/>
          <a:lstStyle/>
          <a:p>
            <a:fld id="{E5250894-2754-4CAA-B1DC-EACEEC54CBB0}" type="slidenum">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2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23"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24"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25"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26"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27"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28"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9" name="PlaceHolder 8"/>
          <p:cNvSpPr>
            <a:spLocks noGrp="1"/>
          </p:cNvSpPr>
          <p:nvPr>
            <p:ph type="sldNum" idx="3"/>
          </p:nvPr>
        </p:nvSpPr>
        <p:spPr/>
        <p:txBody>
          <a:bodyPr/>
          <a:lstStyle/>
          <a:p>
            <a:fld id="{00F11804-E7D7-42FD-879E-1B36B60B4423}"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2.jpe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2.jpe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extBox 6"/>
          <p:cNvSpPr/>
          <p:nvPr/>
        </p:nvSpPr>
        <p:spPr>
          <a:xfrm>
            <a:off x="0" y="6461280"/>
            <a:ext cx="12178800" cy="39060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en-US" sz="1800" b="0" strike="noStrike" spc="-1">
              <a:solidFill>
                <a:srgbClr val="000000"/>
              </a:solidFill>
              <a:latin typeface="Calibri"/>
              <a:ea typeface="DejaVu Sans"/>
            </a:endParaRPr>
          </a:p>
        </p:txBody>
      </p:sp>
      <p:sp>
        <p:nvSpPr>
          <p:cNvPr id="8" name="TextBox 9"/>
          <p:cNvSpPr/>
          <p:nvPr/>
        </p:nvSpPr>
        <p:spPr>
          <a:xfrm>
            <a:off x="0" y="681120"/>
            <a:ext cx="215280" cy="702720"/>
          </a:xfrm>
          <a:prstGeom prst="rect">
            <a:avLst/>
          </a:prstGeom>
          <a:solidFill>
            <a:srgbClr val="4E8F00"/>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en-US" sz="1800" b="0" strike="noStrike" spc="-1">
              <a:solidFill>
                <a:srgbClr val="000000"/>
              </a:solidFill>
              <a:latin typeface="Calibri"/>
              <a:ea typeface="DejaVu Sans"/>
            </a:endParaRPr>
          </a:p>
        </p:txBody>
      </p:sp>
      <p:pic>
        <p:nvPicPr>
          <p:cNvPr id="2" name="Picture 9" descr="GitHub - morzhanov/nodejs-express-boilerplate: Node.js Boilerplate is an  project that allows you to start new node.js project from scratch."/>
          <p:cNvPicPr/>
          <p:nvPr/>
        </p:nvPicPr>
        <p:blipFill>
          <a:blip r:embed="rId14"/>
          <a:stretch/>
        </p:blipFill>
        <p:spPr>
          <a:xfrm>
            <a:off x="10759680" y="3600"/>
            <a:ext cx="1382400" cy="763200"/>
          </a:xfrm>
          <a:prstGeom prst="rect">
            <a:avLst/>
          </a:prstGeom>
          <a:ln w="0">
            <a:noFill/>
          </a:ln>
        </p:spPr>
      </p:pic>
      <p:pic>
        <p:nvPicPr>
          <p:cNvPr id="3" name="Picture 2"/>
          <p:cNvPicPr/>
          <p:nvPr/>
        </p:nvPicPr>
        <p:blipFill>
          <a:blip r:embed="rId15"/>
          <a:stretch/>
        </p:blipFill>
        <p:spPr>
          <a:xfrm>
            <a:off x="25560" y="30240"/>
            <a:ext cx="1572120" cy="631440"/>
          </a:xfrm>
          <a:prstGeom prst="rect">
            <a:avLst/>
          </a:prstGeom>
          <a:ln w="0">
            <a:noFill/>
          </a:ln>
        </p:spPr>
      </p:pic>
      <p:sp>
        <p:nvSpPr>
          <p:cNvPr id="4" name="PlaceHolder 1"/>
          <p:cNvSpPr>
            <a:spLocks noGrp="1"/>
          </p:cNvSpPr>
          <p:nvPr>
            <p:ph type="sldNum" idx="1"/>
          </p:nvPr>
        </p:nvSpPr>
        <p:spPr>
          <a:xfrm>
            <a:off x="8610480" y="6483240"/>
            <a:ext cx="2729880" cy="351720"/>
          </a:xfrm>
          <a:prstGeom prst="rect">
            <a:avLst/>
          </a:prstGeom>
          <a:noFill/>
          <a:ln w="0">
            <a:noFill/>
          </a:ln>
        </p:spPr>
        <p:txBody>
          <a:bodyPr lIns="90000" tIns="45000" rIns="90000" bIns="45000" anchor="ctr">
            <a:noAutofit/>
          </a:bodyPr>
          <a:lstStyle>
            <a:lvl1pPr indent="0" algn="r">
              <a:lnSpc>
                <a:spcPct val="100000"/>
              </a:lnSpc>
              <a:buNone/>
              <a:tabLst>
                <a:tab pos="0" algn="l"/>
              </a:tabLst>
              <a:defRPr lang="en-US" sz="1200" b="0" strike="noStrike" spc="-1">
                <a:solidFill>
                  <a:srgbClr val="000000"/>
                </a:solidFill>
                <a:latin typeface="Calibri"/>
              </a:defRPr>
            </a:lvl1pPr>
          </a:lstStyle>
          <a:p>
            <a:pPr indent="0" algn="r">
              <a:lnSpc>
                <a:spcPct val="100000"/>
              </a:lnSpc>
              <a:buNone/>
              <a:tabLst>
                <a:tab pos="0" algn="l"/>
              </a:tabLst>
            </a:pPr>
            <a:fld id="{D1716228-DD99-40CB-BAE2-9DBB89ADB0B5}" type="slidenum">
              <a:rPr lang="en-US" sz="1200" b="0" strike="noStrike" spc="-1">
                <a:solidFill>
                  <a:srgbClr val="000000"/>
                </a:solidFill>
                <a:latin typeface="Calibri"/>
              </a:rPr>
              <a:t>‹#›</a:t>
            </a:fld>
            <a:endParaRPr lang="en-US" sz="1200" b="0" strike="noStrike" spc="-1">
              <a:solidFill>
                <a:srgbClr val="000000"/>
              </a:solidFill>
              <a:latin typeface="Times New Roman"/>
            </a:endParaRPr>
          </a:p>
        </p:txBody>
      </p:sp>
      <p:sp>
        <p:nvSpPr>
          <p:cNvPr id="5"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6"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 name="TextBox 6"/>
          <p:cNvSpPr/>
          <p:nvPr/>
        </p:nvSpPr>
        <p:spPr>
          <a:xfrm>
            <a:off x="0" y="6461280"/>
            <a:ext cx="12178800" cy="39060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en-US" sz="1800" b="0" strike="noStrike" spc="-1">
              <a:solidFill>
                <a:srgbClr val="000000"/>
              </a:solidFill>
              <a:latin typeface="Calibri"/>
              <a:ea typeface="DejaVu Sans"/>
            </a:endParaRPr>
          </a:p>
        </p:txBody>
      </p:sp>
      <p:sp>
        <p:nvSpPr>
          <p:cNvPr id="44" name="TextBox 9"/>
          <p:cNvSpPr/>
          <p:nvPr/>
        </p:nvSpPr>
        <p:spPr>
          <a:xfrm>
            <a:off x="0" y="681120"/>
            <a:ext cx="215280" cy="702720"/>
          </a:xfrm>
          <a:prstGeom prst="rect">
            <a:avLst/>
          </a:prstGeom>
          <a:solidFill>
            <a:srgbClr val="4E8F00"/>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en-US" sz="1800" b="0" strike="noStrike" spc="-1">
              <a:solidFill>
                <a:srgbClr val="000000"/>
              </a:solidFill>
              <a:latin typeface="Calibri"/>
              <a:ea typeface="DejaVu Sans"/>
            </a:endParaRPr>
          </a:p>
        </p:txBody>
      </p:sp>
      <p:pic>
        <p:nvPicPr>
          <p:cNvPr id="45" name="Picture 9" descr="GitHub - morzhanov/nodejs-express-boilerplate: Node.js Boilerplate is an  project that allows you to start new node.js project from scratch."/>
          <p:cNvPicPr/>
          <p:nvPr/>
        </p:nvPicPr>
        <p:blipFill>
          <a:blip r:embed="rId14"/>
          <a:stretch/>
        </p:blipFill>
        <p:spPr>
          <a:xfrm>
            <a:off x="10759680" y="3600"/>
            <a:ext cx="1382400" cy="763200"/>
          </a:xfrm>
          <a:prstGeom prst="rect">
            <a:avLst/>
          </a:prstGeom>
          <a:ln w="0">
            <a:noFill/>
          </a:ln>
        </p:spPr>
      </p:pic>
      <p:pic>
        <p:nvPicPr>
          <p:cNvPr id="46" name="Picture 45"/>
          <p:cNvPicPr/>
          <p:nvPr/>
        </p:nvPicPr>
        <p:blipFill>
          <a:blip r:embed="rId15"/>
          <a:stretch/>
        </p:blipFill>
        <p:spPr>
          <a:xfrm>
            <a:off x="25560" y="30240"/>
            <a:ext cx="1572120" cy="631440"/>
          </a:xfrm>
          <a:prstGeom prst="rect">
            <a:avLst/>
          </a:prstGeom>
          <a:ln w="0">
            <a:noFill/>
          </a:ln>
        </p:spPr>
      </p:pic>
      <p:sp>
        <p:nvSpPr>
          <p:cNvPr id="47" name="PlaceHolder 1"/>
          <p:cNvSpPr>
            <a:spLocks noGrp="1"/>
          </p:cNvSpPr>
          <p:nvPr>
            <p:ph type="sldNum" idx="2"/>
          </p:nvPr>
        </p:nvSpPr>
        <p:spPr>
          <a:xfrm>
            <a:off x="8610480" y="6483240"/>
            <a:ext cx="2729880" cy="351720"/>
          </a:xfrm>
          <a:prstGeom prst="rect">
            <a:avLst/>
          </a:prstGeom>
          <a:noFill/>
          <a:ln w="0">
            <a:noFill/>
          </a:ln>
        </p:spPr>
        <p:txBody>
          <a:bodyPr lIns="90000" tIns="45000" rIns="90000" bIns="45000" anchor="ctr">
            <a:noAutofit/>
          </a:bodyPr>
          <a:lstStyle>
            <a:lvl1pPr indent="0" algn="r">
              <a:lnSpc>
                <a:spcPct val="100000"/>
              </a:lnSpc>
              <a:buNone/>
              <a:tabLst>
                <a:tab pos="0" algn="l"/>
              </a:tabLst>
              <a:defRPr lang="en-US" sz="1200" b="0" strike="noStrike" spc="-1">
                <a:solidFill>
                  <a:srgbClr val="000000"/>
                </a:solidFill>
                <a:latin typeface="Calibri"/>
              </a:defRPr>
            </a:lvl1pPr>
          </a:lstStyle>
          <a:p>
            <a:pPr indent="0" algn="r">
              <a:lnSpc>
                <a:spcPct val="100000"/>
              </a:lnSpc>
              <a:buNone/>
              <a:tabLst>
                <a:tab pos="0" algn="l"/>
              </a:tabLst>
            </a:pPr>
            <a:fld id="{CBDBA8A3-97F5-4794-B213-6CA3396CBF40}" type="slidenum">
              <a:rPr lang="en-US" sz="1200" b="0" strike="noStrike" spc="-1">
                <a:solidFill>
                  <a:srgbClr val="000000"/>
                </a:solidFill>
                <a:latin typeface="Calibri"/>
              </a:rPr>
              <a:t>‹#›</a:t>
            </a:fld>
            <a:endParaRPr lang="en-US" sz="1200" b="0" strike="noStrike" spc="-1">
              <a:solidFill>
                <a:srgbClr val="000000"/>
              </a:solidFill>
              <a:latin typeface="Times New Roman"/>
            </a:endParaRPr>
          </a:p>
        </p:txBody>
      </p:sp>
      <p:sp>
        <p:nvSpPr>
          <p:cNvPr id="48"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49"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6" name="TextBox 6"/>
          <p:cNvSpPr/>
          <p:nvPr/>
        </p:nvSpPr>
        <p:spPr>
          <a:xfrm>
            <a:off x="0" y="6461280"/>
            <a:ext cx="12178800" cy="39060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en-US" sz="1800" b="0" strike="noStrike" spc="-1">
              <a:solidFill>
                <a:srgbClr val="000000"/>
              </a:solidFill>
              <a:latin typeface="Calibri"/>
              <a:ea typeface="DejaVu Sans"/>
            </a:endParaRPr>
          </a:p>
        </p:txBody>
      </p:sp>
      <p:sp>
        <p:nvSpPr>
          <p:cNvPr id="87" name="TextBox 9"/>
          <p:cNvSpPr/>
          <p:nvPr/>
        </p:nvSpPr>
        <p:spPr>
          <a:xfrm>
            <a:off x="0" y="681120"/>
            <a:ext cx="215280" cy="702720"/>
          </a:xfrm>
          <a:prstGeom prst="rect">
            <a:avLst/>
          </a:prstGeom>
          <a:solidFill>
            <a:srgbClr val="4E8F00"/>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en-US" sz="1800" b="0" strike="noStrike" spc="-1">
              <a:solidFill>
                <a:srgbClr val="000000"/>
              </a:solidFill>
              <a:latin typeface="Calibri"/>
              <a:ea typeface="DejaVu Sans"/>
            </a:endParaRPr>
          </a:p>
        </p:txBody>
      </p:sp>
      <p:pic>
        <p:nvPicPr>
          <p:cNvPr id="88" name="Picture 9" descr="GitHub - morzhanov/nodejs-express-boilerplate: Node.js Boilerplate is an  project that allows you to start new node.js project from scratch."/>
          <p:cNvPicPr/>
          <p:nvPr/>
        </p:nvPicPr>
        <p:blipFill>
          <a:blip r:embed="rId14"/>
          <a:stretch/>
        </p:blipFill>
        <p:spPr>
          <a:xfrm>
            <a:off x="10759680" y="3600"/>
            <a:ext cx="1382400" cy="763200"/>
          </a:xfrm>
          <a:prstGeom prst="rect">
            <a:avLst/>
          </a:prstGeom>
          <a:ln w="0">
            <a:noFill/>
          </a:ln>
        </p:spPr>
      </p:pic>
      <p:pic>
        <p:nvPicPr>
          <p:cNvPr id="89" name="Picture 88"/>
          <p:cNvPicPr/>
          <p:nvPr/>
        </p:nvPicPr>
        <p:blipFill>
          <a:blip r:embed="rId15"/>
          <a:stretch/>
        </p:blipFill>
        <p:spPr>
          <a:xfrm>
            <a:off x="25560" y="30240"/>
            <a:ext cx="1572120" cy="631440"/>
          </a:xfrm>
          <a:prstGeom prst="rect">
            <a:avLst/>
          </a:prstGeom>
          <a:ln w="0">
            <a:noFill/>
          </a:ln>
        </p:spPr>
      </p:pic>
      <p:sp>
        <p:nvSpPr>
          <p:cNvPr id="90" name="PlaceHolder 1"/>
          <p:cNvSpPr>
            <a:spLocks noGrp="1"/>
          </p:cNvSpPr>
          <p:nvPr>
            <p:ph type="title"/>
          </p:nvPr>
        </p:nvSpPr>
        <p:spPr>
          <a:xfrm>
            <a:off x="609480" y="721800"/>
            <a:ext cx="10972080" cy="68292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91" name="PlaceHolder 2"/>
          <p:cNvSpPr>
            <a:spLocks noGrp="1"/>
          </p:cNvSpPr>
          <p:nvPr>
            <p:ph type="sldNum" idx="3"/>
          </p:nvPr>
        </p:nvSpPr>
        <p:spPr>
          <a:xfrm>
            <a:off x="8610480" y="6483240"/>
            <a:ext cx="2729880" cy="351720"/>
          </a:xfrm>
          <a:prstGeom prst="rect">
            <a:avLst/>
          </a:prstGeom>
          <a:noFill/>
          <a:ln w="0">
            <a:noFill/>
          </a:ln>
        </p:spPr>
        <p:txBody>
          <a:bodyPr lIns="90000" tIns="45000" rIns="90000" bIns="45000" anchor="ctr">
            <a:noAutofit/>
          </a:bodyPr>
          <a:lstStyle>
            <a:lvl1pPr indent="0" algn="r">
              <a:lnSpc>
                <a:spcPct val="100000"/>
              </a:lnSpc>
              <a:buNone/>
              <a:tabLst>
                <a:tab pos="0" algn="l"/>
              </a:tabLst>
              <a:defRPr lang="en-US" sz="1200" b="0" strike="noStrike" spc="-1">
                <a:solidFill>
                  <a:srgbClr val="000000"/>
                </a:solidFill>
                <a:latin typeface="Calibri"/>
              </a:defRPr>
            </a:lvl1pPr>
          </a:lstStyle>
          <a:p>
            <a:pPr indent="0" algn="r">
              <a:lnSpc>
                <a:spcPct val="100000"/>
              </a:lnSpc>
              <a:buNone/>
              <a:tabLst>
                <a:tab pos="0" algn="l"/>
              </a:tabLst>
            </a:pPr>
            <a:fld id="{54C7C8F9-D8A1-48CE-A5F7-73FD2891549E}" type="slidenum">
              <a:rPr lang="en-US" sz="1200" b="0" strike="noStrike" spc="-1">
                <a:solidFill>
                  <a:srgbClr val="000000"/>
                </a:solidFill>
                <a:latin typeface="Calibri"/>
              </a:rPr>
              <a:t>‹#›</a:t>
            </a:fld>
            <a:endParaRPr lang="en-US" sz="1200" b="0" strike="noStrike" spc="-1">
              <a:solidFill>
                <a:srgbClr val="000000"/>
              </a:solidFill>
              <a:latin typeface="Times New Roman"/>
            </a:endParaRPr>
          </a:p>
        </p:txBody>
      </p:sp>
      <p:sp>
        <p:nvSpPr>
          <p:cNvPr id="92"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9.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9.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hyperlink" Target="https://1drv.ms/b/c/2a5147f875e28a6c/ERZP95SyC3lKsVwUQDYOjdMB3eXIzinr_9v0AR9bzyWsjQ?e=nalZHw" TargetMode="Externa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PlaceHolder 1"/>
          <p:cNvSpPr>
            <a:spLocks noGrp="1"/>
          </p:cNvSpPr>
          <p:nvPr>
            <p:ph type="title"/>
          </p:nvPr>
        </p:nvSpPr>
        <p:spPr>
          <a:xfrm>
            <a:off x="1108800" y="1589760"/>
            <a:ext cx="9960840" cy="1910160"/>
          </a:xfrm>
          <a:prstGeom prst="rect">
            <a:avLst/>
          </a:prstGeom>
          <a:gradFill rotWithShape="0">
            <a:gsLst>
              <a:gs pos="87000">
                <a:srgbClr val="FFFFFF">
                  <a:alpha val="0"/>
                </a:srgbClr>
              </a:gs>
              <a:gs pos="100000">
                <a:srgbClr val="EE853D">
                  <a:alpha val="76078"/>
                </a:srgbClr>
              </a:gs>
            </a:gsLst>
            <a:lin ang="5400000"/>
          </a:gradFill>
          <a:ln w="0">
            <a:noFill/>
          </a:ln>
        </p:spPr>
        <p:txBody>
          <a:bodyPr lIns="90000" tIns="45000" rIns="90000" bIns="45000" anchor="ctr">
            <a:normAutofit/>
          </a:bodyPr>
          <a:lstStyle/>
          <a:p>
            <a:pPr indent="0">
              <a:lnSpc>
                <a:spcPct val="114000"/>
              </a:lnSpc>
              <a:buNone/>
              <a:tabLst>
                <a:tab pos="0" algn="l"/>
              </a:tabLst>
            </a:pPr>
            <a:r>
              <a:rPr lang="en-US" sz="4400" b="0" strike="noStrike" spc="-1">
                <a:solidFill>
                  <a:srgbClr val="000000"/>
                </a:solidFill>
                <a:latin typeface="Arial"/>
                <a:ea typeface="PingFang SC"/>
              </a:rPr>
              <a:t>Introduction to Physics and Colliders</a:t>
            </a:r>
            <a:endParaRPr lang="en-US" sz="4400" b="0" strike="noStrike" spc="-1">
              <a:solidFill>
                <a:srgbClr val="000000"/>
              </a:solidFill>
              <a:latin typeface="Arial"/>
            </a:endParaRPr>
          </a:p>
        </p:txBody>
      </p:sp>
      <p:sp>
        <p:nvSpPr>
          <p:cNvPr id="136" name="Rectangle 135"/>
          <p:cNvSpPr/>
          <p:nvPr/>
        </p:nvSpPr>
        <p:spPr>
          <a:xfrm>
            <a:off x="-228600" y="3884040"/>
            <a:ext cx="175320" cy="340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a typeface="DejaVu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PlaceHolder 1"/>
          <p:cNvSpPr>
            <a:spLocks noGrp="1"/>
          </p:cNvSpPr>
          <p:nvPr>
            <p:ph type="title"/>
          </p:nvPr>
        </p:nvSpPr>
        <p:spPr>
          <a:xfrm>
            <a:off x="228600" y="681120"/>
            <a:ext cx="11811600" cy="702720"/>
          </a:xfrm>
          <a:prstGeom prst="rect">
            <a:avLst/>
          </a:prstGeom>
          <a:noFill/>
          <a:ln w="0">
            <a:noFill/>
          </a:ln>
        </p:spPr>
        <p:txBody>
          <a:bodyPr lIns="90000" tIns="45000" rIns="90000" bIns="45000" anchor="ctr">
            <a:normAutofit/>
          </a:bodyPr>
          <a:lstStyle/>
          <a:p>
            <a:pPr marL="233280" indent="0">
              <a:lnSpc>
                <a:spcPct val="90000"/>
              </a:lnSpc>
              <a:buNone/>
              <a:tabLst>
                <a:tab pos="0" algn="l"/>
              </a:tabLst>
            </a:pPr>
            <a:r>
              <a:rPr lang="en-US" sz="4000" b="1" strike="noStrike" spc="-1">
                <a:solidFill>
                  <a:srgbClr val="000000"/>
                </a:solidFill>
                <a:latin typeface="Arial"/>
              </a:rPr>
              <a:t>Learning Objectives</a:t>
            </a:r>
            <a:endParaRPr lang="en-US" sz="4000" b="0" strike="noStrike" spc="-1">
              <a:solidFill>
                <a:srgbClr val="000000"/>
              </a:solidFill>
              <a:latin typeface="Arial"/>
            </a:endParaRPr>
          </a:p>
        </p:txBody>
      </p:sp>
      <p:sp>
        <p:nvSpPr>
          <p:cNvPr id="138" name="Rectangle 137"/>
          <p:cNvSpPr/>
          <p:nvPr/>
        </p:nvSpPr>
        <p:spPr>
          <a:xfrm>
            <a:off x="2126160" y="1997280"/>
            <a:ext cx="7939440" cy="286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16000" indent="-216000">
              <a:lnSpc>
                <a:spcPct val="200000"/>
              </a:lnSpc>
              <a:spcBef>
                <a:spcPts val="1134"/>
              </a:spcBef>
              <a:spcAft>
                <a:spcPts val="1134"/>
              </a:spcAft>
              <a:buClr>
                <a:srgbClr val="000000"/>
              </a:buClr>
              <a:buSzPct val="45000"/>
              <a:buFont typeface="Wingdings" charset="2"/>
              <a:buChar char=""/>
            </a:pPr>
            <a:r>
              <a:rPr lang="en-US" sz="2200" b="0" strike="noStrike" spc="-1">
                <a:solidFill>
                  <a:srgbClr val="000000"/>
                </a:solidFill>
                <a:latin typeface="Arial"/>
                <a:ea typeface="DejaVu Sans"/>
              </a:rPr>
              <a:t>Understand the basics of physics simulation in Unity.</a:t>
            </a:r>
            <a:endParaRPr lang="en-US" sz="2200" b="0" strike="noStrike" spc="-1">
              <a:solidFill>
                <a:srgbClr val="000000"/>
              </a:solidFill>
              <a:latin typeface="Arial"/>
            </a:endParaRPr>
          </a:p>
          <a:p>
            <a:pPr marL="216000" indent="-216000">
              <a:lnSpc>
                <a:spcPct val="200000"/>
              </a:lnSpc>
              <a:spcBef>
                <a:spcPts val="1134"/>
              </a:spcBef>
              <a:spcAft>
                <a:spcPts val="1134"/>
              </a:spcAft>
              <a:buClr>
                <a:srgbClr val="000000"/>
              </a:buClr>
              <a:buSzPct val="45000"/>
              <a:buFont typeface="Wingdings" charset="2"/>
              <a:buChar char=""/>
            </a:pPr>
            <a:r>
              <a:rPr lang="en-US" sz="2200" b="0" strike="noStrike" spc="-1">
                <a:solidFill>
                  <a:srgbClr val="000000"/>
                </a:solidFill>
                <a:latin typeface="Arial"/>
                <a:ea typeface="DejaVu Sans"/>
              </a:rPr>
              <a:t>Learn about colliders and their role in collision detection.</a:t>
            </a:r>
            <a:endParaRPr lang="en-US" sz="2200" b="0" strike="noStrike" spc="-1">
              <a:solidFill>
                <a:srgbClr val="000000"/>
              </a:solidFill>
              <a:latin typeface="Arial"/>
            </a:endParaRPr>
          </a:p>
          <a:p>
            <a:pPr marL="216000" indent="-216000">
              <a:lnSpc>
                <a:spcPct val="200000"/>
              </a:lnSpc>
              <a:spcBef>
                <a:spcPts val="1134"/>
              </a:spcBef>
              <a:spcAft>
                <a:spcPts val="1134"/>
              </a:spcAft>
              <a:buClr>
                <a:srgbClr val="000000"/>
              </a:buClr>
              <a:buSzPct val="45000"/>
              <a:buFont typeface="Wingdings" charset="2"/>
              <a:buChar char=""/>
            </a:pPr>
            <a:r>
              <a:rPr lang="en-US" sz="2200" b="0" strike="noStrike" spc="-1">
                <a:solidFill>
                  <a:srgbClr val="000000"/>
                </a:solidFill>
                <a:latin typeface="Arial"/>
                <a:ea typeface="DejaVu Sans"/>
              </a:rPr>
              <a:t>Grasp how to implement basic physics interactions in Unity.</a:t>
            </a:r>
            <a:endParaRPr lang="en-US" sz="2200" b="0" strike="noStrike" spc="-1">
              <a:solidFill>
                <a:srgbClr val="000000"/>
              </a:solidFill>
              <a:latin typeface="Arial"/>
            </a:endParaRPr>
          </a:p>
        </p:txBody>
      </p:sp>
      <p:sp>
        <p:nvSpPr>
          <p:cNvPr id="3" name="PlaceHolder 2"/>
          <p:cNvSpPr>
            <a:spLocks noGrp="1"/>
          </p:cNvSpPr>
          <p:nvPr>
            <p:ph type="sldNum" idx="1"/>
          </p:nvPr>
        </p:nvSpPr>
        <p:spPr/>
        <p:txBody>
          <a:bodyPr/>
          <a:lstStyle/>
          <a:p>
            <a:fld id="{BCFBB8C7-AF2C-4CBA-A78B-F24A22122BEA}" type="slidenum">
              <a:r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PlaceHolder 2"/>
          <p:cNvSpPr/>
          <p:nvPr/>
        </p:nvSpPr>
        <p:spPr>
          <a:xfrm>
            <a:off x="228960" y="681480"/>
            <a:ext cx="11811600" cy="70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3600" b="1" strike="noStrike" spc="-1">
                <a:solidFill>
                  <a:srgbClr val="000000"/>
                </a:solidFill>
                <a:latin typeface="Arial"/>
                <a:ea typeface="Arial"/>
              </a:rPr>
              <a:t>Importance of Physics in Games</a:t>
            </a:r>
            <a:endParaRPr lang="en-US" sz="3600" b="0" strike="noStrike" spc="-1">
              <a:solidFill>
                <a:srgbClr val="000000"/>
              </a:solidFill>
              <a:latin typeface="Arial"/>
            </a:endParaRPr>
          </a:p>
        </p:txBody>
      </p:sp>
      <p:sp>
        <p:nvSpPr>
          <p:cNvPr id="140" name="Rectangle 139"/>
          <p:cNvSpPr/>
          <p:nvPr/>
        </p:nvSpPr>
        <p:spPr>
          <a:xfrm>
            <a:off x="7772400" y="6498360"/>
            <a:ext cx="4353840" cy="31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r>
              <a:rPr lang="en-US" sz="900" b="0" strike="noStrike" spc="-1">
                <a:solidFill>
                  <a:srgbClr val="000000"/>
                </a:solidFill>
                <a:latin typeface="Times New Roman"/>
                <a:ea typeface="DejaVu Sans"/>
              </a:rPr>
              <a:t>5: Thorn, Alan, Pro Unity game development with C#, 2014</a:t>
            </a:r>
            <a:endParaRPr lang="en-US" sz="900" b="0" strike="noStrike" spc="-1">
              <a:solidFill>
                <a:srgbClr val="000000"/>
              </a:solidFill>
              <a:latin typeface="Arial"/>
            </a:endParaRPr>
          </a:p>
          <a:p>
            <a:pPr>
              <a:lnSpc>
                <a:spcPct val="100000"/>
              </a:lnSpc>
            </a:pPr>
            <a:r>
              <a:rPr lang="en-US" sz="900" b="0" strike="noStrike" spc="-1">
                <a:solidFill>
                  <a:srgbClr val="000000"/>
                </a:solidFill>
                <a:latin typeface="Times New Roman"/>
                <a:ea typeface="DejaVu Sans"/>
              </a:rPr>
              <a:t>8: Unity Technologies, Unity Manual, 2023</a:t>
            </a:r>
            <a:endParaRPr lang="en-US" sz="900" b="0" strike="noStrike" spc="-1">
              <a:solidFill>
                <a:srgbClr val="000000"/>
              </a:solidFill>
              <a:latin typeface="Arial"/>
            </a:endParaRPr>
          </a:p>
        </p:txBody>
      </p:sp>
      <p:sp>
        <p:nvSpPr>
          <p:cNvPr id="141" name="Rectangle 140"/>
          <p:cNvSpPr/>
          <p:nvPr/>
        </p:nvSpPr>
        <p:spPr>
          <a:xfrm>
            <a:off x="216000" y="1445040"/>
            <a:ext cx="10745640" cy="3809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pPr>
            <a:r>
              <a:rPr lang="en-US" sz="1800" b="1" strike="noStrike" spc="-1" dirty="0">
                <a:solidFill>
                  <a:srgbClr val="000000"/>
                </a:solidFill>
                <a:latin typeface="Arial"/>
                <a:ea typeface="DejaVu Sans"/>
              </a:rPr>
              <a:t>1. Realism Enhancement</a:t>
            </a:r>
            <a:r>
              <a:rPr lang="en-US" sz="1800" b="0" strike="noStrike" spc="-1" dirty="0">
                <a:solidFill>
                  <a:srgbClr val="000000"/>
                </a:solidFill>
                <a:latin typeface="Arial"/>
                <a:ea typeface="DejaVu Sans"/>
              </a:rPr>
              <a:t>:</a:t>
            </a:r>
            <a:endParaRPr lang="en-US" sz="1800" b="0" strike="noStrike" spc="-1" dirty="0">
              <a:solidFill>
                <a:srgbClr val="000000"/>
              </a:solidFill>
              <a:latin typeface="Arial"/>
            </a:endParaRPr>
          </a:p>
          <a:p>
            <a:pPr marL="216000" indent="-216000">
              <a:lnSpc>
                <a:spcPct val="150000"/>
              </a:lnSpc>
              <a:buClr>
                <a:srgbClr val="000000"/>
              </a:buClr>
              <a:buSzPct val="45000"/>
              <a:buFont typeface="Wingdings" charset="2"/>
              <a:buChar char=""/>
            </a:pPr>
            <a:r>
              <a:rPr lang="en-US" sz="1600" b="1" strike="noStrike" spc="-1" dirty="0">
                <a:solidFill>
                  <a:srgbClr val="000000"/>
                </a:solidFill>
                <a:latin typeface="Arial"/>
                <a:ea typeface="DejaVu Sans"/>
              </a:rPr>
              <a:t>Simulation of Real-World Behavior</a:t>
            </a:r>
            <a:r>
              <a:rPr lang="en-US" sz="1600" b="0" strike="noStrike" spc="-1" dirty="0">
                <a:solidFill>
                  <a:srgbClr val="000000"/>
                </a:solidFill>
                <a:latin typeface="Arial"/>
                <a:ea typeface="DejaVu Sans"/>
              </a:rPr>
              <a:t>: Physics engines replicate real-world physics, making objects interact realistically with the environment (gravity, friction, collisions, etc.).</a:t>
            </a:r>
            <a:endParaRPr lang="en-US" sz="1600" b="0" strike="noStrike" spc="-1" dirty="0">
              <a:solidFill>
                <a:srgbClr val="000000"/>
              </a:solidFill>
              <a:latin typeface="Arial"/>
            </a:endParaRPr>
          </a:p>
          <a:p>
            <a:pPr marL="216000" indent="-216000">
              <a:lnSpc>
                <a:spcPct val="150000"/>
              </a:lnSpc>
              <a:buClr>
                <a:srgbClr val="000000"/>
              </a:buClr>
              <a:buSzPct val="45000"/>
              <a:buFont typeface="Wingdings" charset="2"/>
              <a:buChar char=""/>
            </a:pPr>
            <a:r>
              <a:rPr lang="en-US" sz="1600" b="1" strike="noStrike" spc="-1" dirty="0">
                <a:solidFill>
                  <a:srgbClr val="000000"/>
                </a:solidFill>
                <a:latin typeface="Arial"/>
                <a:ea typeface="DejaVu Sans"/>
              </a:rPr>
              <a:t>Environmental Interactions</a:t>
            </a:r>
            <a:r>
              <a:rPr lang="en-US" sz="1600" b="0" strike="noStrike" spc="-1" dirty="0">
                <a:solidFill>
                  <a:srgbClr val="000000"/>
                </a:solidFill>
                <a:latin typeface="Arial"/>
                <a:ea typeface="DejaVu Sans"/>
              </a:rPr>
              <a:t>: Realistic physics create immersive worlds where objects behave as expected, enhancing the player's sense of immersion and believability (Collisions and Interactions, Dynamic Materials).</a:t>
            </a:r>
            <a:endParaRPr lang="en-US" sz="1600" b="0" strike="noStrike" spc="-1" dirty="0">
              <a:solidFill>
                <a:srgbClr val="000000"/>
              </a:solidFill>
              <a:latin typeface="Arial"/>
            </a:endParaRPr>
          </a:p>
          <a:p>
            <a:pPr>
              <a:lnSpc>
                <a:spcPct val="150000"/>
              </a:lnSpc>
            </a:pPr>
            <a:endParaRPr lang="en-US" sz="1600" b="0" strike="noStrike" spc="-1" dirty="0">
              <a:solidFill>
                <a:srgbClr val="000000"/>
              </a:solidFill>
              <a:latin typeface="Arial"/>
            </a:endParaRPr>
          </a:p>
          <a:p>
            <a:pPr>
              <a:lnSpc>
                <a:spcPct val="150000"/>
              </a:lnSpc>
            </a:pPr>
            <a:r>
              <a:rPr lang="en-US" sz="1800" b="1" strike="noStrike" spc="-1" dirty="0">
                <a:solidFill>
                  <a:srgbClr val="000000"/>
                </a:solidFill>
                <a:latin typeface="Arial"/>
                <a:ea typeface="DejaVu Sans"/>
              </a:rPr>
              <a:t>2. Improving Interactivity</a:t>
            </a:r>
            <a:r>
              <a:rPr lang="en-US" sz="1800" b="0" strike="noStrike" spc="-1" dirty="0">
                <a:solidFill>
                  <a:srgbClr val="000000"/>
                </a:solidFill>
                <a:latin typeface="Arial"/>
                <a:ea typeface="DejaVu Sans"/>
              </a:rPr>
              <a:t>:</a:t>
            </a:r>
            <a:endParaRPr lang="en-US" sz="1800" b="0" strike="noStrike" spc="-1" dirty="0">
              <a:solidFill>
                <a:srgbClr val="000000"/>
              </a:solidFill>
              <a:latin typeface="Arial"/>
            </a:endParaRPr>
          </a:p>
          <a:p>
            <a:pPr marL="216000" indent="-216000">
              <a:lnSpc>
                <a:spcPct val="150000"/>
              </a:lnSpc>
              <a:buClr>
                <a:srgbClr val="000000"/>
              </a:buClr>
              <a:buSzPct val="45000"/>
              <a:buFont typeface="Wingdings" charset="2"/>
              <a:buChar char=""/>
            </a:pPr>
            <a:r>
              <a:rPr lang="en-US" sz="1600" b="1" strike="noStrike" spc="-1" dirty="0">
                <a:solidFill>
                  <a:srgbClr val="000000"/>
                </a:solidFill>
                <a:latin typeface="Arial"/>
                <a:ea typeface="DejaVu Sans"/>
              </a:rPr>
              <a:t>Dynamic Interactions</a:t>
            </a:r>
            <a:r>
              <a:rPr lang="en-US" sz="1600" b="0" strike="noStrike" spc="-1" dirty="0">
                <a:solidFill>
                  <a:srgbClr val="000000"/>
                </a:solidFill>
                <a:latin typeface="Arial"/>
                <a:ea typeface="DejaVu Sans"/>
              </a:rPr>
              <a:t>: Physics engines enable dynamic interactions between game elements, allowing for emergent gameplay and unscripted events.</a:t>
            </a:r>
            <a:endParaRPr lang="en-US" sz="1600" b="0" strike="noStrike" spc="-1" dirty="0">
              <a:solidFill>
                <a:srgbClr val="000000"/>
              </a:solidFill>
              <a:latin typeface="Arial"/>
            </a:endParaRPr>
          </a:p>
          <a:p>
            <a:pPr marL="216000" indent="-216000">
              <a:lnSpc>
                <a:spcPct val="150000"/>
              </a:lnSpc>
              <a:buClr>
                <a:srgbClr val="000000"/>
              </a:buClr>
              <a:buSzPct val="45000"/>
              <a:buFont typeface="Wingdings" charset="2"/>
              <a:buChar char=""/>
            </a:pPr>
            <a:r>
              <a:rPr lang="en-US" sz="1600" b="1" strike="noStrike" spc="-1" dirty="0">
                <a:solidFill>
                  <a:srgbClr val="000000"/>
                </a:solidFill>
                <a:latin typeface="Arial"/>
                <a:ea typeface="DejaVu Sans"/>
              </a:rPr>
              <a:t>Player Agency</a:t>
            </a:r>
            <a:r>
              <a:rPr lang="en-US" sz="1600" b="0" strike="noStrike" spc="-1" dirty="0">
                <a:solidFill>
                  <a:srgbClr val="000000"/>
                </a:solidFill>
                <a:latin typeface="Arial"/>
                <a:ea typeface="DejaVu Sans"/>
              </a:rPr>
              <a:t>: Physics-based mechanics give players more control and freedom, enabling creative problem-solving and varied gameplay approaches.</a:t>
            </a:r>
            <a:endParaRPr lang="en-US" sz="1600" b="0" strike="noStrike" spc="-1" dirty="0">
              <a:solidFill>
                <a:srgbClr val="000000"/>
              </a:solidFill>
              <a:latin typeface="Arial"/>
            </a:endParaRPr>
          </a:p>
        </p:txBody>
      </p:sp>
      <p:sp>
        <p:nvSpPr>
          <p:cNvPr id="142" name="Straight Connector 141"/>
          <p:cNvSpPr/>
          <p:nvPr/>
        </p:nvSpPr>
        <p:spPr>
          <a:xfrm>
            <a:off x="5477040" y="2284920"/>
            <a:ext cx="2514600" cy="360"/>
          </a:xfrm>
          <a:prstGeom prst="line">
            <a:avLst/>
          </a:prstGeom>
          <a:ln w="36720">
            <a:solidFill>
              <a:srgbClr val="FF860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a typeface="DejaVu Sans"/>
            </a:endParaRPr>
          </a:p>
        </p:txBody>
      </p:sp>
      <p:sp>
        <p:nvSpPr>
          <p:cNvPr id="143" name="Straight Connector 142"/>
          <p:cNvSpPr/>
          <p:nvPr/>
        </p:nvSpPr>
        <p:spPr>
          <a:xfrm>
            <a:off x="505800" y="3380400"/>
            <a:ext cx="5486400" cy="360"/>
          </a:xfrm>
          <a:prstGeom prst="line">
            <a:avLst/>
          </a:prstGeom>
          <a:ln w="36720">
            <a:solidFill>
              <a:srgbClr val="FF860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a typeface="DejaVu Sans"/>
            </a:endParaRPr>
          </a:p>
        </p:txBody>
      </p:sp>
      <p:sp>
        <p:nvSpPr>
          <p:cNvPr id="144" name="Straight Connector 143"/>
          <p:cNvSpPr/>
          <p:nvPr/>
        </p:nvSpPr>
        <p:spPr>
          <a:xfrm>
            <a:off x="5715000" y="4559400"/>
            <a:ext cx="3200400" cy="360"/>
          </a:xfrm>
          <a:prstGeom prst="line">
            <a:avLst/>
          </a:prstGeom>
          <a:ln w="36720">
            <a:solidFill>
              <a:srgbClr val="FF860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a typeface="DejaVu Sans"/>
            </a:endParaRPr>
          </a:p>
        </p:txBody>
      </p:sp>
      <p:sp>
        <p:nvSpPr>
          <p:cNvPr id="145" name="Straight Connector 144"/>
          <p:cNvSpPr/>
          <p:nvPr/>
        </p:nvSpPr>
        <p:spPr>
          <a:xfrm>
            <a:off x="5630400" y="5281200"/>
            <a:ext cx="2286000" cy="360"/>
          </a:xfrm>
          <a:prstGeom prst="line">
            <a:avLst/>
          </a:prstGeom>
          <a:ln w="36720">
            <a:solidFill>
              <a:srgbClr val="FF860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a typeface="DejaVu Sans"/>
            </a:endParaRPr>
          </a:p>
        </p:txBody>
      </p:sp>
      <p:sp>
        <p:nvSpPr>
          <p:cNvPr id="2" name="PlaceHolder 1"/>
          <p:cNvSpPr>
            <a:spLocks noGrp="1"/>
          </p:cNvSpPr>
          <p:nvPr>
            <p:ph type="sldNum" idx="2"/>
          </p:nvPr>
        </p:nvSpPr>
        <p:spPr/>
        <p:txBody>
          <a:bodyPr/>
          <a:lstStyle/>
          <a:p>
            <a:fld id="{873EFD85-53E8-4B11-8140-E3ECD9AB0246}" type="slidenum">
              <a:rPr/>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PlaceHolder 3"/>
          <p:cNvSpPr/>
          <p:nvPr/>
        </p:nvSpPr>
        <p:spPr>
          <a:xfrm>
            <a:off x="228960" y="681480"/>
            <a:ext cx="11811600" cy="70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3600" b="0" strike="noStrike" spc="-1">
                <a:solidFill>
                  <a:srgbClr val="000000"/>
                </a:solidFill>
                <a:latin typeface="Arial"/>
                <a:ea typeface="Arial"/>
              </a:rPr>
              <a:t>Unity's Built-in Physics Engine</a:t>
            </a:r>
            <a:endParaRPr lang="en-US" sz="3600" b="0" strike="noStrike" spc="-1">
              <a:solidFill>
                <a:srgbClr val="000000"/>
              </a:solidFill>
              <a:latin typeface="Arial"/>
            </a:endParaRPr>
          </a:p>
        </p:txBody>
      </p:sp>
      <p:sp>
        <p:nvSpPr>
          <p:cNvPr id="147" name="Rectangle 146"/>
          <p:cNvSpPr/>
          <p:nvPr/>
        </p:nvSpPr>
        <p:spPr>
          <a:xfrm>
            <a:off x="457200" y="3117240"/>
            <a:ext cx="10283400" cy="2282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spcBef>
                <a:spcPts val="1191"/>
              </a:spcBef>
              <a:spcAft>
                <a:spcPts val="992"/>
              </a:spcAft>
            </a:pPr>
            <a:r>
              <a:rPr lang="en-US" sz="1800" b="0" strike="noStrike" spc="-1">
                <a:solidFill>
                  <a:srgbClr val="000000"/>
                </a:solidFill>
                <a:latin typeface="Arial"/>
                <a:ea typeface="DejaVu Sans"/>
              </a:rPr>
              <a:t>For developers working with game engines, physics engines provide an accompanying way of simulating real-world responses for objects in games. In Unity, the game engine uses Nvidia's PhysX engine, a popular and highly accurate commercial physics engine. </a:t>
            </a:r>
            <a:r>
              <a:rPr lang="en-US" sz="1800" b="0" strike="noStrike" spc="-1" baseline="33000">
                <a:solidFill>
                  <a:srgbClr val="000000"/>
                </a:solidFill>
                <a:latin typeface="Arial"/>
                <a:ea typeface="DejaVu Sans"/>
              </a:rPr>
              <a:t>[10]</a:t>
            </a:r>
            <a:endParaRPr lang="en-US" sz="1800" b="0" strike="noStrike" spc="-1">
              <a:solidFill>
                <a:srgbClr val="000000"/>
              </a:solidFill>
              <a:latin typeface="Arial"/>
            </a:endParaRPr>
          </a:p>
          <a:p>
            <a:pPr>
              <a:lnSpc>
                <a:spcPct val="150000"/>
              </a:lnSpc>
              <a:spcBef>
                <a:spcPts val="1191"/>
              </a:spcBef>
              <a:spcAft>
                <a:spcPts val="992"/>
              </a:spcAft>
            </a:pPr>
            <a:endParaRPr lang="en-US" sz="1800" b="0" strike="noStrike" spc="-1">
              <a:solidFill>
                <a:srgbClr val="000000"/>
              </a:solidFill>
              <a:latin typeface="Arial"/>
            </a:endParaRPr>
          </a:p>
        </p:txBody>
      </p:sp>
      <p:sp>
        <p:nvSpPr>
          <p:cNvPr id="148" name="Rectangle 147"/>
          <p:cNvSpPr/>
          <p:nvPr/>
        </p:nvSpPr>
        <p:spPr>
          <a:xfrm>
            <a:off x="457200" y="1348200"/>
            <a:ext cx="10512720" cy="162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spcBef>
                <a:spcPts val="1191"/>
              </a:spcBef>
              <a:spcAft>
                <a:spcPts val="992"/>
              </a:spcAft>
            </a:pPr>
            <a:r>
              <a:rPr lang="en-US" sz="1800" b="0" strike="noStrike" spc="-1" dirty="0">
                <a:solidFill>
                  <a:srgbClr val="000000"/>
                </a:solidFill>
                <a:latin typeface="Arial"/>
                <a:ea typeface="DejaVu Sans"/>
              </a:rPr>
              <a:t>Unity helps you simulate physics in your Project to ensure that the objects correctly accelerate and respond to collisions, gravity, and various other forces. Unity provides different physics engine implementations which you can use according to your Project needs: 3D, 2D, object-oriented, or data-oriented. </a:t>
            </a:r>
            <a:r>
              <a:rPr lang="en-US" sz="1800" b="0" strike="noStrike" spc="-1" baseline="33000" dirty="0">
                <a:solidFill>
                  <a:srgbClr val="000000"/>
                </a:solidFill>
                <a:latin typeface="Arial"/>
                <a:ea typeface="DejaVu Sans"/>
              </a:rPr>
              <a:t>[8]</a:t>
            </a:r>
            <a:endParaRPr lang="en-US" sz="1800" b="0" strike="noStrike" spc="-1" dirty="0">
              <a:solidFill>
                <a:srgbClr val="000000"/>
              </a:solidFill>
              <a:latin typeface="Arial"/>
            </a:endParaRPr>
          </a:p>
        </p:txBody>
      </p:sp>
      <p:sp>
        <p:nvSpPr>
          <p:cNvPr id="149" name="Rectangle 148"/>
          <p:cNvSpPr/>
          <p:nvPr/>
        </p:nvSpPr>
        <p:spPr>
          <a:xfrm>
            <a:off x="7772400" y="6498360"/>
            <a:ext cx="4353840" cy="31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r>
              <a:rPr lang="en-US" sz="900" b="0" strike="noStrike" spc="-1">
                <a:solidFill>
                  <a:srgbClr val="000000"/>
                </a:solidFill>
                <a:latin typeface="Times New Roman"/>
                <a:ea typeface="DejaVu Sans"/>
              </a:rPr>
              <a:t>8: Unity Technologies, Unity Manual, 2023</a:t>
            </a:r>
            <a:endParaRPr lang="en-US" sz="900" b="0" strike="noStrike" spc="-1">
              <a:solidFill>
                <a:srgbClr val="000000"/>
              </a:solidFill>
              <a:latin typeface="Arial"/>
            </a:endParaRPr>
          </a:p>
          <a:p>
            <a:pPr>
              <a:lnSpc>
                <a:spcPct val="100000"/>
              </a:lnSpc>
            </a:pPr>
            <a:r>
              <a:rPr lang="en-US" sz="900" b="0" strike="noStrike" spc="-1">
                <a:solidFill>
                  <a:srgbClr val="000000"/>
                </a:solidFill>
                <a:latin typeface="Times New Roman"/>
                <a:ea typeface="DejaVu Sans"/>
              </a:rPr>
              <a:t>10: Goldstone Will, Unity 3.x game development essentials, 2011</a:t>
            </a:r>
            <a:endParaRPr lang="en-US" sz="900" b="0" strike="noStrike" spc="-1">
              <a:solidFill>
                <a:srgbClr val="000000"/>
              </a:solidFill>
              <a:latin typeface="Arial"/>
            </a:endParaRPr>
          </a:p>
        </p:txBody>
      </p:sp>
      <p:pic>
        <p:nvPicPr>
          <p:cNvPr id="150" name="Picture 149"/>
          <p:cNvPicPr/>
          <p:nvPr/>
        </p:nvPicPr>
        <p:blipFill>
          <a:blip r:embed="rId2"/>
          <a:stretch/>
        </p:blipFill>
        <p:spPr>
          <a:xfrm>
            <a:off x="1600200" y="4607640"/>
            <a:ext cx="8683200" cy="1772280"/>
          </a:xfrm>
          <a:prstGeom prst="rect">
            <a:avLst/>
          </a:prstGeom>
          <a:ln w="0">
            <a:noFill/>
          </a:ln>
        </p:spPr>
      </p:pic>
      <p:sp>
        <p:nvSpPr>
          <p:cNvPr id="151" name="Straight Connector 150"/>
          <p:cNvSpPr/>
          <p:nvPr/>
        </p:nvSpPr>
        <p:spPr>
          <a:xfrm>
            <a:off x="2286000" y="1828800"/>
            <a:ext cx="1600200" cy="360"/>
          </a:xfrm>
          <a:prstGeom prst="line">
            <a:avLst/>
          </a:prstGeom>
          <a:ln w="36720">
            <a:solidFill>
              <a:srgbClr val="FF860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a typeface="DejaVu Sans"/>
            </a:endParaRPr>
          </a:p>
        </p:txBody>
      </p:sp>
      <p:sp>
        <p:nvSpPr>
          <p:cNvPr id="152" name="Straight Connector 151"/>
          <p:cNvSpPr/>
          <p:nvPr/>
        </p:nvSpPr>
        <p:spPr>
          <a:xfrm>
            <a:off x="1600200" y="2250000"/>
            <a:ext cx="4343400" cy="360"/>
          </a:xfrm>
          <a:prstGeom prst="line">
            <a:avLst/>
          </a:prstGeom>
          <a:ln w="36720">
            <a:solidFill>
              <a:srgbClr val="FF860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a typeface="DejaVu Sans"/>
            </a:endParaRPr>
          </a:p>
        </p:txBody>
      </p:sp>
      <p:sp>
        <p:nvSpPr>
          <p:cNvPr id="153" name="Straight Connector 152"/>
          <p:cNvSpPr/>
          <p:nvPr/>
        </p:nvSpPr>
        <p:spPr>
          <a:xfrm>
            <a:off x="5607000" y="5029200"/>
            <a:ext cx="3200400" cy="360"/>
          </a:xfrm>
          <a:prstGeom prst="line">
            <a:avLst/>
          </a:prstGeom>
          <a:ln w="36720">
            <a:solidFill>
              <a:srgbClr val="FF860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a typeface="DejaVu Sans"/>
            </a:endParaRPr>
          </a:p>
        </p:txBody>
      </p:sp>
      <p:sp>
        <p:nvSpPr>
          <p:cNvPr id="154" name="Straight Connector 153"/>
          <p:cNvSpPr/>
          <p:nvPr/>
        </p:nvSpPr>
        <p:spPr>
          <a:xfrm>
            <a:off x="1600200" y="3994200"/>
            <a:ext cx="4343400" cy="360"/>
          </a:xfrm>
          <a:prstGeom prst="line">
            <a:avLst/>
          </a:prstGeom>
          <a:ln w="36720">
            <a:solidFill>
              <a:srgbClr val="FF860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a typeface="DejaVu Sans"/>
            </a:endParaRPr>
          </a:p>
        </p:txBody>
      </p:sp>
      <p:sp>
        <p:nvSpPr>
          <p:cNvPr id="2" name="PlaceHolder 1"/>
          <p:cNvSpPr>
            <a:spLocks noGrp="1"/>
          </p:cNvSpPr>
          <p:nvPr>
            <p:ph type="sldNum" idx="3"/>
          </p:nvPr>
        </p:nvSpPr>
        <p:spPr/>
        <p:txBody>
          <a:bodyPr/>
          <a:lstStyle/>
          <a:p>
            <a:fld id="{671D312E-AF07-4B6A-8F8C-CE94E4A87229}" type="slidenum">
              <a:rPr/>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PlaceHolder 1"/>
          <p:cNvSpPr>
            <a:spLocks noGrp="1"/>
          </p:cNvSpPr>
          <p:nvPr>
            <p:ph type="title"/>
          </p:nvPr>
        </p:nvSpPr>
        <p:spPr>
          <a:xfrm>
            <a:off x="609480" y="721800"/>
            <a:ext cx="10972080" cy="682920"/>
          </a:xfrm>
          <a:prstGeom prst="rect">
            <a:avLst/>
          </a:prstGeom>
          <a:noFill/>
          <a:ln w="0">
            <a:noFill/>
          </a:ln>
        </p:spPr>
        <p:txBody>
          <a:bodyPr lIns="0" tIns="0" rIns="0" bIns="0" anchor="ctr">
            <a:noAutofit/>
          </a:bodyPr>
          <a:lstStyle/>
          <a:p>
            <a:pPr indent="0">
              <a:lnSpc>
                <a:spcPct val="100000"/>
              </a:lnSpc>
              <a:buNone/>
              <a:tabLst>
                <a:tab pos="0" algn="l"/>
              </a:tabLst>
            </a:pPr>
            <a:r>
              <a:rPr lang="en-US" sz="3600" b="0" strike="noStrike" spc="-1">
                <a:solidFill>
                  <a:srgbClr val="000000"/>
                </a:solidFill>
                <a:latin typeface="Arial"/>
                <a:ea typeface="Arial"/>
              </a:rPr>
              <a:t>2D physics</a:t>
            </a:r>
            <a:endParaRPr lang="en-US" sz="3600" b="0" strike="noStrike" spc="-1">
              <a:solidFill>
                <a:srgbClr val="000000"/>
              </a:solidFill>
              <a:latin typeface="Arial"/>
            </a:endParaRPr>
          </a:p>
        </p:txBody>
      </p:sp>
      <p:sp>
        <p:nvSpPr>
          <p:cNvPr id="156" name="PlaceHolder 23"/>
          <p:cNvSpPr/>
          <p:nvPr/>
        </p:nvSpPr>
        <p:spPr>
          <a:xfrm>
            <a:off x="228960" y="681480"/>
            <a:ext cx="11811600" cy="70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endParaRPr lang="en-US" sz="1800" b="0" strike="noStrike" spc="-1">
              <a:solidFill>
                <a:srgbClr val="000000"/>
              </a:solidFill>
              <a:latin typeface="Arial"/>
              <a:ea typeface="DejaVu Sans"/>
            </a:endParaRPr>
          </a:p>
        </p:txBody>
      </p:sp>
      <p:sp>
        <p:nvSpPr>
          <p:cNvPr id="157" name="Rectangle 156"/>
          <p:cNvSpPr/>
          <p:nvPr/>
        </p:nvSpPr>
        <p:spPr>
          <a:xfrm>
            <a:off x="521280" y="1600200"/>
            <a:ext cx="11136960" cy="1364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pPr>
            <a:r>
              <a:rPr lang="en-US" sz="2000" b="0" strike="noStrike" spc="-1">
                <a:solidFill>
                  <a:srgbClr val="000000"/>
                </a:solidFill>
                <a:latin typeface="Arial"/>
                <a:ea typeface="PingFang SC"/>
              </a:rPr>
              <a:t>Unity has a separate physics system to handle 2D physics so you can make use of optimizations only available with 2D. The components correspond to the standard 3D physics components such as Rigidbody, Box Collider and Hinge Joint, but with 2D appended to the name.</a:t>
            </a:r>
            <a:endParaRPr lang="en-US" sz="2000" b="0" strike="noStrike" spc="-1">
              <a:solidFill>
                <a:srgbClr val="000000"/>
              </a:solidFill>
              <a:latin typeface="Arial"/>
            </a:endParaRPr>
          </a:p>
        </p:txBody>
      </p:sp>
      <p:sp>
        <p:nvSpPr>
          <p:cNvPr id="158" name="Rectangle 157"/>
          <p:cNvSpPr/>
          <p:nvPr/>
        </p:nvSpPr>
        <p:spPr>
          <a:xfrm>
            <a:off x="9023400" y="6593400"/>
            <a:ext cx="2057040" cy="13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r>
              <a:rPr lang="en-US" sz="900" b="0" strike="noStrike" spc="-1">
                <a:solidFill>
                  <a:srgbClr val="000000"/>
                </a:solidFill>
                <a:latin typeface="Times New Roman"/>
                <a:ea typeface="DejaVu Sans"/>
              </a:rPr>
              <a:t>8: Unity Technologies, Unity Manual, 2023</a:t>
            </a:r>
            <a:endParaRPr lang="en-US" sz="900" b="0" strike="noStrike" spc="-1">
              <a:solidFill>
                <a:srgbClr val="000000"/>
              </a:solidFill>
              <a:latin typeface="Arial"/>
            </a:endParaRPr>
          </a:p>
        </p:txBody>
      </p:sp>
      <p:sp>
        <p:nvSpPr>
          <p:cNvPr id="159" name="Rectangle 158"/>
          <p:cNvSpPr/>
          <p:nvPr/>
        </p:nvSpPr>
        <p:spPr>
          <a:xfrm>
            <a:off x="637560" y="3501360"/>
            <a:ext cx="11020680" cy="276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spcBef>
                <a:spcPts val="1191"/>
              </a:spcBef>
              <a:spcAft>
                <a:spcPts val="992"/>
              </a:spcAft>
            </a:pPr>
            <a:r>
              <a:rPr lang="en-US" sz="2000" b="1" strike="noStrike" spc="-1">
                <a:solidFill>
                  <a:srgbClr val="000000"/>
                </a:solidFill>
                <a:latin typeface="Arial"/>
              </a:rPr>
              <a:t>Rigidbody 2D</a:t>
            </a:r>
            <a:r>
              <a:rPr lang="en-US" sz="2000" b="0" strike="noStrike" spc="-1">
                <a:solidFill>
                  <a:srgbClr val="000000"/>
                </a:solidFill>
                <a:latin typeface="Arial"/>
              </a:rPr>
              <a:t>: Elaborating on its purpose in determining an object's physical behavior, including movement, rotation, and responses to forces.</a:t>
            </a:r>
          </a:p>
          <a:p>
            <a:pPr>
              <a:lnSpc>
                <a:spcPct val="150000"/>
              </a:lnSpc>
              <a:spcBef>
                <a:spcPts val="1191"/>
              </a:spcBef>
              <a:spcAft>
                <a:spcPts val="992"/>
              </a:spcAft>
            </a:pPr>
            <a:r>
              <a:rPr lang="en-US" sz="2000" b="1" strike="noStrike" spc="-1">
                <a:solidFill>
                  <a:srgbClr val="000000"/>
                </a:solidFill>
                <a:latin typeface="Arial"/>
              </a:rPr>
              <a:t>Collider 2D</a:t>
            </a:r>
            <a:r>
              <a:rPr lang="en-US" sz="2000" b="0" strike="noStrike" spc="-1">
                <a:solidFill>
                  <a:srgbClr val="000000"/>
                </a:solidFill>
                <a:latin typeface="Arial"/>
              </a:rPr>
              <a:t>: Defining the boundary and shape of an object for collision detection, discussing various collider types (e.g., BoxCollider2D, CircleCollider2D).</a:t>
            </a:r>
          </a:p>
          <a:p>
            <a:pPr>
              <a:lnSpc>
                <a:spcPct val="150000"/>
              </a:lnSpc>
              <a:spcBef>
                <a:spcPts val="1191"/>
              </a:spcBef>
              <a:spcAft>
                <a:spcPts val="992"/>
              </a:spcAft>
            </a:pPr>
            <a:endParaRPr lang="en-US" sz="2000" b="0" strike="noStrike" spc="-1">
              <a:solidFill>
                <a:srgbClr val="000000"/>
              </a:solidFill>
              <a:latin typeface="Arial"/>
            </a:endParaRPr>
          </a:p>
        </p:txBody>
      </p:sp>
      <p:sp>
        <p:nvSpPr>
          <p:cNvPr id="3" name="PlaceHolder 2"/>
          <p:cNvSpPr>
            <a:spLocks noGrp="1"/>
          </p:cNvSpPr>
          <p:nvPr>
            <p:ph type="sldNum" idx="3"/>
          </p:nvPr>
        </p:nvSpPr>
        <p:spPr/>
        <p:txBody>
          <a:bodyPr/>
          <a:lstStyle/>
          <a:p>
            <a:fld id="{22BD529D-4BD5-4AD8-9788-95CDCAAC689F}" type="slidenum">
              <a:rPr/>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PlaceHolder 1"/>
          <p:cNvSpPr>
            <a:spLocks noGrp="1"/>
          </p:cNvSpPr>
          <p:nvPr>
            <p:ph type="title"/>
          </p:nvPr>
        </p:nvSpPr>
        <p:spPr>
          <a:xfrm>
            <a:off x="609480" y="721800"/>
            <a:ext cx="10972080" cy="682920"/>
          </a:xfrm>
          <a:prstGeom prst="rect">
            <a:avLst/>
          </a:prstGeom>
          <a:noFill/>
          <a:ln w="0">
            <a:noFill/>
          </a:ln>
        </p:spPr>
        <p:txBody>
          <a:bodyPr lIns="0" tIns="0" rIns="0" bIns="0" anchor="ctr">
            <a:noAutofit/>
          </a:bodyPr>
          <a:lstStyle/>
          <a:p>
            <a:pPr indent="0">
              <a:lnSpc>
                <a:spcPct val="100000"/>
              </a:lnSpc>
              <a:buNone/>
              <a:tabLst>
                <a:tab pos="0" algn="l"/>
              </a:tabLst>
            </a:pPr>
            <a:r>
              <a:rPr lang="en-US" sz="3600" b="1" strike="noStrike" spc="-1">
                <a:solidFill>
                  <a:srgbClr val="000000"/>
                </a:solidFill>
                <a:latin typeface="Arial"/>
              </a:rPr>
              <a:t>Introduction to Rigidbody 2D</a:t>
            </a:r>
            <a:endParaRPr lang="en-US" sz="3600" b="0" strike="noStrike" spc="-1">
              <a:solidFill>
                <a:srgbClr val="000000"/>
              </a:solidFill>
              <a:latin typeface="Arial"/>
            </a:endParaRPr>
          </a:p>
        </p:txBody>
      </p:sp>
      <p:sp>
        <p:nvSpPr>
          <p:cNvPr id="161" name="Rectangle 160"/>
          <p:cNvSpPr/>
          <p:nvPr/>
        </p:nvSpPr>
        <p:spPr>
          <a:xfrm>
            <a:off x="493200" y="1545120"/>
            <a:ext cx="11622240" cy="1364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pPr>
            <a:r>
              <a:rPr lang="en-US" sz="2000" b="0" strike="noStrike" spc="-1">
                <a:solidFill>
                  <a:srgbClr val="000000"/>
                </a:solidFill>
                <a:latin typeface="Arial"/>
              </a:rPr>
              <a:t>You can attach a Rigidbody 2D component to a GameObject to control it with the physics system. The Rigidbody 2D shares similar properties with its standard Rigidbody counterpart, but it’s adapted to 2D development. </a:t>
            </a:r>
          </a:p>
        </p:txBody>
      </p:sp>
      <p:sp>
        <p:nvSpPr>
          <p:cNvPr id="162" name="Rectangle 161"/>
          <p:cNvSpPr/>
          <p:nvPr/>
        </p:nvSpPr>
        <p:spPr>
          <a:xfrm>
            <a:off x="457200" y="3429000"/>
            <a:ext cx="11429640" cy="1789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spcBef>
                <a:spcPts val="1191"/>
              </a:spcBef>
              <a:spcAft>
                <a:spcPts val="992"/>
              </a:spcAft>
            </a:pPr>
            <a:r>
              <a:rPr lang="en-US" sz="2000" b="0" strike="noStrike" spc="-1">
                <a:solidFill>
                  <a:srgbClr val="000000"/>
                </a:solidFill>
                <a:latin typeface="Arial"/>
              </a:rPr>
              <a:t>Unity requires a method for the physics system to communicate this movement of colliders back to the Transform components. This movement and connection with colliders is what a Rigidbody 2D component is for. The Rigidbody 2D component overrides the Transform component and updates it to the position and/or rotation it defines instead.</a:t>
            </a:r>
          </a:p>
        </p:txBody>
      </p:sp>
      <p:sp>
        <p:nvSpPr>
          <p:cNvPr id="3" name="PlaceHolder 2"/>
          <p:cNvSpPr>
            <a:spLocks noGrp="1"/>
          </p:cNvSpPr>
          <p:nvPr>
            <p:ph type="sldNum" idx="3"/>
          </p:nvPr>
        </p:nvSpPr>
        <p:spPr/>
        <p:txBody>
          <a:bodyPr/>
          <a:lstStyle/>
          <a:p>
            <a:fld id="{12C0B46D-CF3A-4428-AA8B-F99BFF177990}" type="slidenum">
              <a:rPr/>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PlaceHolder 1"/>
          <p:cNvSpPr>
            <a:spLocks noGrp="1"/>
          </p:cNvSpPr>
          <p:nvPr>
            <p:ph type="title"/>
          </p:nvPr>
        </p:nvSpPr>
        <p:spPr>
          <a:xfrm>
            <a:off x="609480" y="721800"/>
            <a:ext cx="10972080" cy="682920"/>
          </a:xfrm>
          <a:prstGeom prst="rect">
            <a:avLst/>
          </a:prstGeom>
          <a:noFill/>
          <a:ln w="0">
            <a:noFill/>
          </a:ln>
        </p:spPr>
        <p:txBody>
          <a:bodyPr lIns="0" tIns="0" rIns="0" bIns="0" anchor="ctr">
            <a:noAutofit/>
          </a:bodyPr>
          <a:lstStyle/>
          <a:p>
            <a:pPr indent="0">
              <a:lnSpc>
                <a:spcPct val="100000"/>
              </a:lnSpc>
              <a:buNone/>
              <a:tabLst>
                <a:tab pos="0" algn="l"/>
              </a:tabLst>
            </a:pPr>
            <a:r>
              <a:rPr lang="en-US" sz="3600" b="0" strike="noStrike" spc="-1">
                <a:solidFill>
                  <a:srgbClr val="000000"/>
                </a:solidFill>
                <a:latin typeface="Arial"/>
              </a:rPr>
              <a:t>Rigidbody 2D body types</a:t>
            </a:r>
          </a:p>
        </p:txBody>
      </p:sp>
      <p:sp>
        <p:nvSpPr>
          <p:cNvPr id="164" name="Rectangle 163"/>
          <p:cNvSpPr/>
          <p:nvPr/>
        </p:nvSpPr>
        <p:spPr>
          <a:xfrm>
            <a:off x="576720" y="1600200"/>
            <a:ext cx="11310120" cy="914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2000" b="0" strike="noStrike" spc="-1">
                <a:solidFill>
                  <a:srgbClr val="000000"/>
                </a:solidFill>
                <a:latin typeface="Arial"/>
              </a:rPr>
              <a:t>There are three options for Body Type which define the behavior of the Rigidbody 2D. Any Collider 2D attached to that Rigidbody 2D inherits the Rigidbody 2D’s Body Type as well.</a:t>
            </a:r>
          </a:p>
        </p:txBody>
      </p:sp>
      <p:graphicFrame>
        <p:nvGraphicFramePr>
          <p:cNvPr id="165" name="Table 164"/>
          <p:cNvGraphicFramePr/>
          <p:nvPr/>
        </p:nvGraphicFramePr>
        <p:xfrm>
          <a:off x="1224000" y="2548440"/>
          <a:ext cx="9977400" cy="3310251"/>
        </p:xfrm>
        <a:graphic>
          <a:graphicData uri="http://schemas.openxmlformats.org/drawingml/2006/table">
            <a:tbl>
              <a:tblPr/>
              <a:tblGrid>
                <a:gridCol w="2858760">
                  <a:extLst>
                    <a:ext uri="{9D8B030D-6E8A-4147-A177-3AD203B41FA5}">
                      <a16:colId xmlns:a16="http://schemas.microsoft.com/office/drawing/2014/main" val="20000"/>
                    </a:ext>
                  </a:extLst>
                </a:gridCol>
                <a:gridCol w="7118640">
                  <a:extLst>
                    <a:ext uri="{9D8B030D-6E8A-4147-A177-3AD203B41FA5}">
                      <a16:colId xmlns:a16="http://schemas.microsoft.com/office/drawing/2014/main" val="20001"/>
                    </a:ext>
                  </a:extLst>
                </a:gridCol>
              </a:tblGrid>
              <a:tr h="719640">
                <a:tc>
                  <a:txBody>
                    <a:bodyPr/>
                    <a:lstStyle/>
                    <a:p>
                      <a:pPr algn="ctr">
                        <a:lnSpc>
                          <a:spcPct val="150000"/>
                        </a:lnSpc>
                        <a:spcBef>
                          <a:spcPts val="1134"/>
                        </a:spcBef>
                        <a:spcAft>
                          <a:spcPts val="1134"/>
                        </a:spcAft>
                      </a:pPr>
                      <a:r>
                        <a:rPr lang="en-US" sz="1800" b="1" strike="noStrike" spc="-1">
                          <a:solidFill>
                            <a:srgbClr val="000000"/>
                          </a:solidFill>
                          <a:latin typeface="Arial"/>
                        </a:rPr>
                        <a:t>Rigidbody 2D types</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50000"/>
                        </a:lnSpc>
                        <a:spcBef>
                          <a:spcPts val="1134"/>
                        </a:spcBef>
                        <a:spcAft>
                          <a:spcPts val="1134"/>
                        </a:spcAft>
                      </a:pPr>
                      <a:r>
                        <a:rPr lang="en-US" sz="1800" b="1" strike="noStrike" spc="-1">
                          <a:solidFill>
                            <a:srgbClr val="000000"/>
                          </a:solidFill>
                          <a:latin typeface="Arial"/>
                        </a:rPr>
                        <a:t>Description</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0"/>
                  </a:ext>
                </a:extLst>
              </a:tr>
              <a:tr h="719640">
                <a:tc>
                  <a:txBody>
                    <a:bodyPr/>
                    <a:lstStyle/>
                    <a:p>
                      <a:pPr algn="ctr">
                        <a:lnSpc>
                          <a:spcPct val="150000"/>
                        </a:lnSpc>
                        <a:spcBef>
                          <a:spcPts val="1134"/>
                        </a:spcBef>
                        <a:spcAft>
                          <a:spcPts val="1134"/>
                        </a:spcAft>
                      </a:pPr>
                      <a:r>
                        <a:rPr lang="en-US" sz="1800" b="1" strike="noStrike" spc="-1">
                          <a:solidFill>
                            <a:srgbClr val="5983B0"/>
                          </a:solidFill>
                          <a:latin typeface="Arial"/>
                        </a:rPr>
                        <a:t>Dynamic</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50000"/>
                        </a:lnSpc>
                        <a:spcBef>
                          <a:spcPts val="1134"/>
                        </a:spcBef>
                        <a:spcAft>
                          <a:spcPts val="1134"/>
                        </a:spcAft>
                      </a:pPr>
                      <a:r>
                        <a:rPr lang="en-US" sz="1800" b="0" strike="noStrike" spc="-1">
                          <a:solidFill>
                            <a:srgbClr val="000000"/>
                          </a:solidFill>
                          <a:latin typeface="Arial"/>
                        </a:rPr>
                        <a:t>Use the Dynamic Body Type to design your Rigidbody 2D to move under simulation.</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1"/>
                  </a:ext>
                </a:extLst>
              </a:tr>
              <a:tr h="719640">
                <a:tc>
                  <a:txBody>
                    <a:bodyPr/>
                    <a:lstStyle/>
                    <a:p>
                      <a:pPr algn="ctr">
                        <a:lnSpc>
                          <a:spcPct val="150000"/>
                        </a:lnSpc>
                        <a:spcBef>
                          <a:spcPts val="1134"/>
                        </a:spcBef>
                        <a:spcAft>
                          <a:spcPts val="1134"/>
                        </a:spcAft>
                      </a:pPr>
                      <a:r>
                        <a:rPr lang="en-US" sz="1800" b="1" strike="noStrike" spc="-1">
                          <a:solidFill>
                            <a:srgbClr val="5983B0"/>
                          </a:solidFill>
                          <a:latin typeface="Arial"/>
                        </a:rPr>
                        <a:t>Kinematic</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50000"/>
                        </a:lnSpc>
                        <a:spcBef>
                          <a:spcPts val="1134"/>
                        </a:spcBef>
                        <a:spcAft>
                          <a:spcPts val="1134"/>
                        </a:spcAft>
                      </a:pPr>
                      <a:r>
                        <a:rPr lang="en-US" sz="1800" b="0" strike="noStrike" spc="-1">
                          <a:solidFill>
                            <a:srgbClr val="000000"/>
                          </a:solidFill>
                          <a:latin typeface="Arial"/>
                        </a:rPr>
                        <a:t>Use the Kinematic Body Type to design your Rigidbody 2D to move under simulation only with explicit user control.</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2"/>
                  </a:ext>
                </a:extLst>
              </a:tr>
              <a:tr h="720720">
                <a:tc>
                  <a:txBody>
                    <a:bodyPr/>
                    <a:lstStyle/>
                    <a:p>
                      <a:pPr algn="ctr">
                        <a:lnSpc>
                          <a:spcPct val="150000"/>
                        </a:lnSpc>
                        <a:spcBef>
                          <a:spcPts val="1134"/>
                        </a:spcBef>
                        <a:spcAft>
                          <a:spcPts val="1134"/>
                        </a:spcAft>
                      </a:pPr>
                      <a:r>
                        <a:rPr lang="en-US" sz="1800" b="1" strike="noStrike" spc="-1">
                          <a:solidFill>
                            <a:srgbClr val="5983B0"/>
                          </a:solidFill>
                          <a:latin typeface="Arial"/>
                        </a:rPr>
                        <a:t>Static</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50000"/>
                        </a:lnSpc>
                        <a:spcBef>
                          <a:spcPts val="1134"/>
                        </a:spcBef>
                        <a:spcAft>
                          <a:spcPts val="1134"/>
                        </a:spcAft>
                      </a:pPr>
                      <a:r>
                        <a:rPr lang="en-US" sz="1800" b="0" strike="noStrike" spc="-1">
                          <a:solidFill>
                            <a:srgbClr val="000000"/>
                          </a:solidFill>
                          <a:latin typeface="Arial"/>
                        </a:rPr>
                        <a:t>Use the Static Body Type to design your Rigidbody 2D to not move under simulation.</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3"/>
                  </a:ext>
                </a:extLst>
              </a:tr>
            </a:tbl>
          </a:graphicData>
        </a:graphic>
      </p:graphicFrame>
      <p:sp>
        <p:nvSpPr>
          <p:cNvPr id="3" name="PlaceHolder 2"/>
          <p:cNvSpPr>
            <a:spLocks noGrp="1"/>
          </p:cNvSpPr>
          <p:nvPr>
            <p:ph type="sldNum" idx="3"/>
          </p:nvPr>
        </p:nvSpPr>
        <p:spPr/>
        <p:txBody>
          <a:bodyPr/>
          <a:lstStyle/>
          <a:p>
            <a:fld id="{B8983DE6-59FA-4F91-9D25-769882858156}" type="slidenum">
              <a:rPr/>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PlaceHolder 1"/>
          <p:cNvSpPr>
            <a:spLocks noGrp="1"/>
          </p:cNvSpPr>
          <p:nvPr>
            <p:ph type="title"/>
          </p:nvPr>
        </p:nvSpPr>
        <p:spPr>
          <a:xfrm>
            <a:off x="609480" y="721800"/>
            <a:ext cx="10972080" cy="682920"/>
          </a:xfrm>
          <a:prstGeom prst="rect">
            <a:avLst/>
          </a:prstGeom>
          <a:noFill/>
          <a:ln w="0">
            <a:noFill/>
          </a:ln>
        </p:spPr>
        <p:txBody>
          <a:bodyPr lIns="0" tIns="0" rIns="0" bIns="0" anchor="ctr">
            <a:noAutofit/>
          </a:bodyPr>
          <a:lstStyle/>
          <a:p>
            <a:pPr indent="0">
              <a:lnSpc>
                <a:spcPct val="100000"/>
              </a:lnSpc>
              <a:buNone/>
              <a:tabLst>
                <a:tab pos="0" algn="l"/>
              </a:tabLst>
            </a:pPr>
            <a:r>
              <a:rPr lang="en-US" sz="3600" b="0" strike="noStrike" spc="-1">
                <a:solidFill>
                  <a:srgbClr val="000000"/>
                </a:solidFill>
                <a:latin typeface="Arial"/>
              </a:rPr>
              <a:t>Rigidbody 2D properties: Simulated</a:t>
            </a:r>
          </a:p>
        </p:txBody>
      </p:sp>
      <p:sp>
        <p:nvSpPr>
          <p:cNvPr id="167" name="Rectangle 166"/>
          <p:cNvSpPr/>
          <p:nvPr/>
        </p:nvSpPr>
        <p:spPr>
          <a:xfrm>
            <a:off x="371880" y="1614600"/>
            <a:ext cx="11743560" cy="1364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pPr>
            <a:r>
              <a:rPr lang="en-US" sz="2000" b="0" strike="noStrike" spc="-1">
                <a:solidFill>
                  <a:srgbClr val="000000"/>
                </a:solidFill>
                <a:latin typeface="Arial"/>
              </a:rPr>
              <a:t>The Simulated property is common to all available Body Types. Use this property to start (enabled) or stop (disabled) a Rigidbody 2D and any attached Collider 2Ds and Joint 2Ds from interacting with the 2D physics simulation.</a:t>
            </a:r>
          </a:p>
        </p:txBody>
      </p:sp>
      <p:sp>
        <p:nvSpPr>
          <p:cNvPr id="168" name="Rectangle 167"/>
          <p:cNvSpPr/>
          <p:nvPr/>
        </p:nvSpPr>
        <p:spPr>
          <a:xfrm>
            <a:off x="393840" y="3200400"/>
            <a:ext cx="11264400" cy="2514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pPr>
            <a:r>
              <a:rPr lang="en-US" sz="2000" b="0" strike="noStrike" spc="-1">
                <a:solidFill>
                  <a:srgbClr val="000000"/>
                </a:solidFill>
                <a:latin typeface="Arial"/>
              </a:rPr>
              <a:t>When you enable the Simulated property, the following occurs:</a:t>
            </a:r>
          </a:p>
          <a:p>
            <a:pPr marL="216000" indent="-216000">
              <a:lnSpc>
                <a:spcPct val="150000"/>
              </a:lnSpc>
              <a:buClr>
                <a:srgbClr val="000000"/>
              </a:buClr>
              <a:buSzPct val="45000"/>
              <a:buFont typeface="Wingdings" charset="2"/>
              <a:buChar char=""/>
            </a:pPr>
            <a:r>
              <a:rPr lang="en-US" sz="2000" b="0" strike="noStrike" spc="-1">
                <a:solidFill>
                  <a:srgbClr val="000000"/>
                </a:solidFill>
                <a:latin typeface="Arial"/>
              </a:rPr>
              <a:t>The Rigidbody 2D moves via the simulation (gravity and physics forces are applied).</a:t>
            </a:r>
          </a:p>
          <a:p>
            <a:pPr marL="216000" indent="-216000">
              <a:lnSpc>
                <a:spcPct val="150000"/>
              </a:lnSpc>
              <a:buClr>
                <a:srgbClr val="000000"/>
              </a:buClr>
              <a:buSzPct val="45000"/>
              <a:buFont typeface="Wingdings" charset="2"/>
              <a:buChar char=""/>
            </a:pPr>
            <a:r>
              <a:rPr lang="en-US" sz="2000" b="0" strike="noStrike" spc="-1">
                <a:solidFill>
                  <a:srgbClr val="000000"/>
                </a:solidFill>
                <a:latin typeface="Arial"/>
              </a:rPr>
              <a:t>Any attached Collider 2Ds continue creating new contacts and continuously reevaluate contacts.</a:t>
            </a:r>
          </a:p>
          <a:p>
            <a:pPr marL="216000" indent="-216000">
              <a:lnSpc>
                <a:spcPct val="150000"/>
              </a:lnSpc>
              <a:buClr>
                <a:srgbClr val="000000"/>
              </a:buClr>
              <a:buSzPct val="45000"/>
              <a:buFont typeface="Wingdings" charset="2"/>
              <a:buChar char=""/>
            </a:pPr>
            <a:r>
              <a:rPr lang="en-US" sz="2000" b="0" strike="noStrike" spc="-1">
                <a:solidFill>
                  <a:srgbClr val="000000"/>
                </a:solidFill>
                <a:latin typeface="Arial"/>
              </a:rPr>
              <a:t>Any attached Joint 2Ds are simulated and constrain the attached Rigidbody 2D.</a:t>
            </a:r>
          </a:p>
          <a:p>
            <a:pPr marL="216000" indent="-216000">
              <a:lnSpc>
                <a:spcPct val="150000"/>
              </a:lnSpc>
              <a:buClr>
                <a:srgbClr val="000000"/>
              </a:buClr>
              <a:buSzPct val="45000"/>
              <a:buFont typeface="Wingdings" charset="2"/>
              <a:buChar char=""/>
            </a:pPr>
            <a:r>
              <a:rPr lang="en-US" sz="2000" b="0" strike="noStrike" spc="-1">
                <a:solidFill>
                  <a:srgbClr val="000000"/>
                </a:solidFill>
                <a:latin typeface="Arial"/>
              </a:rPr>
              <a:t>All internal physics objects for Rigidbody 2D, Collider 2D, and Joint 2D stay in memory.</a:t>
            </a:r>
          </a:p>
        </p:txBody>
      </p:sp>
      <p:sp>
        <p:nvSpPr>
          <p:cNvPr id="3" name="PlaceHolder 2"/>
          <p:cNvSpPr>
            <a:spLocks noGrp="1"/>
          </p:cNvSpPr>
          <p:nvPr>
            <p:ph type="sldNum" idx="3"/>
          </p:nvPr>
        </p:nvSpPr>
        <p:spPr/>
        <p:txBody>
          <a:bodyPr/>
          <a:lstStyle/>
          <a:p>
            <a:fld id="{89131745-586C-450B-9C07-73E3184D7507}" type="slidenum">
              <a:rPr/>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PlaceHolder 1"/>
          <p:cNvSpPr>
            <a:spLocks noGrp="1"/>
          </p:cNvSpPr>
          <p:nvPr>
            <p:ph type="title"/>
          </p:nvPr>
        </p:nvSpPr>
        <p:spPr>
          <a:xfrm>
            <a:off x="609480" y="721800"/>
            <a:ext cx="10972080" cy="682920"/>
          </a:xfrm>
          <a:prstGeom prst="rect">
            <a:avLst/>
          </a:prstGeom>
          <a:noFill/>
          <a:ln w="0">
            <a:noFill/>
          </a:ln>
        </p:spPr>
        <p:txBody>
          <a:bodyPr lIns="0" tIns="0" rIns="0" bIns="0" anchor="ctr">
            <a:noAutofit/>
          </a:bodyPr>
          <a:lstStyle/>
          <a:p>
            <a:pPr indent="0">
              <a:lnSpc>
                <a:spcPct val="100000"/>
              </a:lnSpc>
              <a:buNone/>
              <a:tabLst>
                <a:tab pos="0" algn="l"/>
              </a:tabLst>
            </a:pPr>
            <a:r>
              <a:rPr lang="en-US" sz="3600" b="0" strike="noStrike" spc="-1">
                <a:solidFill>
                  <a:srgbClr val="000000"/>
                </a:solidFill>
                <a:latin typeface="Arial"/>
              </a:rPr>
              <a:t>Rigidbody 2D</a:t>
            </a:r>
          </a:p>
        </p:txBody>
      </p:sp>
      <p:sp>
        <p:nvSpPr>
          <p:cNvPr id="170" name="Rectangle 169"/>
          <p:cNvSpPr/>
          <p:nvPr/>
        </p:nvSpPr>
        <p:spPr>
          <a:xfrm>
            <a:off x="396000" y="1600200"/>
            <a:ext cx="8000640" cy="3913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spcBef>
                <a:spcPts val="1134"/>
              </a:spcBef>
              <a:spcAft>
                <a:spcPts val="1134"/>
              </a:spcAft>
            </a:pPr>
            <a:r>
              <a:rPr lang="en-US" sz="2000" b="0" strike="noStrike" spc="-1" dirty="0" err="1">
                <a:solidFill>
                  <a:srgbClr val="000000"/>
                </a:solidFill>
                <a:latin typeface="Arial"/>
              </a:rPr>
              <a:t>Rigidbody</a:t>
            </a:r>
            <a:r>
              <a:rPr lang="en-US" sz="2000" b="0" strike="noStrike" spc="-1" dirty="0">
                <a:solidFill>
                  <a:srgbClr val="000000"/>
                </a:solidFill>
                <a:latin typeface="Arial"/>
              </a:rPr>
              <a:t> 2D properties:</a:t>
            </a:r>
          </a:p>
          <a:p>
            <a:pPr marL="216000" indent="-216000">
              <a:lnSpc>
                <a:spcPct val="150000"/>
              </a:lnSpc>
              <a:spcBef>
                <a:spcPts val="1134"/>
              </a:spcBef>
              <a:spcAft>
                <a:spcPts val="1134"/>
              </a:spcAft>
              <a:buClr>
                <a:srgbClr val="000000"/>
              </a:buClr>
              <a:buSzPct val="45000"/>
              <a:buFont typeface="Wingdings" charset="2"/>
              <a:buChar char=""/>
            </a:pPr>
            <a:r>
              <a:rPr lang="en-US" sz="2000" b="1" strike="noStrike" spc="-1" dirty="0">
                <a:solidFill>
                  <a:srgbClr val="000000"/>
                </a:solidFill>
                <a:latin typeface="Arial"/>
              </a:rPr>
              <a:t>Mass</a:t>
            </a:r>
            <a:r>
              <a:rPr lang="en-US" sz="2000" b="0" strike="noStrike" spc="-1" dirty="0">
                <a:solidFill>
                  <a:srgbClr val="000000"/>
                </a:solidFill>
                <a:latin typeface="Arial"/>
              </a:rPr>
              <a:t>: Impact on the object's inertia and responsiveness to forces.</a:t>
            </a:r>
          </a:p>
          <a:p>
            <a:pPr marL="216000" indent="-216000">
              <a:lnSpc>
                <a:spcPct val="150000"/>
              </a:lnSpc>
              <a:spcBef>
                <a:spcPts val="1134"/>
              </a:spcBef>
              <a:spcAft>
                <a:spcPts val="1134"/>
              </a:spcAft>
              <a:buClr>
                <a:srgbClr val="000000"/>
              </a:buClr>
              <a:buSzPct val="45000"/>
              <a:buFont typeface="Wingdings" charset="2"/>
              <a:buChar char=""/>
            </a:pPr>
            <a:r>
              <a:rPr lang="en-US" sz="2000" b="1" strike="noStrike" spc="-1" dirty="0">
                <a:solidFill>
                  <a:srgbClr val="000000"/>
                </a:solidFill>
                <a:latin typeface="Arial"/>
              </a:rPr>
              <a:t>Drag</a:t>
            </a:r>
            <a:r>
              <a:rPr lang="en-US" sz="2000" b="0" strike="noStrike" spc="-1" dirty="0">
                <a:solidFill>
                  <a:srgbClr val="000000"/>
                </a:solidFill>
                <a:latin typeface="Arial"/>
              </a:rPr>
              <a:t>: Effects on the object's speed reduction in a physical environment.</a:t>
            </a:r>
          </a:p>
          <a:p>
            <a:pPr marL="216000" indent="-216000">
              <a:lnSpc>
                <a:spcPct val="150000"/>
              </a:lnSpc>
              <a:spcBef>
                <a:spcPts val="1134"/>
              </a:spcBef>
              <a:spcAft>
                <a:spcPts val="1134"/>
              </a:spcAft>
              <a:buClr>
                <a:srgbClr val="000000"/>
              </a:buClr>
              <a:buSzPct val="45000"/>
              <a:buFont typeface="Wingdings" charset="2"/>
              <a:buChar char=""/>
            </a:pPr>
            <a:r>
              <a:rPr lang="en-US" sz="2000" b="1" strike="noStrike" spc="-1" dirty="0">
                <a:solidFill>
                  <a:srgbClr val="000000"/>
                </a:solidFill>
                <a:latin typeface="Arial"/>
              </a:rPr>
              <a:t>Angular Drag</a:t>
            </a:r>
            <a:r>
              <a:rPr lang="en-US" sz="2000" b="0" strike="noStrike" spc="-1" dirty="0">
                <a:solidFill>
                  <a:srgbClr val="000000"/>
                </a:solidFill>
                <a:latin typeface="Arial"/>
              </a:rPr>
              <a:t>: Control over rotation speed dampening.</a:t>
            </a:r>
          </a:p>
          <a:p>
            <a:pPr marL="216000" indent="-216000">
              <a:lnSpc>
                <a:spcPct val="150000"/>
              </a:lnSpc>
              <a:spcBef>
                <a:spcPts val="1134"/>
              </a:spcBef>
              <a:spcAft>
                <a:spcPts val="1134"/>
              </a:spcAft>
              <a:buClr>
                <a:srgbClr val="000000"/>
              </a:buClr>
              <a:buSzPct val="45000"/>
              <a:buFont typeface="Wingdings" charset="2"/>
              <a:buChar char=""/>
            </a:pPr>
            <a:r>
              <a:rPr lang="en-US" sz="2000" b="1" strike="noStrike" spc="-1" dirty="0">
                <a:solidFill>
                  <a:srgbClr val="000000"/>
                </a:solidFill>
                <a:latin typeface="Arial"/>
              </a:rPr>
              <a:t>Gravity Scale</a:t>
            </a:r>
            <a:r>
              <a:rPr lang="en-US" sz="2000" b="0" strike="noStrike" spc="-1" dirty="0">
                <a:solidFill>
                  <a:srgbClr val="000000"/>
                </a:solidFill>
                <a:latin typeface="Arial"/>
              </a:rPr>
              <a:t>: Adjusting the influence of gravity on the object.</a:t>
            </a:r>
          </a:p>
        </p:txBody>
      </p:sp>
      <p:pic>
        <p:nvPicPr>
          <p:cNvPr id="171" name="Picture 170"/>
          <p:cNvPicPr/>
          <p:nvPr/>
        </p:nvPicPr>
        <p:blipFill>
          <a:blip r:embed="rId3"/>
          <a:stretch/>
        </p:blipFill>
        <p:spPr>
          <a:xfrm>
            <a:off x="8433000" y="1168560"/>
            <a:ext cx="3682440" cy="5003280"/>
          </a:xfrm>
          <a:prstGeom prst="rect">
            <a:avLst/>
          </a:prstGeom>
          <a:ln w="0">
            <a:noFill/>
          </a:ln>
        </p:spPr>
      </p:pic>
      <p:sp>
        <p:nvSpPr>
          <p:cNvPr id="3" name="PlaceHolder 2"/>
          <p:cNvSpPr>
            <a:spLocks noGrp="1"/>
          </p:cNvSpPr>
          <p:nvPr>
            <p:ph type="sldNum" idx="3"/>
          </p:nvPr>
        </p:nvSpPr>
        <p:spPr/>
        <p:txBody>
          <a:bodyPr/>
          <a:lstStyle/>
          <a:p>
            <a:fld id="{FBD0942C-8F25-464B-8F37-1A9DB5BE5892}" type="slidenum">
              <a:rPr/>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PlaceHolder 1"/>
          <p:cNvSpPr>
            <a:spLocks noGrp="1"/>
          </p:cNvSpPr>
          <p:nvPr>
            <p:ph type="title"/>
          </p:nvPr>
        </p:nvSpPr>
        <p:spPr>
          <a:xfrm>
            <a:off x="609480" y="721800"/>
            <a:ext cx="10972080" cy="682920"/>
          </a:xfrm>
          <a:prstGeom prst="rect">
            <a:avLst/>
          </a:prstGeom>
          <a:noFill/>
          <a:ln w="0">
            <a:noFill/>
          </a:ln>
        </p:spPr>
        <p:txBody>
          <a:bodyPr lIns="0" tIns="0" rIns="0" bIns="0" anchor="ctr">
            <a:noAutofit/>
          </a:bodyPr>
          <a:lstStyle/>
          <a:p>
            <a:pPr indent="0">
              <a:lnSpc>
                <a:spcPct val="100000"/>
              </a:lnSpc>
              <a:buNone/>
              <a:tabLst>
                <a:tab pos="0" algn="l"/>
              </a:tabLst>
            </a:pPr>
            <a:r>
              <a:rPr lang="en-US" sz="3600" b="1" strike="noStrike" spc="-1">
                <a:solidFill>
                  <a:srgbClr val="000000"/>
                </a:solidFill>
                <a:latin typeface="Arial"/>
              </a:rPr>
              <a:t>Collider 2D</a:t>
            </a:r>
            <a:endParaRPr lang="en-US" sz="3600" b="0" strike="noStrike" spc="-1">
              <a:solidFill>
                <a:srgbClr val="000000"/>
              </a:solidFill>
              <a:latin typeface="Arial"/>
            </a:endParaRPr>
          </a:p>
        </p:txBody>
      </p:sp>
      <p:sp>
        <p:nvSpPr>
          <p:cNvPr id="173" name="Rectangle 172"/>
          <p:cNvSpPr/>
          <p:nvPr/>
        </p:nvSpPr>
        <p:spPr>
          <a:xfrm>
            <a:off x="485280" y="1427400"/>
            <a:ext cx="11401560" cy="1789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pPr>
            <a:r>
              <a:rPr lang="en-US" sz="2000" b="1" strike="noStrike" spc="-1">
                <a:solidFill>
                  <a:srgbClr val="000000"/>
                </a:solidFill>
                <a:latin typeface="Arial"/>
              </a:rPr>
              <a:t>Collider 2D components</a:t>
            </a:r>
            <a:r>
              <a:rPr lang="en-US" sz="2000" b="0" strike="noStrike" spc="-1">
                <a:solidFill>
                  <a:srgbClr val="000000"/>
                </a:solidFill>
                <a:latin typeface="Arial"/>
              </a:rPr>
              <a:t> define the </a:t>
            </a:r>
            <a:r>
              <a:rPr lang="en-US" sz="2000" b="0" i="1" strike="noStrike" spc="-1">
                <a:solidFill>
                  <a:srgbClr val="000000"/>
                </a:solidFill>
                <a:latin typeface="Arial"/>
              </a:rPr>
              <a:t>shape of a 2D GameObject</a:t>
            </a:r>
            <a:r>
              <a:rPr lang="en-US" sz="2000" b="0" strike="noStrike" spc="-1">
                <a:solidFill>
                  <a:srgbClr val="000000"/>
                </a:solidFill>
                <a:latin typeface="Arial"/>
              </a:rPr>
              <a:t> for the purposes of physical collisions. A collider, which is invisible, doesn’t need to be the exact same shape as the GameObject’s mesh; a rough approximation is often more efficient, with no noticeable difference in gameplay.</a:t>
            </a:r>
          </a:p>
        </p:txBody>
      </p:sp>
      <p:sp>
        <p:nvSpPr>
          <p:cNvPr id="3" name="PlaceHolder 2"/>
          <p:cNvSpPr>
            <a:spLocks noGrp="1"/>
          </p:cNvSpPr>
          <p:nvPr>
            <p:ph type="sldNum" idx="3"/>
          </p:nvPr>
        </p:nvSpPr>
        <p:spPr/>
        <p:txBody>
          <a:bodyPr/>
          <a:lstStyle/>
          <a:p>
            <a:fld id="{9969528B-BEA2-46FF-B79A-F4364EB63227}" type="slidenum">
              <a:rPr/>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PlaceHolder 1"/>
          <p:cNvSpPr>
            <a:spLocks noGrp="1"/>
          </p:cNvSpPr>
          <p:nvPr>
            <p:ph type="title"/>
          </p:nvPr>
        </p:nvSpPr>
        <p:spPr>
          <a:xfrm>
            <a:off x="609480" y="721800"/>
            <a:ext cx="10972080" cy="682920"/>
          </a:xfrm>
          <a:prstGeom prst="rect">
            <a:avLst/>
          </a:prstGeom>
          <a:noFill/>
          <a:ln w="0">
            <a:noFill/>
          </a:ln>
        </p:spPr>
        <p:txBody>
          <a:bodyPr lIns="0" tIns="0" rIns="0" bIns="0" anchor="ctr">
            <a:noAutofit/>
          </a:bodyPr>
          <a:lstStyle/>
          <a:p>
            <a:pPr indent="0">
              <a:lnSpc>
                <a:spcPct val="100000"/>
              </a:lnSpc>
              <a:buNone/>
              <a:tabLst>
                <a:tab pos="0" algn="l"/>
              </a:tabLst>
            </a:pPr>
            <a:r>
              <a:rPr lang="en-US" sz="3600" b="0" strike="noStrike" spc="-1">
                <a:solidFill>
                  <a:srgbClr val="000000"/>
                </a:solidFill>
                <a:latin typeface="Arial"/>
              </a:rPr>
              <a:t>Collider 2D types</a:t>
            </a:r>
          </a:p>
        </p:txBody>
      </p:sp>
      <p:pic>
        <p:nvPicPr>
          <p:cNvPr id="175" name="Picture 174"/>
          <p:cNvPicPr/>
          <p:nvPr/>
        </p:nvPicPr>
        <p:blipFill>
          <a:blip r:embed="rId3"/>
          <a:stretch/>
        </p:blipFill>
        <p:spPr>
          <a:xfrm>
            <a:off x="479160" y="1471320"/>
            <a:ext cx="11407680" cy="4554000"/>
          </a:xfrm>
          <a:prstGeom prst="rect">
            <a:avLst/>
          </a:prstGeom>
          <a:ln w="0">
            <a:noFill/>
          </a:ln>
        </p:spPr>
      </p:pic>
      <p:sp>
        <p:nvSpPr>
          <p:cNvPr id="3" name="PlaceHolder 2"/>
          <p:cNvSpPr>
            <a:spLocks noGrp="1"/>
          </p:cNvSpPr>
          <p:nvPr>
            <p:ph type="sldNum" idx="3"/>
          </p:nvPr>
        </p:nvSpPr>
        <p:spPr/>
        <p:txBody>
          <a:bodyPr/>
          <a:lstStyle/>
          <a:p>
            <a:fld id="{3472F361-5360-456D-BBE5-3B612C61232E}" type="slidenum">
              <a:rPr/>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PlaceHolder 1"/>
          <p:cNvSpPr>
            <a:spLocks noGrp="1"/>
          </p:cNvSpPr>
          <p:nvPr>
            <p:ph type="title"/>
          </p:nvPr>
        </p:nvSpPr>
        <p:spPr>
          <a:xfrm>
            <a:off x="609480" y="721800"/>
            <a:ext cx="10972080" cy="682920"/>
          </a:xfrm>
          <a:prstGeom prst="rect">
            <a:avLst/>
          </a:prstGeom>
          <a:noFill/>
          <a:ln w="0">
            <a:noFill/>
          </a:ln>
        </p:spPr>
        <p:txBody>
          <a:bodyPr lIns="0" tIns="0" rIns="0" bIns="0" anchor="ctr">
            <a:noAutofit/>
          </a:bodyPr>
          <a:lstStyle/>
          <a:p>
            <a:pPr indent="0">
              <a:lnSpc>
                <a:spcPct val="100000"/>
              </a:lnSpc>
              <a:buNone/>
              <a:tabLst>
                <a:tab pos="0" algn="l"/>
              </a:tabLst>
            </a:pPr>
            <a:r>
              <a:rPr lang="en-US" sz="3600" b="0" strike="noStrike" spc="-1">
                <a:solidFill>
                  <a:srgbClr val="000000"/>
                </a:solidFill>
                <a:latin typeface="Arial"/>
              </a:rPr>
              <a:t>Circle Collider 2D</a:t>
            </a:r>
          </a:p>
        </p:txBody>
      </p:sp>
      <p:sp>
        <p:nvSpPr>
          <p:cNvPr id="177" name="Rectangle 176"/>
          <p:cNvSpPr/>
          <p:nvPr/>
        </p:nvSpPr>
        <p:spPr>
          <a:xfrm>
            <a:off x="577800" y="1528200"/>
            <a:ext cx="10972440" cy="1364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pPr>
            <a:r>
              <a:rPr lang="en-US" sz="2000" b="0" strike="noStrike" spc="-1">
                <a:solidFill>
                  <a:srgbClr val="000000"/>
                </a:solidFill>
                <a:latin typeface="Arial"/>
              </a:rPr>
              <a:t>The Circle Collider 2D is a collider that interacts with the 2D physics system for approximate collision detection. The Circle Collider 2D, as the name suggests, is in circular shape with a defined position and radius within the local coordinate space of a Sprite.</a:t>
            </a:r>
          </a:p>
        </p:txBody>
      </p:sp>
      <p:pic>
        <p:nvPicPr>
          <p:cNvPr id="178" name="Picture 177"/>
          <p:cNvPicPr/>
          <p:nvPr/>
        </p:nvPicPr>
        <p:blipFill>
          <a:blip r:embed="rId2"/>
          <a:stretch/>
        </p:blipFill>
        <p:spPr>
          <a:xfrm>
            <a:off x="5703480" y="3036960"/>
            <a:ext cx="5605920" cy="3278880"/>
          </a:xfrm>
          <a:prstGeom prst="rect">
            <a:avLst/>
          </a:prstGeom>
          <a:ln w="0">
            <a:noFill/>
          </a:ln>
        </p:spPr>
      </p:pic>
      <p:pic>
        <p:nvPicPr>
          <p:cNvPr id="179" name="Picture 178"/>
          <p:cNvPicPr/>
          <p:nvPr/>
        </p:nvPicPr>
        <p:blipFill>
          <a:blip r:embed="rId3"/>
          <a:stretch/>
        </p:blipFill>
        <p:spPr>
          <a:xfrm>
            <a:off x="1970280" y="3657600"/>
            <a:ext cx="2144160" cy="1756440"/>
          </a:xfrm>
          <a:prstGeom prst="rect">
            <a:avLst/>
          </a:prstGeom>
          <a:ln w="0">
            <a:noFill/>
          </a:ln>
        </p:spPr>
      </p:pic>
      <p:sp>
        <p:nvSpPr>
          <p:cNvPr id="3" name="PlaceHolder 2"/>
          <p:cNvSpPr>
            <a:spLocks noGrp="1"/>
          </p:cNvSpPr>
          <p:nvPr>
            <p:ph type="sldNum" idx="3"/>
          </p:nvPr>
        </p:nvSpPr>
        <p:spPr/>
        <p:txBody>
          <a:bodyPr/>
          <a:lstStyle/>
          <a:p>
            <a:fld id="{7BEA04EE-6BAB-4575-ACC3-D90BDC25121B}" type="slidenum">
              <a:rPr/>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PlaceHolder 1"/>
          <p:cNvSpPr>
            <a:spLocks noGrp="1"/>
          </p:cNvSpPr>
          <p:nvPr>
            <p:ph type="title"/>
          </p:nvPr>
        </p:nvSpPr>
        <p:spPr>
          <a:xfrm>
            <a:off x="609480" y="721800"/>
            <a:ext cx="10972080" cy="682920"/>
          </a:xfrm>
          <a:prstGeom prst="rect">
            <a:avLst/>
          </a:prstGeom>
          <a:noFill/>
          <a:ln w="0">
            <a:noFill/>
          </a:ln>
        </p:spPr>
        <p:txBody>
          <a:bodyPr lIns="0" tIns="0" rIns="0" bIns="0" anchor="ctr">
            <a:noAutofit/>
          </a:bodyPr>
          <a:lstStyle/>
          <a:p>
            <a:pPr indent="0">
              <a:lnSpc>
                <a:spcPct val="100000"/>
              </a:lnSpc>
              <a:buNone/>
              <a:tabLst>
                <a:tab pos="0" algn="l"/>
              </a:tabLst>
            </a:pPr>
            <a:r>
              <a:rPr lang="en-US" sz="3600" b="0" strike="noStrike" spc="-1">
                <a:solidFill>
                  <a:srgbClr val="000000"/>
                </a:solidFill>
                <a:latin typeface="Arial"/>
              </a:rPr>
              <a:t>Box Collider 2D</a:t>
            </a:r>
          </a:p>
        </p:txBody>
      </p:sp>
      <p:sp>
        <p:nvSpPr>
          <p:cNvPr id="181" name="Rectangle 180"/>
          <p:cNvSpPr/>
          <p:nvPr/>
        </p:nvSpPr>
        <p:spPr>
          <a:xfrm>
            <a:off x="577800" y="1528200"/>
            <a:ext cx="10972440" cy="1364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pPr>
            <a:r>
              <a:rPr lang="en-US" sz="2000" b="0" strike="noStrike" spc="-1">
                <a:solidFill>
                  <a:srgbClr val="000000"/>
                </a:solidFill>
                <a:latin typeface="Arial"/>
              </a:rPr>
              <a:t>The Box Collider 2D is a Collider that interacts with the 2D physics system. It is a rectangle in shape with a defined position, width and height in the local coordinate space of a Sprite. Note: The selection rectangle is axis-aligned, with its edges parallel to the X or Y axes of local space.</a:t>
            </a:r>
          </a:p>
        </p:txBody>
      </p:sp>
      <p:pic>
        <p:nvPicPr>
          <p:cNvPr id="182" name="Picture 181"/>
          <p:cNvPicPr/>
          <p:nvPr/>
        </p:nvPicPr>
        <p:blipFill>
          <a:blip r:embed="rId2"/>
          <a:stretch/>
        </p:blipFill>
        <p:spPr>
          <a:xfrm>
            <a:off x="6365160" y="2971800"/>
            <a:ext cx="4944600" cy="3403080"/>
          </a:xfrm>
          <a:prstGeom prst="rect">
            <a:avLst/>
          </a:prstGeom>
          <a:ln w="0">
            <a:noFill/>
          </a:ln>
        </p:spPr>
      </p:pic>
      <p:pic>
        <p:nvPicPr>
          <p:cNvPr id="183" name="Picture 182"/>
          <p:cNvPicPr/>
          <p:nvPr/>
        </p:nvPicPr>
        <p:blipFill>
          <a:blip r:embed="rId3"/>
          <a:stretch/>
        </p:blipFill>
        <p:spPr>
          <a:xfrm>
            <a:off x="1963440" y="3571200"/>
            <a:ext cx="2379600" cy="2372040"/>
          </a:xfrm>
          <a:prstGeom prst="rect">
            <a:avLst/>
          </a:prstGeom>
          <a:ln w="0">
            <a:noFill/>
          </a:ln>
        </p:spPr>
      </p:pic>
      <p:sp>
        <p:nvSpPr>
          <p:cNvPr id="3" name="PlaceHolder 2"/>
          <p:cNvSpPr>
            <a:spLocks noGrp="1"/>
          </p:cNvSpPr>
          <p:nvPr>
            <p:ph type="sldNum" idx="3"/>
          </p:nvPr>
        </p:nvSpPr>
        <p:spPr/>
        <p:txBody>
          <a:bodyPr/>
          <a:lstStyle/>
          <a:p>
            <a:fld id="{E43DDF48-A1AF-44C8-99F0-B5B4FF5D4667}" type="slidenum">
              <a:rPr/>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PlaceHolder 1"/>
          <p:cNvSpPr>
            <a:spLocks noGrp="1"/>
          </p:cNvSpPr>
          <p:nvPr>
            <p:ph type="title"/>
          </p:nvPr>
        </p:nvSpPr>
        <p:spPr>
          <a:xfrm>
            <a:off x="609480" y="721800"/>
            <a:ext cx="10972080" cy="682920"/>
          </a:xfrm>
          <a:prstGeom prst="rect">
            <a:avLst/>
          </a:prstGeom>
          <a:noFill/>
          <a:ln w="0">
            <a:noFill/>
          </a:ln>
        </p:spPr>
        <p:txBody>
          <a:bodyPr lIns="0" tIns="0" rIns="0" bIns="0" anchor="ctr">
            <a:noAutofit/>
          </a:bodyPr>
          <a:lstStyle/>
          <a:p>
            <a:pPr indent="0">
              <a:lnSpc>
                <a:spcPct val="100000"/>
              </a:lnSpc>
              <a:buNone/>
              <a:tabLst>
                <a:tab pos="0" algn="l"/>
              </a:tabLst>
            </a:pPr>
            <a:r>
              <a:rPr lang="en-US" sz="3600" b="0" strike="noStrike" spc="-1">
                <a:solidFill>
                  <a:srgbClr val="000000"/>
                </a:solidFill>
                <a:latin typeface="Arial"/>
              </a:rPr>
              <a:t>Capsule Collider 2D</a:t>
            </a:r>
          </a:p>
        </p:txBody>
      </p:sp>
      <p:sp>
        <p:nvSpPr>
          <p:cNvPr id="185" name="Rectangle 184"/>
          <p:cNvSpPr/>
          <p:nvPr/>
        </p:nvSpPr>
        <p:spPr>
          <a:xfrm>
            <a:off x="577800" y="1528200"/>
            <a:ext cx="10972440" cy="1789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pPr>
            <a:r>
              <a:rPr lang="en-US" sz="2000" b="0" strike="noStrike" spc="-1">
                <a:solidFill>
                  <a:srgbClr val="000000"/>
                </a:solidFill>
                <a:latin typeface="Arial"/>
              </a:rPr>
              <a:t>The Capsule Collider 2D is a Collider that interacts with the 2D physics system.</a:t>
            </a:r>
          </a:p>
          <a:p>
            <a:pPr>
              <a:lnSpc>
                <a:spcPct val="150000"/>
              </a:lnSpc>
            </a:pPr>
            <a:r>
              <a:rPr lang="en-US" sz="2000" b="0" strike="noStrike" spc="-1">
                <a:solidFill>
                  <a:srgbClr val="000000"/>
                </a:solidFill>
                <a:latin typeface="Arial"/>
              </a:rPr>
              <a:t>Note: The capsule shape of the Collider is considered solid and not hollow, which means any other Collider 2Ds that are inside the Capsule Collider 2D are considered to be in contact with the Collider and are forced out of it over time.</a:t>
            </a:r>
          </a:p>
        </p:txBody>
      </p:sp>
      <p:pic>
        <p:nvPicPr>
          <p:cNvPr id="186" name="Picture 185"/>
          <p:cNvPicPr/>
          <p:nvPr/>
        </p:nvPicPr>
        <p:blipFill>
          <a:blip r:embed="rId3"/>
          <a:stretch/>
        </p:blipFill>
        <p:spPr>
          <a:xfrm>
            <a:off x="6280200" y="3342600"/>
            <a:ext cx="4920840" cy="3050640"/>
          </a:xfrm>
          <a:prstGeom prst="rect">
            <a:avLst/>
          </a:prstGeom>
          <a:ln w="0">
            <a:noFill/>
          </a:ln>
        </p:spPr>
      </p:pic>
      <p:pic>
        <p:nvPicPr>
          <p:cNvPr id="187" name="Picture 186"/>
          <p:cNvPicPr/>
          <p:nvPr/>
        </p:nvPicPr>
        <p:blipFill>
          <a:blip r:embed="rId4"/>
          <a:stretch/>
        </p:blipFill>
        <p:spPr>
          <a:xfrm>
            <a:off x="1828800" y="3772800"/>
            <a:ext cx="2514240" cy="2115000"/>
          </a:xfrm>
          <a:prstGeom prst="rect">
            <a:avLst/>
          </a:prstGeom>
          <a:ln w="0">
            <a:noFill/>
          </a:ln>
        </p:spPr>
      </p:pic>
      <p:sp>
        <p:nvSpPr>
          <p:cNvPr id="3" name="PlaceHolder 2"/>
          <p:cNvSpPr>
            <a:spLocks noGrp="1"/>
          </p:cNvSpPr>
          <p:nvPr>
            <p:ph type="sldNum" idx="3"/>
          </p:nvPr>
        </p:nvSpPr>
        <p:spPr/>
        <p:txBody>
          <a:bodyPr/>
          <a:lstStyle/>
          <a:p>
            <a:fld id="{4C7EB69D-B64D-4CBB-9EE9-93053CDD355F}" type="slidenum">
              <a:rPr/>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PlaceHolder 1"/>
          <p:cNvSpPr>
            <a:spLocks noGrp="1"/>
          </p:cNvSpPr>
          <p:nvPr>
            <p:ph type="title"/>
          </p:nvPr>
        </p:nvSpPr>
        <p:spPr>
          <a:xfrm>
            <a:off x="609480" y="721800"/>
            <a:ext cx="10972080" cy="682920"/>
          </a:xfrm>
          <a:prstGeom prst="rect">
            <a:avLst/>
          </a:prstGeom>
          <a:noFill/>
          <a:ln w="0">
            <a:noFill/>
          </a:ln>
        </p:spPr>
        <p:txBody>
          <a:bodyPr lIns="0" tIns="0" rIns="0" bIns="0" anchor="ctr">
            <a:noAutofit/>
          </a:bodyPr>
          <a:lstStyle/>
          <a:p>
            <a:pPr indent="0">
              <a:lnSpc>
                <a:spcPct val="100000"/>
              </a:lnSpc>
              <a:buNone/>
              <a:tabLst>
                <a:tab pos="0" algn="l"/>
              </a:tabLst>
            </a:pPr>
            <a:r>
              <a:rPr lang="en-US" sz="3600" b="0" strike="noStrike" spc="-1">
                <a:solidFill>
                  <a:srgbClr val="000000"/>
                </a:solidFill>
                <a:latin typeface="Arial"/>
              </a:rPr>
              <a:t>Composite Collider 2D</a:t>
            </a:r>
          </a:p>
        </p:txBody>
      </p:sp>
      <p:sp>
        <p:nvSpPr>
          <p:cNvPr id="189" name="Rectangle 188"/>
          <p:cNvSpPr/>
          <p:nvPr/>
        </p:nvSpPr>
        <p:spPr>
          <a:xfrm>
            <a:off x="577800" y="1348200"/>
            <a:ext cx="10972440" cy="2214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pPr>
            <a:r>
              <a:rPr lang="en-US" sz="2000" b="0" strike="noStrike" spc="-1">
                <a:solidFill>
                  <a:srgbClr val="000000"/>
                </a:solidFill>
                <a:latin typeface="Arial"/>
              </a:rPr>
              <a:t>The Composite Collider 2D component is a Collider that interacts with the 2D physics system. Unlike most Colliders, it does not define an inherent shape. Instead, it </a:t>
            </a:r>
            <a:r>
              <a:rPr lang="en-US" sz="2000" b="1" i="1" strike="noStrike" spc="-1">
                <a:solidFill>
                  <a:srgbClr val="000000"/>
                </a:solidFill>
                <a:latin typeface="Arial"/>
              </a:rPr>
              <a:t>merges the shapes of any Box Collider 2D or Polygon Collider 2D that you set it up to use</a:t>
            </a:r>
            <a:r>
              <a:rPr lang="en-US" sz="2000" b="0" strike="noStrike" spc="-1">
                <a:solidFill>
                  <a:srgbClr val="000000"/>
                </a:solidFill>
                <a:latin typeface="Arial"/>
              </a:rPr>
              <a:t>. The Composite Collider 2D uses the vertices (geometry) from any of these Colliders, and merges them together into new geometry controlled by the Composite Collider 2D itself.</a:t>
            </a:r>
          </a:p>
        </p:txBody>
      </p:sp>
      <p:pic>
        <p:nvPicPr>
          <p:cNvPr id="190" name="Picture 189"/>
          <p:cNvPicPr/>
          <p:nvPr/>
        </p:nvPicPr>
        <p:blipFill>
          <a:blip r:embed="rId3"/>
          <a:stretch/>
        </p:blipFill>
        <p:spPr>
          <a:xfrm>
            <a:off x="6629400" y="3591720"/>
            <a:ext cx="4114440" cy="2770200"/>
          </a:xfrm>
          <a:prstGeom prst="rect">
            <a:avLst/>
          </a:prstGeom>
          <a:ln w="0">
            <a:noFill/>
          </a:ln>
        </p:spPr>
      </p:pic>
      <p:pic>
        <p:nvPicPr>
          <p:cNvPr id="191" name="Picture 190"/>
          <p:cNvPicPr/>
          <p:nvPr/>
        </p:nvPicPr>
        <p:blipFill>
          <a:blip r:embed="rId4"/>
          <a:stretch/>
        </p:blipFill>
        <p:spPr>
          <a:xfrm>
            <a:off x="1027800" y="3850200"/>
            <a:ext cx="4001040" cy="2224440"/>
          </a:xfrm>
          <a:prstGeom prst="rect">
            <a:avLst/>
          </a:prstGeom>
          <a:ln w="0">
            <a:noFill/>
          </a:ln>
        </p:spPr>
      </p:pic>
      <p:sp>
        <p:nvSpPr>
          <p:cNvPr id="3" name="PlaceHolder 2"/>
          <p:cNvSpPr>
            <a:spLocks noGrp="1"/>
          </p:cNvSpPr>
          <p:nvPr>
            <p:ph type="sldNum" idx="3"/>
          </p:nvPr>
        </p:nvSpPr>
        <p:spPr/>
        <p:txBody>
          <a:bodyPr/>
          <a:lstStyle/>
          <a:p>
            <a:fld id="{5FBBF2F0-E709-4095-A7A2-0DA16C7C0D23}" type="slidenum">
              <a:rPr/>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PlaceHolder 1"/>
          <p:cNvSpPr>
            <a:spLocks noGrp="1"/>
          </p:cNvSpPr>
          <p:nvPr>
            <p:ph type="title"/>
          </p:nvPr>
        </p:nvSpPr>
        <p:spPr>
          <a:xfrm>
            <a:off x="609480" y="721800"/>
            <a:ext cx="10972080" cy="682920"/>
          </a:xfrm>
          <a:prstGeom prst="rect">
            <a:avLst/>
          </a:prstGeom>
          <a:noFill/>
          <a:ln w="0">
            <a:noFill/>
          </a:ln>
        </p:spPr>
        <p:txBody>
          <a:bodyPr lIns="0" tIns="0" rIns="0" bIns="0" anchor="ctr">
            <a:noAutofit/>
          </a:bodyPr>
          <a:lstStyle/>
          <a:p>
            <a:pPr indent="0">
              <a:lnSpc>
                <a:spcPct val="100000"/>
              </a:lnSpc>
              <a:buNone/>
              <a:tabLst>
                <a:tab pos="0" algn="l"/>
              </a:tabLst>
            </a:pPr>
            <a:r>
              <a:rPr lang="en-US" sz="3600" b="0" strike="noStrike" spc="-1">
                <a:solidFill>
                  <a:srgbClr val="000000"/>
                </a:solidFill>
                <a:latin typeface="Arial"/>
              </a:rPr>
              <a:t>Tilemap Collider 2D</a:t>
            </a:r>
          </a:p>
        </p:txBody>
      </p:sp>
      <p:sp>
        <p:nvSpPr>
          <p:cNvPr id="193" name="Rectangle 192"/>
          <p:cNvSpPr/>
          <p:nvPr/>
        </p:nvSpPr>
        <p:spPr>
          <a:xfrm>
            <a:off x="577800" y="1348200"/>
            <a:ext cx="10972440" cy="1789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pPr>
            <a:r>
              <a:rPr lang="en-US" sz="2000" b="0" strike="noStrike" spc="-1">
                <a:solidFill>
                  <a:srgbClr val="000000"/>
                </a:solidFill>
                <a:latin typeface="Arial"/>
              </a:rPr>
              <a:t>The Tilemap Collider 2D component generates Collider shapes for Tiles on a Tilemap component on the same GameObject. When you add or remove Tiles on the Tilemap component, the Tilemap Collider 2D updates the Collider shapes during LateUpdate. It batches multiple Tile changes together to ensure minimal impact on performance.</a:t>
            </a:r>
          </a:p>
        </p:txBody>
      </p:sp>
      <p:pic>
        <p:nvPicPr>
          <p:cNvPr id="194" name="Picture 193"/>
          <p:cNvPicPr/>
          <p:nvPr/>
        </p:nvPicPr>
        <p:blipFill>
          <a:blip r:embed="rId3"/>
          <a:stretch/>
        </p:blipFill>
        <p:spPr>
          <a:xfrm>
            <a:off x="7315560" y="3200400"/>
            <a:ext cx="3656880" cy="3104280"/>
          </a:xfrm>
          <a:prstGeom prst="rect">
            <a:avLst/>
          </a:prstGeom>
          <a:ln w="0">
            <a:noFill/>
          </a:ln>
        </p:spPr>
      </p:pic>
      <p:sp>
        <p:nvSpPr>
          <p:cNvPr id="3" name="PlaceHolder 2"/>
          <p:cNvSpPr>
            <a:spLocks noGrp="1"/>
          </p:cNvSpPr>
          <p:nvPr>
            <p:ph type="sldNum" idx="3"/>
          </p:nvPr>
        </p:nvSpPr>
        <p:spPr/>
        <p:txBody>
          <a:bodyPr/>
          <a:lstStyle/>
          <a:p>
            <a:fld id="{D648DABC-00F5-4764-8C8F-40222BD286E7}" type="slidenum">
              <a:rPr/>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PlaceHolder 1"/>
          <p:cNvSpPr>
            <a:spLocks noGrp="1"/>
          </p:cNvSpPr>
          <p:nvPr>
            <p:ph type="title"/>
          </p:nvPr>
        </p:nvSpPr>
        <p:spPr>
          <a:xfrm>
            <a:off x="609480" y="721800"/>
            <a:ext cx="10972080" cy="682920"/>
          </a:xfrm>
          <a:prstGeom prst="rect">
            <a:avLst/>
          </a:prstGeom>
          <a:noFill/>
          <a:ln w="0">
            <a:noFill/>
          </a:ln>
        </p:spPr>
        <p:txBody>
          <a:bodyPr lIns="0" tIns="0" rIns="0" bIns="0" anchor="ctr">
            <a:noAutofit/>
          </a:bodyPr>
          <a:lstStyle/>
          <a:p>
            <a:pPr indent="0">
              <a:lnSpc>
                <a:spcPct val="100000"/>
              </a:lnSpc>
              <a:buNone/>
              <a:tabLst>
                <a:tab pos="0" algn="l"/>
              </a:tabLst>
            </a:pPr>
            <a:r>
              <a:rPr lang="en-US" sz="3600" b="0" strike="noStrike" spc="-1">
                <a:solidFill>
                  <a:srgbClr val="000000"/>
                </a:solidFill>
                <a:latin typeface="Arial"/>
              </a:rPr>
              <a:t>Tilemap and Composite Colliders</a:t>
            </a:r>
          </a:p>
        </p:txBody>
      </p:sp>
      <p:sp>
        <p:nvSpPr>
          <p:cNvPr id="196" name="Rectangle 195"/>
          <p:cNvSpPr/>
          <p:nvPr/>
        </p:nvSpPr>
        <p:spPr>
          <a:xfrm>
            <a:off x="577800" y="1348560"/>
            <a:ext cx="10972440" cy="348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pPr>
            <a:r>
              <a:rPr lang="en-US" sz="2000" b="0" strike="noStrike" spc="-1">
                <a:solidFill>
                  <a:srgbClr val="000000"/>
                </a:solidFill>
                <a:latin typeface="Arial"/>
              </a:rPr>
              <a:t>You can use the Tilemap Collider 2D component together with the Composite Collider 2D component. When you add both components to the same Tilemap, Unity composites the Collider shapes of neighboring Tiles together. This smoothens the corners and edges between Collider shapes in neighboring Tiles.</a:t>
            </a:r>
          </a:p>
          <a:p>
            <a:pPr>
              <a:lnSpc>
                <a:spcPct val="150000"/>
              </a:lnSpc>
            </a:pPr>
            <a:endParaRPr lang="en-US" sz="2000" b="0" strike="noStrike" spc="-1">
              <a:solidFill>
                <a:srgbClr val="000000"/>
              </a:solidFill>
              <a:latin typeface="Arial"/>
            </a:endParaRPr>
          </a:p>
          <a:p>
            <a:pPr>
              <a:lnSpc>
                <a:spcPct val="150000"/>
              </a:lnSpc>
            </a:pPr>
            <a:r>
              <a:rPr lang="en-US" sz="2000" b="0" strike="noStrike" spc="-1">
                <a:solidFill>
                  <a:srgbClr val="000000"/>
                </a:solidFill>
                <a:latin typeface="Arial"/>
              </a:rPr>
              <a:t>Using both components together reduces the number of individual Collider shapes involved in a physics update, which reduces the amount of calculations required, and minimizes the impact on performance.</a:t>
            </a:r>
          </a:p>
        </p:txBody>
      </p:sp>
      <p:sp>
        <p:nvSpPr>
          <p:cNvPr id="3" name="PlaceHolder 2"/>
          <p:cNvSpPr>
            <a:spLocks noGrp="1"/>
          </p:cNvSpPr>
          <p:nvPr>
            <p:ph type="sldNum" idx="3"/>
          </p:nvPr>
        </p:nvSpPr>
        <p:spPr/>
        <p:txBody>
          <a:bodyPr/>
          <a:lstStyle/>
          <a:p>
            <a:fld id="{9A8F48FE-2DD9-4E8C-B1AC-62D194F6DB5F}" type="slidenum">
              <a:rPr/>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PlaceHolder 1"/>
          <p:cNvSpPr>
            <a:spLocks noGrp="1"/>
          </p:cNvSpPr>
          <p:nvPr>
            <p:ph type="title"/>
          </p:nvPr>
        </p:nvSpPr>
        <p:spPr>
          <a:xfrm>
            <a:off x="609480" y="721800"/>
            <a:ext cx="10972080" cy="682920"/>
          </a:xfrm>
          <a:prstGeom prst="rect">
            <a:avLst/>
          </a:prstGeom>
          <a:noFill/>
          <a:ln w="0">
            <a:noFill/>
          </a:ln>
        </p:spPr>
        <p:txBody>
          <a:bodyPr lIns="0" tIns="0" rIns="0" bIns="0" anchor="ctr">
            <a:noAutofit/>
          </a:bodyPr>
          <a:lstStyle/>
          <a:p>
            <a:pPr indent="0">
              <a:lnSpc>
                <a:spcPct val="100000"/>
              </a:lnSpc>
              <a:buNone/>
              <a:tabLst>
                <a:tab pos="0" algn="l"/>
              </a:tabLst>
            </a:pPr>
            <a:r>
              <a:rPr lang="en-US" sz="3600" b="0" strike="noStrike" spc="-1">
                <a:solidFill>
                  <a:srgbClr val="000000"/>
                </a:solidFill>
                <a:latin typeface="Arial"/>
              </a:rPr>
              <a:t>Collider 2D and Interaction</a:t>
            </a:r>
          </a:p>
        </p:txBody>
      </p:sp>
      <p:sp>
        <p:nvSpPr>
          <p:cNvPr id="198" name="Rectangle 197"/>
          <p:cNvSpPr/>
          <p:nvPr/>
        </p:nvSpPr>
        <p:spPr>
          <a:xfrm>
            <a:off x="685800" y="1600200"/>
            <a:ext cx="7543440" cy="3214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spcBef>
                <a:spcPts val="1134"/>
              </a:spcBef>
              <a:spcAft>
                <a:spcPts val="1134"/>
              </a:spcAft>
            </a:pPr>
            <a:r>
              <a:rPr lang="en-US" sz="2000" b="0" strike="noStrike" spc="-1">
                <a:solidFill>
                  <a:srgbClr val="000000"/>
                </a:solidFill>
                <a:latin typeface="Arial"/>
              </a:rPr>
              <a:t>Distinction between collision and trigger events using Collider 2D components:</a:t>
            </a:r>
          </a:p>
          <a:p>
            <a:pPr>
              <a:lnSpc>
                <a:spcPct val="150000"/>
              </a:lnSpc>
              <a:spcBef>
                <a:spcPts val="1134"/>
              </a:spcBef>
              <a:spcAft>
                <a:spcPts val="1134"/>
              </a:spcAft>
            </a:pPr>
            <a:r>
              <a:rPr lang="en-US" sz="2000" b="1" strike="noStrike" spc="-1">
                <a:solidFill>
                  <a:srgbClr val="000000"/>
                </a:solidFill>
                <a:latin typeface="Arial"/>
              </a:rPr>
              <a:t>OnCollisionEnter2D</a:t>
            </a:r>
            <a:r>
              <a:rPr lang="en-US" sz="2000" b="0" strike="noStrike" spc="-1">
                <a:solidFill>
                  <a:srgbClr val="000000"/>
                </a:solidFill>
                <a:latin typeface="Arial"/>
              </a:rPr>
              <a:t>: Triggered when two colliders interact, providing opportunities for physical responses or actions.</a:t>
            </a:r>
          </a:p>
          <a:p>
            <a:pPr>
              <a:lnSpc>
                <a:spcPct val="150000"/>
              </a:lnSpc>
              <a:spcBef>
                <a:spcPts val="1134"/>
              </a:spcBef>
              <a:spcAft>
                <a:spcPts val="1134"/>
              </a:spcAft>
            </a:pPr>
            <a:r>
              <a:rPr lang="en-US" sz="2000" b="1" strike="noStrike" spc="-1">
                <a:solidFill>
                  <a:srgbClr val="000000"/>
                </a:solidFill>
                <a:latin typeface="Arial"/>
              </a:rPr>
              <a:t>OnTriggerEnter2D</a:t>
            </a:r>
            <a:r>
              <a:rPr lang="en-US" sz="2000" b="0" strike="noStrike" spc="-1">
                <a:solidFill>
                  <a:srgbClr val="000000"/>
                </a:solidFill>
                <a:latin typeface="Arial"/>
              </a:rPr>
              <a:t>: Utilizing triggers for interaction without physically colliding.</a:t>
            </a:r>
          </a:p>
        </p:txBody>
      </p:sp>
      <p:pic>
        <p:nvPicPr>
          <p:cNvPr id="199" name="Picture 198"/>
          <p:cNvPicPr/>
          <p:nvPr/>
        </p:nvPicPr>
        <p:blipFill>
          <a:blip r:embed="rId3"/>
          <a:stretch/>
        </p:blipFill>
        <p:spPr>
          <a:xfrm>
            <a:off x="8458200" y="1600200"/>
            <a:ext cx="3644280" cy="3771360"/>
          </a:xfrm>
          <a:prstGeom prst="rect">
            <a:avLst/>
          </a:prstGeom>
          <a:ln w="0">
            <a:noFill/>
          </a:ln>
        </p:spPr>
      </p:pic>
      <p:sp>
        <p:nvSpPr>
          <p:cNvPr id="3" name="PlaceHolder 2"/>
          <p:cNvSpPr>
            <a:spLocks noGrp="1"/>
          </p:cNvSpPr>
          <p:nvPr>
            <p:ph type="sldNum" idx="3"/>
          </p:nvPr>
        </p:nvSpPr>
        <p:spPr/>
        <p:txBody>
          <a:bodyPr/>
          <a:lstStyle/>
          <a:p>
            <a:fld id="{2083949D-9A62-4ACA-B614-B2F13184689C}" type="slidenum">
              <a:rPr/>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PlaceHolder 1"/>
          <p:cNvSpPr>
            <a:spLocks noGrp="1"/>
          </p:cNvSpPr>
          <p:nvPr>
            <p:ph type="title"/>
          </p:nvPr>
        </p:nvSpPr>
        <p:spPr>
          <a:xfrm>
            <a:off x="609480" y="721800"/>
            <a:ext cx="10972080" cy="682920"/>
          </a:xfrm>
          <a:prstGeom prst="rect">
            <a:avLst/>
          </a:prstGeom>
          <a:noFill/>
          <a:ln w="0">
            <a:noFill/>
          </a:ln>
        </p:spPr>
        <p:txBody>
          <a:bodyPr lIns="0" tIns="0" rIns="0" bIns="0" anchor="ctr">
            <a:noAutofit/>
          </a:bodyPr>
          <a:lstStyle/>
          <a:p>
            <a:pPr indent="0">
              <a:lnSpc>
                <a:spcPct val="100000"/>
              </a:lnSpc>
              <a:buNone/>
              <a:tabLst>
                <a:tab pos="0" algn="l"/>
              </a:tabLst>
            </a:pPr>
            <a:r>
              <a:rPr lang="en-US" sz="3600" b="0" strike="noStrike" spc="-1">
                <a:solidFill>
                  <a:srgbClr val="000000"/>
                </a:solidFill>
                <a:latin typeface="Arial"/>
              </a:rPr>
              <a:t>Collision Detection Basics</a:t>
            </a:r>
          </a:p>
        </p:txBody>
      </p:sp>
      <p:sp>
        <p:nvSpPr>
          <p:cNvPr id="201" name="Rectangle 200"/>
          <p:cNvSpPr/>
          <p:nvPr/>
        </p:nvSpPr>
        <p:spPr>
          <a:xfrm>
            <a:off x="685800" y="1600200"/>
            <a:ext cx="10063440" cy="2828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spcBef>
                <a:spcPts val="1134"/>
              </a:spcBef>
              <a:spcAft>
                <a:spcPts val="1134"/>
              </a:spcAft>
            </a:pPr>
            <a:r>
              <a:rPr lang="en-US" sz="2200" b="0" strike="noStrike" spc="-1">
                <a:solidFill>
                  <a:srgbClr val="000000"/>
                </a:solidFill>
                <a:latin typeface="Arial"/>
              </a:rPr>
              <a:t>Collision: Identifying when two or more objects intersect in a game environment.</a:t>
            </a:r>
          </a:p>
          <a:p>
            <a:pPr marL="216000" indent="-216000">
              <a:lnSpc>
                <a:spcPct val="150000"/>
              </a:lnSpc>
              <a:spcBef>
                <a:spcPts val="1134"/>
              </a:spcBef>
              <a:spcAft>
                <a:spcPts val="1134"/>
              </a:spcAft>
              <a:buClr>
                <a:srgbClr val="000000"/>
              </a:buClr>
              <a:buSzPct val="45000"/>
              <a:buFont typeface="Wingdings" charset="2"/>
              <a:buChar char=""/>
            </a:pPr>
            <a:r>
              <a:rPr lang="en-US" sz="2200" b="0" strike="noStrike" spc="-1">
                <a:solidFill>
                  <a:srgbClr val="000000"/>
                </a:solidFill>
                <a:latin typeface="Arial"/>
              </a:rPr>
              <a:t>Intersection Recognition: Detects when game objects meet.</a:t>
            </a:r>
          </a:p>
          <a:p>
            <a:pPr marL="216000" indent="-216000">
              <a:lnSpc>
                <a:spcPct val="150000"/>
              </a:lnSpc>
              <a:spcBef>
                <a:spcPts val="1134"/>
              </a:spcBef>
              <a:spcAft>
                <a:spcPts val="1134"/>
              </a:spcAft>
              <a:buClr>
                <a:srgbClr val="000000"/>
              </a:buClr>
              <a:buSzPct val="45000"/>
              <a:buFont typeface="Wingdings" charset="2"/>
              <a:buChar char=""/>
            </a:pPr>
            <a:r>
              <a:rPr lang="en-US" sz="2200" b="0" strike="noStrike" spc="-1">
                <a:solidFill>
                  <a:srgbClr val="000000"/>
                </a:solidFill>
                <a:latin typeface="Arial"/>
              </a:rPr>
              <a:t>Event Triggering: Fundamental for triggering actions based on collisions.</a:t>
            </a:r>
          </a:p>
          <a:p>
            <a:pPr>
              <a:lnSpc>
                <a:spcPct val="150000"/>
              </a:lnSpc>
              <a:spcBef>
                <a:spcPts val="1134"/>
              </a:spcBef>
              <a:spcAft>
                <a:spcPts val="1134"/>
              </a:spcAft>
            </a:pPr>
            <a:r>
              <a:rPr lang="en-US" sz="2200" b="0" strike="noStrike" spc="-1">
                <a:solidFill>
                  <a:srgbClr val="000000"/>
                </a:solidFill>
                <a:latin typeface="Arial"/>
              </a:rPr>
              <a:t>Example: Two game characters colliding, triggering a health deduction event.</a:t>
            </a:r>
          </a:p>
        </p:txBody>
      </p:sp>
      <p:sp>
        <p:nvSpPr>
          <p:cNvPr id="3" name="PlaceHolder 2"/>
          <p:cNvSpPr>
            <a:spLocks noGrp="1"/>
          </p:cNvSpPr>
          <p:nvPr>
            <p:ph type="sldNum" idx="3"/>
          </p:nvPr>
        </p:nvSpPr>
        <p:spPr/>
        <p:txBody>
          <a:bodyPr/>
          <a:lstStyle/>
          <a:p>
            <a:fld id="{8FDAB15D-5D3A-4566-AB59-13AA33CA523B}" type="slidenum">
              <a:rPr/>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PlaceHolder 1"/>
          <p:cNvSpPr>
            <a:spLocks noGrp="1"/>
          </p:cNvSpPr>
          <p:nvPr>
            <p:ph type="title"/>
          </p:nvPr>
        </p:nvSpPr>
        <p:spPr>
          <a:xfrm>
            <a:off x="609480" y="721800"/>
            <a:ext cx="10972080" cy="682920"/>
          </a:xfrm>
          <a:prstGeom prst="rect">
            <a:avLst/>
          </a:prstGeom>
          <a:noFill/>
          <a:ln w="0">
            <a:noFill/>
          </a:ln>
        </p:spPr>
        <p:txBody>
          <a:bodyPr lIns="0" tIns="0" rIns="0" bIns="0" anchor="ctr">
            <a:noAutofit/>
          </a:bodyPr>
          <a:lstStyle/>
          <a:p>
            <a:pPr indent="0">
              <a:lnSpc>
                <a:spcPct val="100000"/>
              </a:lnSpc>
              <a:buNone/>
              <a:tabLst>
                <a:tab pos="0" algn="l"/>
              </a:tabLst>
            </a:pPr>
            <a:r>
              <a:rPr lang="en-US" sz="3600" b="0" strike="noStrike" spc="-1">
                <a:solidFill>
                  <a:srgbClr val="000000"/>
                </a:solidFill>
                <a:latin typeface="Arial"/>
              </a:rPr>
              <a:t>Handling Collisions - OnCollisionEnter Method</a:t>
            </a:r>
          </a:p>
        </p:txBody>
      </p:sp>
      <p:sp>
        <p:nvSpPr>
          <p:cNvPr id="203" name="Rectangle 202"/>
          <p:cNvSpPr/>
          <p:nvPr/>
        </p:nvSpPr>
        <p:spPr>
          <a:xfrm>
            <a:off x="686160" y="1600560"/>
            <a:ext cx="10972080" cy="4523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spcBef>
                <a:spcPts val="1134"/>
              </a:spcBef>
              <a:spcAft>
                <a:spcPts val="1134"/>
              </a:spcAft>
            </a:pPr>
            <a:r>
              <a:rPr lang="en-US" sz="2200" b="1" strike="noStrike" spc="-1">
                <a:solidFill>
                  <a:srgbClr val="000000"/>
                </a:solidFill>
                <a:latin typeface="Arial"/>
                <a:ea typeface="PingFang SC"/>
              </a:rPr>
              <a:t>OnCollisionEnter</a:t>
            </a:r>
            <a:r>
              <a:rPr lang="en-US" sz="2200" b="0" strike="noStrike" spc="-1">
                <a:solidFill>
                  <a:srgbClr val="000000"/>
                </a:solidFill>
                <a:latin typeface="Arial"/>
                <a:ea typeface="PingFang SC"/>
              </a:rPr>
              <a:t> Method: A Unity method invoked when a collision occurs between two colliders.</a:t>
            </a:r>
            <a:endParaRPr lang="en-US" sz="2200" b="0" strike="noStrike" spc="-1">
              <a:solidFill>
                <a:srgbClr val="000000"/>
              </a:solidFill>
              <a:latin typeface="Arial"/>
            </a:endParaRPr>
          </a:p>
          <a:p>
            <a:pPr marL="216000" indent="-216000">
              <a:lnSpc>
                <a:spcPct val="150000"/>
              </a:lnSpc>
              <a:spcBef>
                <a:spcPts val="1134"/>
              </a:spcBef>
              <a:spcAft>
                <a:spcPts val="1134"/>
              </a:spcAft>
              <a:buClr>
                <a:srgbClr val="000000"/>
              </a:buClr>
              <a:buSzPct val="45000"/>
              <a:buFont typeface="Wingdings" charset="2"/>
              <a:buChar char=""/>
            </a:pPr>
            <a:r>
              <a:rPr lang="en-US" sz="2200" b="0" strike="noStrike" spc="-1">
                <a:solidFill>
                  <a:srgbClr val="000000"/>
                </a:solidFill>
                <a:latin typeface="Arial"/>
                <a:ea typeface="PingFang SC"/>
              </a:rPr>
              <a:t>Script Integration: Easily integrates with Unity scripts.</a:t>
            </a:r>
            <a:endParaRPr lang="en-US" sz="2200" b="0" strike="noStrike" spc="-1">
              <a:solidFill>
                <a:srgbClr val="000000"/>
              </a:solidFill>
              <a:latin typeface="Arial"/>
            </a:endParaRPr>
          </a:p>
          <a:p>
            <a:pPr marL="216000" indent="-216000">
              <a:lnSpc>
                <a:spcPct val="150000"/>
              </a:lnSpc>
              <a:spcBef>
                <a:spcPts val="1134"/>
              </a:spcBef>
              <a:spcAft>
                <a:spcPts val="1134"/>
              </a:spcAft>
              <a:buClr>
                <a:srgbClr val="000000"/>
              </a:buClr>
              <a:buSzPct val="45000"/>
              <a:buFont typeface="Wingdings" charset="2"/>
              <a:buChar char=""/>
            </a:pPr>
            <a:r>
              <a:rPr lang="en-US" sz="2200" b="0" strike="noStrike" spc="-1">
                <a:solidFill>
                  <a:srgbClr val="000000"/>
                </a:solidFill>
                <a:latin typeface="Arial"/>
                <a:ea typeface="PingFang SC"/>
              </a:rPr>
              <a:t>Object-Specific Events: Executes code specific to the colliding objects.</a:t>
            </a:r>
            <a:endParaRPr lang="en-US" sz="2200" b="0" strike="noStrike" spc="-1">
              <a:solidFill>
                <a:srgbClr val="000000"/>
              </a:solidFill>
              <a:latin typeface="Arial"/>
            </a:endParaRPr>
          </a:p>
          <a:p>
            <a:pPr>
              <a:lnSpc>
                <a:spcPct val="150000"/>
              </a:lnSpc>
              <a:spcBef>
                <a:spcPts val="1134"/>
              </a:spcBef>
              <a:spcAft>
                <a:spcPts val="1134"/>
              </a:spcAft>
            </a:pPr>
            <a:r>
              <a:rPr lang="en-US" sz="2200" b="0" strike="noStrike" spc="-1">
                <a:solidFill>
                  <a:srgbClr val="000000"/>
                </a:solidFill>
                <a:latin typeface="Arial"/>
                <a:ea typeface="PingFang SC"/>
              </a:rPr>
              <a:t>Example: Executing code to play a sound effect when a player collides with a collectible item.</a:t>
            </a:r>
            <a:endParaRPr lang="en-US" sz="2200" b="0" strike="noStrike" spc="-1">
              <a:solidFill>
                <a:srgbClr val="000000"/>
              </a:solidFill>
              <a:latin typeface="Arial"/>
            </a:endParaRPr>
          </a:p>
          <a:p>
            <a:pPr>
              <a:lnSpc>
                <a:spcPct val="150000"/>
              </a:lnSpc>
              <a:spcBef>
                <a:spcPts val="1134"/>
              </a:spcBef>
              <a:spcAft>
                <a:spcPts val="1134"/>
              </a:spcAft>
            </a:pPr>
            <a:endParaRPr lang="en-US" sz="2200" b="0" strike="noStrike" spc="-1">
              <a:solidFill>
                <a:srgbClr val="000000"/>
              </a:solidFill>
              <a:latin typeface="Arial"/>
            </a:endParaRPr>
          </a:p>
        </p:txBody>
      </p:sp>
      <p:sp>
        <p:nvSpPr>
          <p:cNvPr id="3" name="PlaceHolder 2"/>
          <p:cNvSpPr>
            <a:spLocks noGrp="1"/>
          </p:cNvSpPr>
          <p:nvPr>
            <p:ph type="sldNum" idx="3"/>
          </p:nvPr>
        </p:nvSpPr>
        <p:spPr/>
        <p:txBody>
          <a:bodyPr/>
          <a:lstStyle/>
          <a:p>
            <a:fld id="{8644753A-8C62-45C9-90A5-8E7A1A347134}" type="slidenum">
              <a:rPr/>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PlaceHolder 1"/>
          <p:cNvSpPr>
            <a:spLocks noGrp="1"/>
          </p:cNvSpPr>
          <p:nvPr>
            <p:ph type="title"/>
          </p:nvPr>
        </p:nvSpPr>
        <p:spPr>
          <a:xfrm>
            <a:off x="609480" y="721800"/>
            <a:ext cx="10972080" cy="682920"/>
          </a:xfrm>
          <a:prstGeom prst="rect">
            <a:avLst/>
          </a:prstGeom>
          <a:noFill/>
          <a:ln w="0">
            <a:noFill/>
          </a:ln>
        </p:spPr>
        <p:txBody>
          <a:bodyPr lIns="0" tIns="0" rIns="0" bIns="0" anchor="ctr">
            <a:noAutofit/>
          </a:bodyPr>
          <a:lstStyle/>
          <a:p>
            <a:pPr indent="0">
              <a:lnSpc>
                <a:spcPct val="100000"/>
              </a:lnSpc>
              <a:buNone/>
              <a:tabLst>
                <a:tab pos="0" algn="l"/>
              </a:tabLst>
            </a:pPr>
            <a:r>
              <a:rPr lang="en-US" sz="3600" b="0" strike="noStrike" spc="-1">
                <a:solidFill>
                  <a:srgbClr val="000000"/>
                </a:solidFill>
                <a:latin typeface="Arial"/>
              </a:rPr>
              <a:t>Trigger Collisions and OnTriggerEnter</a:t>
            </a:r>
          </a:p>
        </p:txBody>
      </p:sp>
      <p:sp>
        <p:nvSpPr>
          <p:cNvPr id="205" name="Rectangle 204"/>
          <p:cNvSpPr/>
          <p:nvPr/>
        </p:nvSpPr>
        <p:spPr>
          <a:xfrm>
            <a:off x="686520" y="1600920"/>
            <a:ext cx="10972080" cy="3585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spcBef>
                <a:spcPts val="1134"/>
              </a:spcBef>
              <a:spcAft>
                <a:spcPts val="1134"/>
              </a:spcAft>
            </a:pPr>
            <a:r>
              <a:rPr lang="en-US" sz="2200" b="1" strike="noStrike" spc="-1">
                <a:solidFill>
                  <a:srgbClr val="000000"/>
                </a:solidFill>
                <a:latin typeface="Arial"/>
                <a:ea typeface="PingFang SC"/>
              </a:rPr>
              <a:t>Trigger Collisions</a:t>
            </a:r>
            <a:r>
              <a:rPr lang="en-US" sz="2200" b="0" strike="noStrike" spc="-1">
                <a:solidFill>
                  <a:srgbClr val="000000"/>
                </a:solidFill>
                <a:latin typeface="Arial"/>
                <a:ea typeface="PingFang SC"/>
              </a:rPr>
              <a:t>: Detecting interactions between colliders without physical collision response.</a:t>
            </a:r>
            <a:endParaRPr lang="en-US" sz="2200" b="0" strike="noStrike" spc="-1">
              <a:solidFill>
                <a:srgbClr val="000000"/>
              </a:solidFill>
              <a:latin typeface="Arial"/>
            </a:endParaRPr>
          </a:p>
          <a:p>
            <a:pPr marL="216000" indent="-216000">
              <a:lnSpc>
                <a:spcPct val="150000"/>
              </a:lnSpc>
              <a:spcBef>
                <a:spcPts val="1134"/>
              </a:spcBef>
              <a:spcAft>
                <a:spcPts val="1134"/>
              </a:spcAft>
              <a:buClr>
                <a:srgbClr val="000000"/>
              </a:buClr>
              <a:buSzPct val="45000"/>
              <a:buFont typeface="Wingdings" charset="2"/>
              <a:buChar char=""/>
            </a:pPr>
            <a:r>
              <a:rPr lang="en-US" sz="2200" b="0" strike="noStrike" spc="-1">
                <a:solidFill>
                  <a:srgbClr val="000000"/>
                </a:solidFill>
                <a:latin typeface="Arial"/>
                <a:ea typeface="PingFang SC"/>
              </a:rPr>
              <a:t>Area-Based Detection: Ideal for region-specific interactions.</a:t>
            </a:r>
            <a:endParaRPr lang="en-US" sz="2200" b="0" strike="noStrike" spc="-1">
              <a:solidFill>
                <a:srgbClr val="000000"/>
              </a:solidFill>
              <a:latin typeface="Arial"/>
            </a:endParaRPr>
          </a:p>
          <a:p>
            <a:pPr marL="216000" indent="-216000">
              <a:lnSpc>
                <a:spcPct val="150000"/>
              </a:lnSpc>
              <a:spcBef>
                <a:spcPts val="1134"/>
              </a:spcBef>
              <a:spcAft>
                <a:spcPts val="1134"/>
              </a:spcAft>
              <a:buClr>
                <a:srgbClr val="000000"/>
              </a:buClr>
              <a:buSzPct val="45000"/>
              <a:buFont typeface="Wingdings" charset="2"/>
              <a:buChar char=""/>
            </a:pPr>
            <a:r>
              <a:rPr lang="en-US" sz="2200" b="0" strike="noStrike" spc="-1">
                <a:solidFill>
                  <a:srgbClr val="000000"/>
                </a:solidFill>
                <a:latin typeface="Arial"/>
                <a:ea typeface="PingFang SC"/>
              </a:rPr>
              <a:t>No Physical Response: Triggers events without physical collision forces.</a:t>
            </a:r>
            <a:endParaRPr lang="en-US" sz="2200" b="0" strike="noStrike" spc="-1">
              <a:solidFill>
                <a:srgbClr val="000000"/>
              </a:solidFill>
              <a:latin typeface="Arial"/>
            </a:endParaRPr>
          </a:p>
          <a:p>
            <a:pPr>
              <a:lnSpc>
                <a:spcPct val="150000"/>
              </a:lnSpc>
              <a:spcBef>
                <a:spcPts val="1134"/>
              </a:spcBef>
              <a:spcAft>
                <a:spcPts val="1134"/>
              </a:spcAft>
            </a:pPr>
            <a:r>
              <a:rPr lang="en-US" sz="2200" b="0" strike="noStrike" spc="-1">
                <a:solidFill>
                  <a:srgbClr val="000000"/>
                </a:solidFill>
                <a:latin typeface="Arial"/>
                <a:ea typeface="PingFang SC"/>
              </a:rPr>
              <a:t>Example: Activating a door when a player enters a defined trigger area.</a:t>
            </a:r>
            <a:endParaRPr lang="en-US" sz="2200" b="0" strike="noStrike" spc="-1">
              <a:solidFill>
                <a:srgbClr val="000000"/>
              </a:solidFill>
              <a:latin typeface="Arial"/>
            </a:endParaRPr>
          </a:p>
        </p:txBody>
      </p:sp>
      <p:sp>
        <p:nvSpPr>
          <p:cNvPr id="3" name="PlaceHolder 2"/>
          <p:cNvSpPr>
            <a:spLocks noGrp="1"/>
          </p:cNvSpPr>
          <p:nvPr>
            <p:ph type="sldNum" idx="3"/>
          </p:nvPr>
        </p:nvSpPr>
        <p:spPr/>
        <p:txBody>
          <a:bodyPr/>
          <a:lstStyle/>
          <a:p>
            <a:fld id="{480BA956-8472-443C-BF81-7A8405C3C894}" type="slidenum">
              <a:rPr/>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Rectangle 205"/>
          <p:cNvSpPr/>
          <p:nvPr/>
        </p:nvSpPr>
        <p:spPr>
          <a:xfrm>
            <a:off x="457200" y="1601280"/>
            <a:ext cx="11397240" cy="1367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15000"/>
              </a:lnSpc>
            </a:pPr>
            <a:r>
              <a:rPr lang="en-US" sz="1800" b="0" strike="noStrike" spc="-1">
                <a:solidFill>
                  <a:srgbClr val="000000"/>
                </a:solidFill>
                <a:latin typeface="Arial"/>
                <a:ea typeface="DejaVu Sans"/>
              </a:rPr>
              <a:t>Continuous collision detection (CCD) ensures that fast-moving bodies collide with objects instead of passing, or tunnelling, through those objects. Unity provides the following CCD methods:</a:t>
            </a:r>
            <a:endParaRPr lang="en-US" sz="1800" b="0" strike="noStrike" spc="-1">
              <a:solidFill>
                <a:srgbClr val="000000"/>
              </a:solidFill>
              <a:latin typeface="Arial"/>
            </a:endParaRPr>
          </a:p>
          <a:p>
            <a:pPr marL="360000" indent="-216000">
              <a:lnSpc>
                <a:spcPct val="115000"/>
              </a:lnSpc>
              <a:buClr>
                <a:srgbClr val="000000"/>
              </a:buClr>
              <a:buSzPct val="45000"/>
              <a:buFont typeface="Wingdings" charset="2"/>
              <a:buChar char=""/>
            </a:pPr>
            <a:r>
              <a:rPr lang="en-US" sz="1800" b="1" strike="noStrike" spc="-1">
                <a:solidFill>
                  <a:srgbClr val="000000"/>
                </a:solidFill>
                <a:latin typeface="Arial"/>
                <a:ea typeface="DejaVu Sans"/>
              </a:rPr>
              <a:t>Sweep-based CCD</a:t>
            </a:r>
            <a:endParaRPr lang="en-US" sz="1800" b="0" strike="noStrike" spc="-1">
              <a:solidFill>
                <a:srgbClr val="000000"/>
              </a:solidFill>
              <a:latin typeface="Arial"/>
            </a:endParaRPr>
          </a:p>
          <a:p>
            <a:pPr marL="360000" indent="-216000">
              <a:lnSpc>
                <a:spcPct val="115000"/>
              </a:lnSpc>
              <a:buClr>
                <a:srgbClr val="000000"/>
              </a:buClr>
              <a:buSzPct val="45000"/>
              <a:buFont typeface="Wingdings" charset="2"/>
              <a:buChar char=""/>
            </a:pPr>
            <a:r>
              <a:rPr lang="en-US" sz="1800" b="1" strike="noStrike" spc="-1">
                <a:solidFill>
                  <a:srgbClr val="000000"/>
                </a:solidFill>
                <a:latin typeface="Arial"/>
                <a:ea typeface="DejaVu Sans"/>
              </a:rPr>
              <a:t>Speculative CCD</a:t>
            </a:r>
            <a:endParaRPr lang="en-US" sz="1800" b="0" strike="noStrike" spc="-1">
              <a:solidFill>
                <a:srgbClr val="000000"/>
              </a:solidFill>
              <a:latin typeface="Arial"/>
            </a:endParaRPr>
          </a:p>
        </p:txBody>
      </p:sp>
      <p:pic>
        <p:nvPicPr>
          <p:cNvPr id="207" name="Picture 206"/>
          <p:cNvPicPr/>
          <p:nvPr/>
        </p:nvPicPr>
        <p:blipFill>
          <a:blip r:embed="rId3"/>
          <a:stretch/>
        </p:blipFill>
        <p:spPr>
          <a:xfrm>
            <a:off x="8001000" y="2645640"/>
            <a:ext cx="3489840" cy="3066120"/>
          </a:xfrm>
          <a:prstGeom prst="rect">
            <a:avLst/>
          </a:prstGeom>
          <a:ln w="0">
            <a:noFill/>
          </a:ln>
        </p:spPr>
      </p:pic>
      <p:sp>
        <p:nvSpPr>
          <p:cNvPr id="208" name="Rectangle 207"/>
          <p:cNvSpPr/>
          <p:nvPr/>
        </p:nvSpPr>
        <p:spPr>
          <a:xfrm>
            <a:off x="435240" y="3200400"/>
            <a:ext cx="7333920" cy="1622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1800" b="0" strike="noStrike" spc="-1">
                <a:solidFill>
                  <a:srgbClr val="000000"/>
                </a:solidFill>
                <a:latin typeface="Arial"/>
                <a:ea typeface="DejaVu Sans"/>
              </a:rPr>
              <a:t>To use </a:t>
            </a:r>
            <a:r>
              <a:rPr lang="en-US" sz="1800" b="1" strike="noStrike" spc="-1">
                <a:solidFill>
                  <a:srgbClr val="000000"/>
                </a:solidFill>
                <a:latin typeface="Arial"/>
                <a:ea typeface="DejaVu Sans"/>
              </a:rPr>
              <a:t>sweep-based CCD</a:t>
            </a:r>
            <a:r>
              <a:rPr lang="en-US" sz="1800" b="0" strike="noStrike" spc="-1">
                <a:solidFill>
                  <a:srgbClr val="000000"/>
                </a:solidFill>
                <a:latin typeface="Arial"/>
                <a:ea typeface="DejaVu Sans"/>
              </a:rPr>
              <a:t>, select a RigidBody in the Inspector window and set Collision Detection to </a:t>
            </a:r>
            <a:r>
              <a:rPr lang="en-US" sz="1800" b="1" strike="noStrike" spc="-1">
                <a:solidFill>
                  <a:srgbClr val="000000"/>
                </a:solidFill>
                <a:latin typeface="Arial"/>
                <a:ea typeface="DejaVu Sans"/>
              </a:rPr>
              <a:t>Continuous</a:t>
            </a:r>
            <a:r>
              <a:rPr lang="en-US" sz="1800" b="0" strike="noStrike" spc="-1">
                <a:solidFill>
                  <a:srgbClr val="000000"/>
                </a:solidFill>
                <a:latin typeface="Arial"/>
                <a:ea typeface="DejaVu Sans"/>
              </a:rPr>
              <a:t> or </a:t>
            </a:r>
            <a:r>
              <a:rPr lang="en-US" sz="1800" b="1" strike="noStrike" spc="-1">
                <a:solidFill>
                  <a:srgbClr val="000000"/>
                </a:solidFill>
                <a:latin typeface="Arial"/>
                <a:ea typeface="DejaVu Sans"/>
              </a:rPr>
              <a:t>Continuous Dynamic</a:t>
            </a:r>
            <a:r>
              <a:rPr lang="en-US" sz="1800" b="0" strike="noStrike" spc="-1">
                <a:solidFill>
                  <a:srgbClr val="000000"/>
                </a:solidFill>
                <a:latin typeface="Arial"/>
                <a:ea typeface="DejaVu Sans"/>
              </a:rPr>
              <a:t>. </a:t>
            </a:r>
            <a:endParaRPr lang="en-US" sz="1800" b="0" strike="noStrike" spc="-1">
              <a:solidFill>
                <a:srgbClr val="000000"/>
              </a:solidFill>
              <a:latin typeface="Arial"/>
            </a:endParaRPr>
          </a:p>
          <a:p>
            <a:pPr>
              <a:lnSpc>
                <a:spcPct val="100000"/>
              </a:lnSpc>
            </a:pPr>
            <a:endParaRPr lang="en-US" sz="1800" b="0" strike="noStrike" spc="-1">
              <a:solidFill>
                <a:srgbClr val="000000"/>
              </a:solidFill>
              <a:latin typeface="Arial"/>
            </a:endParaRPr>
          </a:p>
          <a:p>
            <a:pPr>
              <a:lnSpc>
                <a:spcPct val="100000"/>
              </a:lnSpc>
            </a:pPr>
            <a:r>
              <a:rPr lang="en-US" sz="1800" b="0" strike="noStrike" spc="-1">
                <a:solidFill>
                  <a:srgbClr val="000000"/>
                </a:solidFill>
                <a:latin typeface="Arial"/>
                <a:ea typeface="DejaVu Sans"/>
              </a:rPr>
              <a:t>For </a:t>
            </a:r>
            <a:r>
              <a:rPr lang="en-US" sz="1800" b="1" strike="noStrike" spc="-1">
                <a:solidFill>
                  <a:srgbClr val="000000"/>
                </a:solidFill>
                <a:latin typeface="Arial"/>
                <a:ea typeface="DejaVu Sans"/>
              </a:rPr>
              <a:t>speculative CCD</a:t>
            </a:r>
            <a:r>
              <a:rPr lang="en-US" sz="1800" b="0" strike="noStrike" spc="-1">
                <a:solidFill>
                  <a:srgbClr val="000000"/>
                </a:solidFill>
                <a:latin typeface="Arial"/>
                <a:ea typeface="DejaVu Sans"/>
              </a:rPr>
              <a:t>, set Collision Detection to </a:t>
            </a:r>
            <a:r>
              <a:rPr lang="en-US" sz="1800" b="1" strike="noStrike" spc="-1">
                <a:solidFill>
                  <a:srgbClr val="000000"/>
                </a:solidFill>
                <a:latin typeface="Arial"/>
                <a:ea typeface="DejaVu Sans"/>
              </a:rPr>
              <a:t>Continuous Speculative</a:t>
            </a:r>
            <a:r>
              <a:rPr lang="en-US" sz="1800" b="0" strike="noStrike" spc="-1">
                <a:solidFill>
                  <a:srgbClr val="000000"/>
                </a:solidFill>
                <a:latin typeface="Arial"/>
                <a:ea typeface="DejaVu Sans"/>
              </a:rPr>
              <a:t>.</a:t>
            </a:r>
            <a:endParaRPr lang="en-US" sz="1800" b="0" strike="noStrike" spc="-1">
              <a:solidFill>
                <a:srgbClr val="000000"/>
              </a:solidFill>
              <a:latin typeface="Arial"/>
            </a:endParaRPr>
          </a:p>
        </p:txBody>
      </p:sp>
      <p:sp>
        <p:nvSpPr>
          <p:cNvPr id="209" name="Rectangle 208"/>
          <p:cNvSpPr/>
          <p:nvPr/>
        </p:nvSpPr>
        <p:spPr>
          <a:xfrm>
            <a:off x="609840" y="721800"/>
            <a:ext cx="10972080" cy="682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3600" b="0" strike="noStrike" spc="-1">
                <a:solidFill>
                  <a:srgbClr val="000000"/>
                </a:solidFill>
                <a:latin typeface="Arial"/>
              </a:rPr>
              <a:t>Continuos Collision Detection</a:t>
            </a:r>
          </a:p>
        </p:txBody>
      </p:sp>
      <p:sp>
        <p:nvSpPr>
          <p:cNvPr id="2" name="PlaceHolder 1"/>
          <p:cNvSpPr>
            <a:spLocks noGrp="1"/>
          </p:cNvSpPr>
          <p:nvPr>
            <p:ph type="sldNum" idx="2"/>
          </p:nvPr>
        </p:nvSpPr>
        <p:spPr/>
        <p:txBody>
          <a:bodyPr/>
          <a:lstStyle/>
          <a:p>
            <a:fld id="{53AE264B-7A23-483E-BD7F-5E1517CEEFC9}" type="slidenum">
              <a:rPr/>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Rectangle 209"/>
          <p:cNvSpPr/>
          <p:nvPr/>
        </p:nvSpPr>
        <p:spPr>
          <a:xfrm>
            <a:off x="610200" y="721800"/>
            <a:ext cx="10972080" cy="682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3600" b="0" strike="noStrike" spc="-1">
                <a:solidFill>
                  <a:srgbClr val="000000"/>
                </a:solidFill>
                <a:latin typeface="Arial"/>
              </a:rPr>
              <a:t>Sweep-based CCD</a:t>
            </a:r>
          </a:p>
        </p:txBody>
      </p:sp>
      <p:sp>
        <p:nvSpPr>
          <p:cNvPr id="211" name="Rectangle 210"/>
          <p:cNvSpPr/>
          <p:nvPr/>
        </p:nvSpPr>
        <p:spPr>
          <a:xfrm>
            <a:off x="686880" y="1601280"/>
            <a:ext cx="10972080" cy="4570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spcBef>
                <a:spcPts val="1134"/>
              </a:spcBef>
              <a:spcAft>
                <a:spcPts val="1134"/>
              </a:spcAft>
            </a:pPr>
            <a:r>
              <a:rPr lang="en-US" sz="2200" b="0" strike="noStrike" spc="-1" dirty="0">
                <a:solidFill>
                  <a:srgbClr val="000000"/>
                </a:solidFill>
                <a:latin typeface="Arial"/>
                <a:ea typeface="PingFang SC"/>
              </a:rPr>
              <a:t>Sweep-based CCD: A collision detection technique that checks an object's path between frames to avoid tunneling through other colliders.</a:t>
            </a:r>
            <a:endParaRPr lang="en-US" sz="2200" b="0" strike="noStrike" spc="-1" dirty="0">
              <a:solidFill>
                <a:srgbClr val="000000"/>
              </a:solidFill>
              <a:latin typeface="Arial"/>
            </a:endParaRPr>
          </a:p>
          <a:p>
            <a:pPr marL="216000" indent="-216000">
              <a:lnSpc>
                <a:spcPct val="150000"/>
              </a:lnSpc>
              <a:spcBef>
                <a:spcPts val="1134"/>
              </a:spcBef>
              <a:spcAft>
                <a:spcPts val="1134"/>
              </a:spcAft>
              <a:buClr>
                <a:srgbClr val="000000"/>
              </a:buClr>
              <a:buSzPct val="45000"/>
              <a:buFont typeface="Wingdings" charset="2"/>
              <a:buChar char=""/>
            </a:pPr>
            <a:r>
              <a:rPr lang="en-US" sz="2200" b="0" u="sng" strike="noStrike" spc="-1" dirty="0">
                <a:solidFill>
                  <a:srgbClr val="000000"/>
                </a:solidFill>
                <a:latin typeface="Arial"/>
                <a:ea typeface="PingFang SC"/>
              </a:rPr>
              <a:t>Precise Collision Detection</a:t>
            </a:r>
            <a:r>
              <a:rPr lang="en-US" sz="2200" b="0" strike="noStrike" spc="-1" dirty="0">
                <a:solidFill>
                  <a:srgbClr val="000000"/>
                </a:solidFill>
                <a:latin typeface="Arial"/>
                <a:ea typeface="PingFang SC"/>
              </a:rPr>
              <a:t>: Ensures accurate collision checks for fast-moving objects.</a:t>
            </a:r>
            <a:endParaRPr lang="en-US" sz="2200" b="0" strike="noStrike" spc="-1" dirty="0">
              <a:solidFill>
                <a:srgbClr val="000000"/>
              </a:solidFill>
              <a:latin typeface="Arial"/>
            </a:endParaRPr>
          </a:p>
          <a:p>
            <a:pPr marL="216000" indent="-216000">
              <a:lnSpc>
                <a:spcPct val="150000"/>
              </a:lnSpc>
              <a:spcBef>
                <a:spcPts val="1134"/>
              </a:spcBef>
              <a:spcAft>
                <a:spcPts val="1134"/>
              </a:spcAft>
              <a:buClr>
                <a:srgbClr val="000000"/>
              </a:buClr>
              <a:buSzPct val="45000"/>
              <a:buFont typeface="Wingdings" charset="2"/>
              <a:buChar char=""/>
            </a:pPr>
            <a:r>
              <a:rPr lang="en-US" sz="2200" b="0" strike="noStrike" spc="-1" dirty="0">
                <a:solidFill>
                  <a:srgbClr val="000000"/>
                </a:solidFill>
                <a:latin typeface="Arial"/>
                <a:ea typeface="PingFang SC"/>
              </a:rPr>
              <a:t>Avoids Tunneling: Minimizes the chance of objects passing through each other.</a:t>
            </a:r>
            <a:endParaRPr lang="en-US" sz="2200" b="0" strike="noStrike" spc="-1" dirty="0">
              <a:solidFill>
                <a:srgbClr val="000000"/>
              </a:solidFill>
              <a:latin typeface="Arial"/>
            </a:endParaRPr>
          </a:p>
          <a:p>
            <a:pPr>
              <a:lnSpc>
                <a:spcPct val="150000"/>
              </a:lnSpc>
              <a:spcBef>
                <a:spcPts val="1134"/>
              </a:spcBef>
              <a:spcAft>
                <a:spcPts val="1134"/>
              </a:spcAft>
            </a:pPr>
            <a:r>
              <a:rPr lang="en-US" sz="2200" b="0" strike="noStrike" spc="-1" dirty="0">
                <a:solidFill>
                  <a:srgbClr val="000000"/>
                </a:solidFill>
                <a:latin typeface="Arial"/>
                <a:ea typeface="PingFang SC"/>
              </a:rPr>
              <a:t>Example: Preventing a fast-moving bullet from passing through a thin wall by checking its path in small increments.</a:t>
            </a:r>
            <a:endParaRPr lang="en-US" sz="2200" b="0" strike="noStrike" spc="-1" dirty="0">
              <a:solidFill>
                <a:srgbClr val="000000"/>
              </a:solidFill>
              <a:latin typeface="Arial"/>
            </a:endParaRPr>
          </a:p>
        </p:txBody>
      </p:sp>
      <p:sp>
        <p:nvSpPr>
          <p:cNvPr id="2" name="PlaceHolder 1"/>
          <p:cNvSpPr>
            <a:spLocks noGrp="1"/>
          </p:cNvSpPr>
          <p:nvPr>
            <p:ph type="sldNum" idx="2"/>
          </p:nvPr>
        </p:nvSpPr>
        <p:spPr/>
        <p:txBody>
          <a:bodyPr/>
          <a:lstStyle/>
          <a:p>
            <a:fld id="{12B6F201-3F87-4377-B2D2-29F5128B9EFB}" type="slidenum">
              <a:rPr/>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Rectangle 211"/>
          <p:cNvSpPr/>
          <p:nvPr/>
        </p:nvSpPr>
        <p:spPr>
          <a:xfrm>
            <a:off x="610200" y="721800"/>
            <a:ext cx="10972080" cy="682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3600" b="0" strike="noStrike" spc="-1">
                <a:solidFill>
                  <a:srgbClr val="000000"/>
                </a:solidFill>
                <a:latin typeface="Arial"/>
              </a:rPr>
              <a:t>Speculative CCD </a:t>
            </a:r>
          </a:p>
        </p:txBody>
      </p:sp>
      <p:sp>
        <p:nvSpPr>
          <p:cNvPr id="213" name="Rectangle 212"/>
          <p:cNvSpPr/>
          <p:nvPr/>
        </p:nvSpPr>
        <p:spPr>
          <a:xfrm>
            <a:off x="686880" y="1601280"/>
            <a:ext cx="10972080" cy="4570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spcBef>
                <a:spcPts val="1134"/>
              </a:spcBef>
              <a:spcAft>
                <a:spcPts val="1134"/>
              </a:spcAft>
            </a:pPr>
            <a:r>
              <a:rPr lang="en-US" sz="2200" b="0" strike="noStrike" spc="-1" dirty="0">
                <a:solidFill>
                  <a:srgbClr val="000000"/>
                </a:solidFill>
                <a:latin typeface="Arial"/>
                <a:ea typeface="PingFang SC"/>
              </a:rPr>
              <a:t>Speculative CCD: A technique that </a:t>
            </a:r>
            <a:r>
              <a:rPr lang="en-US" sz="2200" b="0" u="sng" strike="noStrike" spc="-1" dirty="0">
                <a:solidFill>
                  <a:srgbClr val="000000"/>
                </a:solidFill>
                <a:latin typeface="Arial"/>
                <a:ea typeface="PingFang SC"/>
              </a:rPr>
              <a:t>predicts potential collisions </a:t>
            </a:r>
            <a:r>
              <a:rPr lang="en-US" sz="2200" b="0" strike="noStrike" spc="-1" dirty="0">
                <a:solidFill>
                  <a:srgbClr val="000000"/>
                </a:solidFill>
                <a:latin typeface="Arial"/>
                <a:ea typeface="PingFang SC"/>
              </a:rPr>
              <a:t>and resolves them before they occur.</a:t>
            </a:r>
            <a:endParaRPr lang="en-US" sz="2200" b="0" strike="noStrike" spc="-1" dirty="0">
              <a:solidFill>
                <a:srgbClr val="000000"/>
              </a:solidFill>
              <a:latin typeface="Arial"/>
            </a:endParaRPr>
          </a:p>
          <a:p>
            <a:pPr marL="216000" indent="-216000">
              <a:lnSpc>
                <a:spcPct val="150000"/>
              </a:lnSpc>
              <a:spcBef>
                <a:spcPts val="1134"/>
              </a:spcBef>
              <a:spcAft>
                <a:spcPts val="1134"/>
              </a:spcAft>
              <a:buClr>
                <a:srgbClr val="000000"/>
              </a:buClr>
              <a:buSzPct val="45000"/>
              <a:buFont typeface="Wingdings" charset="2"/>
              <a:buChar char=""/>
            </a:pPr>
            <a:r>
              <a:rPr lang="en-US" sz="2200" b="0" strike="noStrike" spc="-1" dirty="0">
                <a:solidFill>
                  <a:srgbClr val="000000"/>
                </a:solidFill>
                <a:latin typeface="Arial"/>
                <a:ea typeface="PingFang SC"/>
              </a:rPr>
              <a:t>Preemptive Resolution: Addresses potential collisions before they happen.</a:t>
            </a:r>
            <a:endParaRPr lang="en-US" sz="2200" b="0" strike="noStrike" spc="-1" dirty="0">
              <a:solidFill>
                <a:srgbClr val="000000"/>
              </a:solidFill>
              <a:latin typeface="Arial"/>
            </a:endParaRPr>
          </a:p>
          <a:p>
            <a:pPr marL="216000" indent="-216000">
              <a:lnSpc>
                <a:spcPct val="150000"/>
              </a:lnSpc>
              <a:spcBef>
                <a:spcPts val="1134"/>
              </a:spcBef>
              <a:spcAft>
                <a:spcPts val="1134"/>
              </a:spcAft>
              <a:buClr>
                <a:srgbClr val="000000"/>
              </a:buClr>
              <a:buSzPct val="45000"/>
              <a:buFont typeface="Wingdings" charset="2"/>
              <a:buChar char=""/>
            </a:pPr>
            <a:r>
              <a:rPr lang="en-US" sz="2200" b="0" strike="noStrike" spc="-1" dirty="0">
                <a:solidFill>
                  <a:srgbClr val="000000"/>
                </a:solidFill>
                <a:latin typeface="Arial"/>
                <a:ea typeface="PingFang SC"/>
              </a:rPr>
              <a:t>Enhanced Gameplay: Enables smoother interactions by predicting and handling possible collisions.</a:t>
            </a:r>
            <a:endParaRPr lang="en-US" sz="2200" b="0" strike="noStrike" spc="-1" dirty="0">
              <a:solidFill>
                <a:srgbClr val="000000"/>
              </a:solidFill>
              <a:latin typeface="Arial"/>
            </a:endParaRPr>
          </a:p>
          <a:p>
            <a:pPr>
              <a:lnSpc>
                <a:spcPct val="150000"/>
              </a:lnSpc>
              <a:spcBef>
                <a:spcPts val="1134"/>
              </a:spcBef>
              <a:spcAft>
                <a:spcPts val="1134"/>
              </a:spcAft>
            </a:pPr>
            <a:r>
              <a:rPr lang="en-US" sz="2200" b="0" strike="noStrike" spc="-1" dirty="0">
                <a:solidFill>
                  <a:srgbClr val="000000"/>
                </a:solidFill>
                <a:latin typeface="Arial"/>
                <a:ea typeface="PingFang SC"/>
              </a:rPr>
              <a:t>Example: Anticipating a player's character intersecting with an enemy's attack and taking evasive action to avoid the collision.</a:t>
            </a:r>
            <a:endParaRPr lang="en-US" sz="2200" b="0" strike="noStrike" spc="-1" dirty="0">
              <a:solidFill>
                <a:srgbClr val="000000"/>
              </a:solidFill>
              <a:latin typeface="Arial"/>
            </a:endParaRPr>
          </a:p>
        </p:txBody>
      </p:sp>
      <p:sp>
        <p:nvSpPr>
          <p:cNvPr id="2" name="PlaceHolder 1"/>
          <p:cNvSpPr>
            <a:spLocks noGrp="1"/>
          </p:cNvSpPr>
          <p:nvPr>
            <p:ph type="sldNum" idx="2"/>
          </p:nvPr>
        </p:nvSpPr>
        <p:spPr/>
        <p:txBody>
          <a:bodyPr/>
          <a:lstStyle/>
          <a:p>
            <a:fld id="{B001F460-C8A1-43DC-8CA1-ECC7313F9C8D}" type="slidenum">
              <a:rPr/>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Rectangle 213"/>
          <p:cNvSpPr/>
          <p:nvPr/>
        </p:nvSpPr>
        <p:spPr>
          <a:xfrm>
            <a:off x="228960" y="1427400"/>
            <a:ext cx="11426400" cy="123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pPr>
            <a:r>
              <a:rPr lang="en-US" sz="1800" b="0" strike="noStrike" spc="-1">
                <a:solidFill>
                  <a:srgbClr val="000000"/>
                </a:solidFill>
                <a:latin typeface="Arial"/>
                <a:ea typeface="DejaVu Sans"/>
              </a:rPr>
              <a:t>A </a:t>
            </a:r>
            <a:r>
              <a:rPr lang="en-US" sz="1800" b="1" strike="noStrike" spc="-1">
                <a:solidFill>
                  <a:srgbClr val="000000"/>
                </a:solidFill>
                <a:latin typeface="Arial"/>
                <a:ea typeface="DejaVu Sans"/>
              </a:rPr>
              <a:t>material</a:t>
            </a:r>
            <a:r>
              <a:rPr lang="en-US" sz="1800" b="0" strike="noStrike" spc="-1">
                <a:solidFill>
                  <a:srgbClr val="000000"/>
                </a:solidFill>
                <a:latin typeface="Arial"/>
                <a:ea typeface="DejaVu Sans"/>
              </a:rPr>
              <a:t> is a packet of information that defines the </a:t>
            </a:r>
            <a:r>
              <a:rPr lang="en-US" sz="1800" b="1" strike="noStrike" spc="-1">
                <a:solidFill>
                  <a:srgbClr val="000000"/>
                </a:solidFill>
                <a:latin typeface="Arial"/>
                <a:ea typeface="DejaVu Sans"/>
              </a:rPr>
              <a:t>surface properties</a:t>
            </a:r>
            <a:r>
              <a:rPr lang="en-US" sz="1800" b="0" strike="noStrike" spc="-1">
                <a:solidFill>
                  <a:srgbClr val="000000"/>
                </a:solidFill>
                <a:latin typeface="Arial"/>
                <a:ea typeface="DejaVu Sans"/>
              </a:rPr>
              <a:t> (color, shininess, and so forth) of any object that it’s attached to. Defining surface properties separately enables multiple objects to share a material (all the castle walls, for example).</a:t>
            </a:r>
            <a:endParaRPr lang="en-US" sz="1800" b="0" strike="noStrike" spc="-1">
              <a:solidFill>
                <a:srgbClr val="000000"/>
              </a:solidFill>
              <a:latin typeface="Arial"/>
            </a:endParaRPr>
          </a:p>
          <a:p>
            <a:pPr>
              <a:lnSpc>
                <a:spcPct val="150000"/>
              </a:lnSpc>
            </a:pPr>
            <a:r>
              <a:rPr lang="en-US" sz="1800" b="0" strike="noStrike" spc="-1">
                <a:solidFill>
                  <a:srgbClr val="000000"/>
                </a:solidFill>
                <a:latin typeface="Arial"/>
                <a:ea typeface="DejaVu Sans"/>
              </a:rPr>
              <a:t>A Physics Material 2D is used to adjust the friction and bounce that occur between 2D physics objects when they collide.</a:t>
            </a:r>
            <a:endParaRPr lang="en-US" sz="1800" b="0" strike="noStrike" spc="-1">
              <a:solidFill>
                <a:srgbClr val="000000"/>
              </a:solidFill>
              <a:latin typeface="Arial"/>
            </a:endParaRPr>
          </a:p>
        </p:txBody>
      </p:sp>
      <p:sp>
        <p:nvSpPr>
          <p:cNvPr id="215" name="Rectangle 214"/>
          <p:cNvSpPr/>
          <p:nvPr/>
        </p:nvSpPr>
        <p:spPr>
          <a:xfrm>
            <a:off x="610200" y="721800"/>
            <a:ext cx="10972080" cy="682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3600" b="0" strike="noStrike" spc="-1">
                <a:solidFill>
                  <a:srgbClr val="000000"/>
                </a:solidFill>
                <a:latin typeface="Arial"/>
              </a:rPr>
              <a:t>Physics Material 2D</a:t>
            </a:r>
          </a:p>
        </p:txBody>
      </p:sp>
      <p:pic>
        <p:nvPicPr>
          <p:cNvPr id="216" name="Picture 215"/>
          <p:cNvPicPr/>
          <p:nvPr/>
        </p:nvPicPr>
        <p:blipFill>
          <a:blip r:embed="rId3"/>
          <a:stretch/>
        </p:blipFill>
        <p:spPr>
          <a:xfrm>
            <a:off x="25560" y="3886200"/>
            <a:ext cx="7517880" cy="2056680"/>
          </a:xfrm>
          <a:prstGeom prst="rect">
            <a:avLst/>
          </a:prstGeom>
          <a:ln w="0">
            <a:noFill/>
          </a:ln>
        </p:spPr>
      </p:pic>
      <p:pic>
        <p:nvPicPr>
          <p:cNvPr id="217" name="Picture 216"/>
          <p:cNvPicPr/>
          <p:nvPr/>
        </p:nvPicPr>
        <p:blipFill>
          <a:blip r:embed="rId4"/>
          <a:stretch/>
        </p:blipFill>
        <p:spPr>
          <a:xfrm>
            <a:off x="7528680" y="3754440"/>
            <a:ext cx="4573800" cy="1395000"/>
          </a:xfrm>
          <a:prstGeom prst="rect">
            <a:avLst/>
          </a:prstGeom>
          <a:ln w="0">
            <a:noFill/>
          </a:ln>
        </p:spPr>
      </p:pic>
      <p:sp>
        <p:nvSpPr>
          <p:cNvPr id="2" name="PlaceHolder 1"/>
          <p:cNvSpPr>
            <a:spLocks noGrp="1"/>
          </p:cNvSpPr>
          <p:nvPr>
            <p:ph type="sldNum" idx="2"/>
          </p:nvPr>
        </p:nvSpPr>
        <p:spPr/>
        <p:txBody>
          <a:bodyPr/>
          <a:lstStyle/>
          <a:p>
            <a:fld id="{91FCEE1D-5A2B-4A8F-91D8-5B18B043F809}" type="slidenum">
              <a:rPr/>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Rectangle 217"/>
          <p:cNvSpPr/>
          <p:nvPr/>
        </p:nvSpPr>
        <p:spPr>
          <a:xfrm>
            <a:off x="457200" y="1600200"/>
            <a:ext cx="6400440" cy="313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pPr>
            <a:r>
              <a:rPr lang="en-US" sz="2000" b="0" strike="noStrike" spc="-1" dirty="0">
                <a:solidFill>
                  <a:srgbClr val="000000"/>
                </a:solidFill>
                <a:latin typeface="Arial"/>
                <a:ea typeface="DejaVu Sans"/>
              </a:rPr>
              <a:t>To use your created Physics Material 2D, drag it onto an object with an attached 2D Collider component or drag it onto the collider in the Inspector window.</a:t>
            </a:r>
            <a:endParaRPr lang="en-US" sz="2000" b="0" strike="noStrike" spc="-1" dirty="0">
              <a:solidFill>
                <a:srgbClr val="000000"/>
              </a:solidFill>
              <a:latin typeface="Arial"/>
            </a:endParaRPr>
          </a:p>
        </p:txBody>
      </p:sp>
      <p:pic>
        <p:nvPicPr>
          <p:cNvPr id="219" name="Picture 218"/>
          <p:cNvPicPr/>
          <p:nvPr/>
        </p:nvPicPr>
        <p:blipFill>
          <a:blip r:embed="rId2"/>
          <a:stretch/>
        </p:blipFill>
        <p:spPr>
          <a:xfrm>
            <a:off x="7048800" y="1422720"/>
            <a:ext cx="5066640" cy="4291920"/>
          </a:xfrm>
          <a:prstGeom prst="rect">
            <a:avLst/>
          </a:prstGeom>
          <a:ln w="0">
            <a:noFill/>
          </a:ln>
        </p:spPr>
      </p:pic>
      <p:sp>
        <p:nvSpPr>
          <p:cNvPr id="220" name="Rectangle 219"/>
          <p:cNvSpPr/>
          <p:nvPr/>
        </p:nvSpPr>
        <p:spPr>
          <a:xfrm>
            <a:off x="7087680" y="3995280"/>
            <a:ext cx="5027760" cy="455760"/>
          </a:xfrm>
          <a:prstGeom prst="rect">
            <a:avLst/>
          </a:prstGeom>
          <a:noFill/>
          <a:ln w="36720">
            <a:solidFill>
              <a:srgbClr val="FF860D"/>
            </a:solidFill>
            <a:round/>
          </a:ln>
        </p:spPr>
        <p:style>
          <a:lnRef idx="0">
            <a:scrgbClr r="0" g="0" b="0"/>
          </a:lnRef>
          <a:fillRef idx="0">
            <a:scrgbClr r="0" g="0" b="0"/>
          </a:fillRef>
          <a:effectRef idx="0">
            <a:scrgbClr r="0" g="0" b="0"/>
          </a:effectRef>
          <a:fontRef idx="minor"/>
        </p:style>
        <p:txBody>
          <a:bodyPr lIns="108360" tIns="63360" rIns="108360" bIns="63360" anchor="ctr">
            <a:noAutofit/>
          </a:bodyPr>
          <a:lstStyle/>
          <a:p>
            <a:pPr>
              <a:lnSpc>
                <a:spcPct val="100000"/>
              </a:lnSpc>
            </a:pPr>
            <a:endParaRPr lang="en-US" sz="1800" b="0" strike="noStrike" spc="-1">
              <a:solidFill>
                <a:srgbClr val="000000"/>
              </a:solidFill>
              <a:latin typeface="Arial"/>
              <a:ea typeface="DejaVu Sans"/>
            </a:endParaRPr>
          </a:p>
        </p:txBody>
      </p:sp>
      <p:sp>
        <p:nvSpPr>
          <p:cNvPr id="221" name="Rectangle 220"/>
          <p:cNvSpPr/>
          <p:nvPr/>
        </p:nvSpPr>
        <p:spPr>
          <a:xfrm>
            <a:off x="610560" y="721800"/>
            <a:ext cx="10972080" cy="682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3600" b="0" strike="noStrike" spc="-1">
                <a:solidFill>
                  <a:srgbClr val="000000"/>
                </a:solidFill>
                <a:latin typeface="Arial"/>
              </a:rPr>
              <a:t>Physics Material 2D</a:t>
            </a:r>
          </a:p>
        </p:txBody>
      </p:sp>
      <p:sp>
        <p:nvSpPr>
          <p:cNvPr id="2" name="PlaceHolder 1"/>
          <p:cNvSpPr>
            <a:spLocks noGrp="1"/>
          </p:cNvSpPr>
          <p:nvPr>
            <p:ph type="sldNum" idx="2"/>
          </p:nvPr>
        </p:nvSpPr>
        <p:spPr/>
        <p:txBody>
          <a:bodyPr/>
          <a:lstStyle/>
          <a:p>
            <a:fld id="{D34ED5B5-9B6C-4373-B100-385800A05BA8}" type="slidenum">
              <a:rPr/>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 name="PlaceHolder 10"/>
          <p:cNvSpPr/>
          <p:nvPr/>
        </p:nvSpPr>
        <p:spPr>
          <a:xfrm>
            <a:off x="228960" y="681480"/>
            <a:ext cx="11811600" cy="70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3600" b="1" strike="noStrike" spc="-1" dirty="0">
                <a:solidFill>
                  <a:srgbClr val="000000"/>
                </a:solidFill>
                <a:latin typeface="Arial"/>
                <a:ea typeface="Arial"/>
              </a:rPr>
              <a:t>Practice 1 – Composite Collider</a:t>
            </a:r>
            <a:endParaRPr lang="en-US" sz="3600" b="0" strike="noStrike" spc="-1" dirty="0">
              <a:solidFill>
                <a:srgbClr val="000000"/>
              </a:solidFill>
              <a:latin typeface="Arial"/>
            </a:endParaRPr>
          </a:p>
        </p:txBody>
      </p:sp>
      <p:sp>
        <p:nvSpPr>
          <p:cNvPr id="223" name="Rectangle 222"/>
          <p:cNvSpPr/>
          <p:nvPr/>
        </p:nvSpPr>
        <p:spPr>
          <a:xfrm>
            <a:off x="228600" y="1387440"/>
            <a:ext cx="11198160" cy="599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2000" b="0" strike="noStrike" spc="-1">
                <a:solidFill>
                  <a:srgbClr val="000000"/>
                </a:solidFill>
                <a:latin typeface="Arial"/>
                <a:ea typeface="DejaVu Sans"/>
              </a:rPr>
              <a:t>Establish a ground collider to enable the player's interactions, facilitating jumping, falling, and providing a stable surface for the player character to stand upon.</a:t>
            </a:r>
            <a:endParaRPr lang="en-US" sz="2000" b="0" strike="noStrike" spc="-1">
              <a:solidFill>
                <a:srgbClr val="000000"/>
              </a:solidFill>
              <a:latin typeface="Arial"/>
            </a:endParaRPr>
          </a:p>
        </p:txBody>
      </p:sp>
      <p:sp>
        <p:nvSpPr>
          <p:cNvPr id="224" name="Rectangle 223"/>
          <p:cNvSpPr/>
          <p:nvPr/>
        </p:nvSpPr>
        <p:spPr>
          <a:xfrm>
            <a:off x="370800" y="2286000"/>
            <a:ext cx="10144440" cy="4024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16000" indent="-216000">
              <a:lnSpc>
                <a:spcPct val="150000"/>
              </a:lnSpc>
              <a:spcBef>
                <a:spcPts val="1134"/>
              </a:spcBef>
              <a:spcAft>
                <a:spcPts val="1134"/>
              </a:spcAft>
              <a:buClr>
                <a:srgbClr val="000000"/>
              </a:buClr>
              <a:buFont typeface="OpenSymbol"/>
              <a:buAutoNum type="arabicPeriod"/>
            </a:pPr>
            <a:r>
              <a:rPr lang="en-US" sz="1800" b="0" strike="noStrike" spc="-1" dirty="0">
                <a:solidFill>
                  <a:srgbClr val="000000"/>
                </a:solidFill>
                <a:latin typeface="Arial"/>
                <a:ea typeface="DejaVu Sans"/>
              </a:rPr>
              <a:t>Select the Platforms </a:t>
            </a:r>
            <a:r>
              <a:rPr lang="en-US" sz="1800" b="0" strike="noStrike" spc="-1" dirty="0" err="1">
                <a:solidFill>
                  <a:srgbClr val="000000"/>
                </a:solidFill>
                <a:latin typeface="Arial"/>
                <a:ea typeface="DejaVu Sans"/>
              </a:rPr>
              <a:t>Tilemap</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GameObject</a:t>
            </a:r>
            <a:r>
              <a:rPr lang="en-US" sz="1800" b="0" strike="noStrike" spc="-1" dirty="0">
                <a:solidFill>
                  <a:srgbClr val="000000"/>
                </a:solidFill>
                <a:latin typeface="Arial"/>
                <a:ea typeface="DejaVu Sans"/>
              </a:rPr>
              <a:t>, add a </a:t>
            </a:r>
            <a:r>
              <a:rPr lang="en-US" sz="1800" b="0" strike="noStrike" spc="-1" dirty="0" err="1">
                <a:solidFill>
                  <a:srgbClr val="000000"/>
                </a:solidFill>
                <a:latin typeface="Arial"/>
                <a:ea typeface="DejaVu Sans"/>
              </a:rPr>
              <a:t>Tilemap</a:t>
            </a:r>
            <a:r>
              <a:rPr lang="en-US" sz="1800" b="0" strike="noStrike" spc="-1" dirty="0">
                <a:solidFill>
                  <a:srgbClr val="000000"/>
                </a:solidFill>
                <a:latin typeface="Arial"/>
                <a:ea typeface="DejaVu Sans"/>
              </a:rPr>
              <a:t> Collider 2D component.</a:t>
            </a:r>
            <a:endParaRPr lang="en-US" sz="1800" b="0" strike="noStrike" spc="-1" dirty="0">
              <a:solidFill>
                <a:srgbClr val="000000"/>
              </a:solidFill>
              <a:latin typeface="Arial"/>
            </a:endParaRPr>
          </a:p>
        </p:txBody>
      </p:sp>
      <p:pic>
        <p:nvPicPr>
          <p:cNvPr id="225" name="Picture 224"/>
          <p:cNvPicPr/>
          <p:nvPr/>
        </p:nvPicPr>
        <p:blipFill>
          <a:blip r:embed="rId3"/>
          <a:stretch/>
        </p:blipFill>
        <p:spPr>
          <a:xfrm>
            <a:off x="3393360" y="2971800"/>
            <a:ext cx="5405040" cy="3043800"/>
          </a:xfrm>
          <a:prstGeom prst="rect">
            <a:avLst/>
          </a:prstGeom>
          <a:ln w="0">
            <a:noFill/>
          </a:ln>
        </p:spPr>
      </p:pic>
      <p:sp>
        <p:nvSpPr>
          <p:cNvPr id="2" name="PlaceHolder 1"/>
          <p:cNvSpPr>
            <a:spLocks noGrp="1"/>
          </p:cNvSpPr>
          <p:nvPr>
            <p:ph type="sldNum" idx="2"/>
          </p:nvPr>
        </p:nvSpPr>
        <p:spPr/>
        <p:txBody>
          <a:bodyPr/>
          <a:lstStyle/>
          <a:p>
            <a:fld id="{ACDF2BB0-0493-4D5D-BEF7-11D983FE4C02}" type="slidenum">
              <a:rPr/>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Rectangle 225"/>
          <p:cNvSpPr/>
          <p:nvPr/>
        </p:nvSpPr>
        <p:spPr>
          <a:xfrm>
            <a:off x="370800" y="1461240"/>
            <a:ext cx="8544240" cy="4024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16000" indent="-216000">
              <a:lnSpc>
                <a:spcPct val="150000"/>
              </a:lnSpc>
              <a:spcBef>
                <a:spcPts val="1134"/>
              </a:spcBef>
              <a:spcAft>
                <a:spcPts val="1134"/>
              </a:spcAft>
              <a:buClr>
                <a:srgbClr val="000000"/>
              </a:buClr>
              <a:buFont typeface="OpenSymbol"/>
              <a:buAutoNum type="arabicPeriod" startAt="2"/>
            </a:pPr>
            <a:r>
              <a:rPr lang="en-US" sz="1800" b="0" strike="noStrike" spc="-1">
                <a:solidFill>
                  <a:srgbClr val="000000"/>
                </a:solidFill>
                <a:latin typeface="Arial"/>
                <a:ea typeface="DejaVu Sans"/>
              </a:rPr>
              <a:t>Add a Composite Collider 2D component. Unity will automatically add a Rigidbody component.</a:t>
            </a:r>
            <a:endParaRPr lang="en-US" sz="1800" b="0" strike="noStrike" spc="-1">
              <a:solidFill>
                <a:srgbClr val="000000"/>
              </a:solidFill>
              <a:latin typeface="Arial"/>
            </a:endParaRPr>
          </a:p>
          <a:p>
            <a:pPr marL="216000" indent="-216000">
              <a:lnSpc>
                <a:spcPct val="150000"/>
              </a:lnSpc>
              <a:spcBef>
                <a:spcPts val="1134"/>
              </a:spcBef>
              <a:spcAft>
                <a:spcPts val="1134"/>
              </a:spcAft>
              <a:buClr>
                <a:srgbClr val="000000"/>
              </a:buClr>
              <a:buFont typeface="OpenSymbol"/>
              <a:buAutoNum type="arabicPeriod"/>
            </a:pPr>
            <a:r>
              <a:rPr lang="en-US" sz="1800" b="0" strike="noStrike" spc="-1">
                <a:solidFill>
                  <a:srgbClr val="000000"/>
                </a:solidFill>
                <a:latin typeface="Arial"/>
                <a:ea typeface="DejaVu Sans"/>
              </a:rPr>
              <a:t>In the Rigidbody component, set the body type to static.</a:t>
            </a:r>
            <a:endParaRPr lang="en-US" sz="1800" b="0" strike="noStrike" spc="-1">
              <a:solidFill>
                <a:srgbClr val="000000"/>
              </a:solidFill>
              <a:latin typeface="Arial"/>
            </a:endParaRPr>
          </a:p>
          <a:p>
            <a:pPr marL="216000" indent="-216000">
              <a:lnSpc>
                <a:spcPct val="150000"/>
              </a:lnSpc>
              <a:spcBef>
                <a:spcPts val="1134"/>
              </a:spcBef>
              <a:spcAft>
                <a:spcPts val="1134"/>
              </a:spcAft>
              <a:buClr>
                <a:srgbClr val="000000"/>
              </a:buClr>
              <a:buFont typeface="OpenSymbol"/>
              <a:buAutoNum type="arabicPeriod"/>
            </a:pPr>
            <a:r>
              <a:rPr lang="en-US" sz="1800" b="0" strike="noStrike" spc="-1">
                <a:solidFill>
                  <a:srgbClr val="000000"/>
                </a:solidFill>
                <a:latin typeface="Arial"/>
                <a:ea typeface="DejaVu Sans"/>
              </a:rPr>
              <a:t>Within the Tilemap Collider 2D, enable the "Used by Composite" checkbox.</a:t>
            </a:r>
            <a:endParaRPr lang="en-US" sz="1800" b="0" strike="noStrike" spc="-1">
              <a:solidFill>
                <a:srgbClr val="000000"/>
              </a:solidFill>
              <a:latin typeface="Arial"/>
            </a:endParaRPr>
          </a:p>
        </p:txBody>
      </p:sp>
      <p:sp>
        <p:nvSpPr>
          <p:cNvPr id="227" name="PlaceHolder 4"/>
          <p:cNvSpPr/>
          <p:nvPr/>
        </p:nvSpPr>
        <p:spPr>
          <a:xfrm>
            <a:off x="228960" y="681480"/>
            <a:ext cx="11811600" cy="70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3600" b="0" strike="noStrike" spc="-1">
                <a:solidFill>
                  <a:srgbClr val="000000"/>
                </a:solidFill>
                <a:latin typeface="Arial"/>
                <a:ea typeface="Arial"/>
              </a:rPr>
              <a:t>Practice 1 – Composite Collider</a:t>
            </a:r>
            <a:endParaRPr lang="en-US" sz="3600" b="0" strike="noStrike" spc="-1">
              <a:solidFill>
                <a:srgbClr val="000000"/>
              </a:solidFill>
              <a:latin typeface="Arial"/>
            </a:endParaRPr>
          </a:p>
        </p:txBody>
      </p:sp>
      <p:pic>
        <p:nvPicPr>
          <p:cNvPr id="228" name="Picture 227"/>
          <p:cNvPicPr/>
          <p:nvPr/>
        </p:nvPicPr>
        <p:blipFill>
          <a:blip r:embed="rId2"/>
          <a:stretch/>
        </p:blipFill>
        <p:spPr>
          <a:xfrm>
            <a:off x="9246240" y="681480"/>
            <a:ext cx="2629800" cy="5758920"/>
          </a:xfrm>
          <a:prstGeom prst="rect">
            <a:avLst/>
          </a:prstGeom>
          <a:ln w="0">
            <a:noFill/>
          </a:ln>
        </p:spPr>
      </p:pic>
      <p:sp>
        <p:nvSpPr>
          <p:cNvPr id="2" name="PlaceHolder 1"/>
          <p:cNvSpPr>
            <a:spLocks noGrp="1"/>
          </p:cNvSpPr>
          <p:nvPr>
            <p:ph type="sldNum" idx="2"/>
          </p:nvPr>
        </p:nvSpPr>
        <p:spPr/>
        <p:txBody>
          <a:bodyPr/>
          <a:lstStyle/>
          <a:p>
            <a:fld id="{5BA675F5-5E57-4854-A9DB-DB6B047AD258}" type="slidenum">
              <a:rPr/>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PlaceHolder 5"/>
          <p:cNvSpPr/>
          <p:nvPr/>
        </p:nvSpPr>
        <p:spPr>
          <a:xfrm>
            <a:off x="228960" y="681480"/>
            <a:ext cx="11811600" cy="70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3600" b="0" strike="noStrike" spc="-1">
                <a:solidFill>
                  <a:srgbClr val="000000"/>
                </a:solidFill>
                <a:latin typeface="Arial"/>
                <a:ea typeface="Arial"/>
              </a:rPr>
              <a:t>Practice 1 – Composite Collider</a:t>
            </a:r>
            <a:endParaRPr lang="en-US" sz="3600" b="0" strike="noStrike" spc="-1">
              <a:solidFill>
                <a:srgbClr val="000000"/>
              </a:solidFill>
              <a:latin typeface="Arial"/>
            </a:endParaRPr>
          </a:p>
        </p:txBody>
      </p:sp>
      <p:pic>
        <p:nvPicPr>
          <p:cNvPr id="230" name="Picture 229"/>
          <p:cNvPicPr/>
          <p:nvPr/>
        </p:nvPicPr>
        <p:blipFill>
          <a:blip r:embed="rId2"/>
          <a:stretch/>
        </p:blipFill>
        <p:spPr>
          <a:xfrm>
            <a:off x="3105000" y="2286000"/>
            <a:ext cx="5981400" cy="3634560"/>
          </a:xfrm>
          <a:prstGeom prst="rect">
            <a:avLst/>
          </a:prstGeom>
          <a:ln w="0">
            <a:noFill/>
          </a:ln>
        </p:spPr>
      </p:pic>
      <p:sp>
        <p:nvSpPr>
          <p:cNvPr id="231" name="Rectangle 230"/>
          <p:cNvSpPr/>
          <p:nvPr/>
        </p:nvSpPr>
        <p:spPr>
          <a:xfrm>
            <a:off x="457200" y="1482120"/>
            <a:ext cx="9143640" cy="601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1800" b="0" strike="noStrike" spc="-1">
                <a:solidFill>
                  <a:srgbClr val="000000"/>
                </a:solidFill>
                <a:latin typeface="Arial"/>
              </a:rPr>
              <a:t>To test, you can disable Tilemap Renderer to see green lines on the Scene Window.</a:t>
            </a:r>
          </a:p>
        </p:txBody>
      </p:sp>
      <p:sp>
        <p:nvSpPr>
          <p:cNvPr id="232" name="Rectangle 231"/>
          <p:cNvSpPr/>
          <p:nvPr/>
        </p:nvSpPr>
        <p:spPr>
          <a:xfrm>
            <a:off x="3886200" y="2960280"/>
            <a:ext cx="4343040" cy="2285640"/>
          </a:xfrm>
          <a:prstGeom prst="rect">
            <a:avLst/>
          </a:prstGeom>
          <a:noFill/>
          <a:ln w="36720">
            <a:solidFill>
              <a:srgbClr val="FF860D"/>
            </a:solidFill>
            <a:round/>
          </a:ln>
        </p:spPr>
        <p:style>
          <a:lnRef idx="0">
            <a:scrgbClr r="0" g="0" b="0"/>
          </a:lnRef>
          <a:fillRef idx="0">
            <a:scrgbClr r="0" g="0" b="0"/>
          </a:fillRef>
          <a:effectRef idx="0">
            <a:scrgbClr r="0" g="0" b="0"/>
          </a:effectRef>
          <a:fontRef idx="minor"/>
        </p:style>
        <p:txBody>
          <a:bodyPr lIns="108360" tIns="63360" rIns="108360" bIns="63360" anchor="ctr">
            <a:noAutofit/>
          </a:bodyPr>
          <a:lstStyle/>
          <a:p>
            <a:pPr>
              <a:lnSpc>
                <a:spcPct val="100000"/>
              </a:lnSpc>
            </a:pPr>
            <a:endParaRPr lang="en-US" sz="1800" b="0" strike="noStrike" spc="-1">
              <a:solidFill>
                <a:srgbClr val="000000"/>
              </a:solidFill>
              <a:latin typeface="Arial"/>
              <a:ea typeface="DejaVu Sans"/>
            </a:endParaRPr>
          </a:p>
        </p:txBody>
      </p:sp>
      <p:sp>
        <p:nvSpPr>
          <p:cNvPr id="2" name="PlaceHolder 1"/>
          <p:cNvSpPr>
            <a:spLocks noGrp="1"/>
          </p:cNvSpPr>
          <p:nvPr>
            <p:ph type="sldNum" idx="2"/>
          </p:nvPr>
        </p:nvSpPr>
        <p:spPr/>
        <p:txBody>
          <a:bodyPr/>
          <a:lstStyle/>
          <a:p>
            <a:fld id="{2B5611BC-2990-46D3-A203-B051C83C547B}" type="slidenum">
              <a:rPr/>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Rectangle 232"/>
          <p:cNvSpPr/>
          <p:nvPr/>
        </p:nvSpPr>
        <p:spPr>
          <a:xfrm>
            <a:off x="500400" y="1600200"/>
            <a:ext cx="6256440" cy="656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2000" b="0" strike="noStrike" spc="-1">
                <a:solidFill>
                  <a:srgbClr val="000000"/>
                </a:solidFill>
                <a:latin typeface="Arial"/>
              </a:rPr>
              <a:t>Add components to the Player GameObject to fall and stand on the ground:</a:t>
            </a:r>
          </a:p>
        </p:txBody>
      </p:sp>
      <p:sp>
        <p:nvSpPr>
          <p:cNvPr id="234" name="Rectangle 233"/>
          <p:cNvSpPr/>
          <p:nvPr/>
        </p:nvSpPr>
        <p:spPr>
          <a:xfrm>
            <a:off x="610560" y="721800"/>
            <a:ext cx="10972080" cy="682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3600" b="0" strike="noStrike" spc="-1" dirty="0">
                <a:solidFill>
                  <a:srgbClr val="000000"/>
                </a:solidFill>
                <a:latin typeface="Arial"/>
                <a:ea typeface="Arial"/>
              </a:rPr>
              <a:t>Practice 2 – Add Physics components to Player</a:t>
            </a:r>
            <a:endParaRPr lang="en-US" sz="3600" b="0" strike="noStrike" spc="-1" dirty="0">
              <a:solidFill>
                <a:srgbClr val="000000"/>
              </a:solidFill>
              <a:latin typeface="Arial"/>
            </a:endParaRPr>
          </a:p>
        </p:txBody>
      </p:sp>
      <p:sp>
        <p:nvSpPr>
          <p:cNvPr id="235" name="Rectangle 234"/>
          <p:cNvSpPr/>
          <p:nvPr/>
        </p:nvSpPr>
        <p:spPr>
          <a:xfrm>
            <a:off x="969840" y="2514600"/>
            <a:ext cx="5659200" cy="656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2000" b="0" strike="noStrike" spc="-1">
                <a:solidFill>
                  <a:srgbClr val="000000"/>
                </a:solidFill>
                <a:latin typeface="Arial"/>
              </a:rPr>
              <a:t>1. Go to the Prefabs folder and drag and drop Ginger (the player) onto the scene.</a:t>
            </a:r>
          </a:p>
        </p:txBody>
      </p:sp>
      <p:pic>
        <p:nvPicPr>
          <p:cNvPr id="236" name="Picture 235"/>
          <p:cNvPicPr/>
          <p:nvPr/>
        </p:nvPicPr>
        <p:blipFill>
          <a:blip r:embed="rId2"/>
          <a:stretch/>
        </p:blipFill>
        <p:spPr>
          <a:xfrm>
            <a:off x="6757200" y="1371600"/>
            <a:ext cx="5358240" cy="5028840"/>
          </a:xfrm>
          <a:prstGeom prst="rect">
            <a:avLst/>
          </a:prstGeom>
          <a:ln w="0">
            <a:noFill/>
          </a:ln>
        </p:spPr>
      </p:pic>
      <p:sp>
        <p:nvSpPr>
          <p:cNvPr id="2" name="PlaceHolder 1"/>
          <p:cNvSpPr>
            <a:spLocks noGrp="1"/>
          </p:cNvSpPr>
          <p:nvPr>
            <p:ph type="sldNum" idx="2"/>
          </p:nvPr>
        </p:nvSpPr>
        <p:spPr/>
        <p:txBody>
          <a:bodyPr/>
          <a:lstStyle/>
          <a:p>
            <a:fld id="{17A8038A-C6FA-41C8-AF83-833EC4686F3E}" type="slidenum">
              <a:rPr/>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 name="Rectangle 236"/>
          <p:cNvSpPr/>
          <p:nvPr/>
        </p:nvSpPr>
        <p:spPr>
          <a:xfrm>
            <a:off x="610560" y="721800"/>
            <a:ext cx="10972080" cy="682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3600" b="0" strike="noStrike" spc="-1">
                <a:solidFill>
                  <a:srgbClr val="000000"/>
                </a:solidFill>
                <a:latin typeface="Arial"/>
                <a:ea typeface="Arial"/>
              </a:rPr>
              <a:t>Practice 2 – Add Physics components to Player</a:t>
            </a:r>
            <a:endParaRPr lang="en-US" sz="3600" b="0" strike="noStrike" spc="-1">
              <a:solidFill>
                <a:srgbClr val="000000"/>
              </a:solidFill>
              <a:latin typeface="Arial"/>
            </a:endParaRPr>
          </a:p>
        </p:txBody>
      </p:sp>
      <p:sp>
        <p:nvSpPr>
          <p:cNvPr id="238" name="Rectangle 237"/>
          <p:cNvSpPr/>
          <p:nvPr/>
        </p:nvSpPr>
        <p:spPr>
          <a:xfrm>
            <a:off x="633240" y="1557000"/>
            <a:ext cx="10917000" cy="898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spcBef>
                <a:spcPts val="1134"/>
              </a:spcBef>
              <a:spcAft>
                <a:spcPts val="1134"/>
              </a:spcAft>
            </a:pPr>
            <a:r>
              <a:rPr lang="en-US" sz="1800" b="0" strike="noStrike" spc="-1">
                <a:solidFill>
                  <a:srgbClr val="000000"/>
                </a:solidFill>
                <a:latin typeface="Arial"/>
              </a:rPr>
              <a:t>2. Select the Ginger GameObject and add a Capsule Collider 2D component. Click Edit Collider and scale the Capsule Collider.</a:t>
            </a:r>
          </a:p>
        </p:txBody>
      </p:sp>
      <p:pic>
        <p:nvPicPr>
          <p:cNvPr id="239" name="Picture 238"/>
          <p:cNvPicPr/>
          <p:nvPr/>
        </p:nvPicPr>
        <p:blipFill>
          <a:blip r:embed="rId2"/>
          <a:stretch/>
        </p:blipFill>
        <p:spPr>
          <a:xfrm>
            <a:off x="1664280" y="3073680"/>
            <a:ext cx="2678760" cy="1955160"/>
          </a:xfrm>
          <a:prstGeom prst="rect">
            <a:avLst/>
          </a:prstGeom>
          <a:ln w="0">
            <a:noFill/>
          </a:ln>
        </p:spPr>
      </p:pic>
      <p:pic>
        <p:nvPicPr>
          <p:cNvPr id="240" name="Picture 239"/>
          <p:cNvPicPr/>
          <p:nvPr/>
        </p:nvPicPr>
        <p:blipFill>
          <a:blip r:embed="rId3"/>
          <a:stretch/>
        </p:blipFill>
        <p:spPr>
          <a:xfrm>
            <a:off x="7512840" y="2129400"/>
            <a:ext cx="2376000" cy="4271040"/>
          </a:xfrm>
          <a:prstGeom prst="rect">
            <a:avLst/>
          </a:prstGeom>
          <a:ln w="0">
            <a:noFill/>
          </a:ln>
        </p:spPr>
      </p:pic>
      <p:sp>
        <p:nvSpPr>
          <p:cNvPr id="2" name="PlaceHolder 1"/>
          <p:cNvSpPr>
            <a:spLocks noGrp="1"/>
          </p:cNvSpPr>
          <p:nvPr>
            <p:ph type="sldNum" idx="2"/>
          </p:nvPr>
        </p:nvSpPr>
        <p:spPr/>
        <p:txBody>
          <a:bodyPr/>
          <a:lstStyle/>
          <a:p>
            <a:fld id="{9CEE0185-2527-4EE9-BF56-597949CA6BE4}" type="slidenum">
              <a:rPr/>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Rectangle 240"/>
          <p:cNvSpPr/>
          <p:nvPr/>
        </p:nvSpPr>
        <p:spPr>
          <a:xfrm>
            <a:off x="610560" y="721800"/>
            <a:ext cx="10972080" cy="682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2800" b="0" strike="noStrike" spc="-1" dirty="0">
                <a:solidFill>
                  <a:srgbClr val="000000"/>
                </a:solidFill>
                <a:latin typeface="Arial"/>
                <a:ea typeface="Arial"/>
              </a:rPr>
              <a:t>Practice 2 – Add Physics components to Player</a:t>
            </a:r>
            <a:endParaRPr lang="en-US" sz="2800" b="0" strike="noStrike" spc="-1" dirty="0">
              <a:solidFill>
                <a:srgbClr val="000000"/>
              </a:solidFill>
              <a:latin typeface="Arial"/>
            </a:endParaRPr>
          </a:p>
        </p:txBody>
      </p:sp>
      <p:sp>
        <p:nvSpPr>
          <p:cNvPr id="242" name="Rectangle 241"/>
          <p:cNvSpPr/>
          <p:nvPr/>
        </p:nvSpPr>
        <p:spPr>
          <a:xfrm>
            <a:off x="633240" y="1557360"/>
            <a:ext cx="8510400" cy="1145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spcBef>
                <a:spcPts val="1134"/>
              </a:spcBef>
              <a:spcAft>
                <a:spcPts val="1134"/>
              </a:spcAft>
            </a:pPr>
            <a:r>
              <a:rPr lang="en-US" sz="1800" b="0" strike="noStrike" spc="-1">
                <a:solidFill>
                  <a:srgbClr val="000000"/>
                </a:solidFill>
                <a:latin typeface="Arial"/>
                <a:ea typeface="DejaVu Sans"/>
              </a:rPr>
              <a:t>2. Add Rigidbody 2D component to Ginger, and set Body Type is Dynamic.</a:t>
            </a:r>
            <a:endParaRPr lang="en-US" sz="1800" b="0" strike="noStrike" spc="-1">
              <a:solidFill>
                <a:srgbClr val="000000"/>
              </a:solidFill>
              <a:latin typeface="Arial"/>
            </a:endParaRPr>
          </a:p>
          <a:p>
            <a:pPr>
              <a:lnSpc>
                <a:spcPct val="150000"/>
              </a:lnSpc>
              <a:spcBef>
                <a:spcPts val="1134"/>
              </a:spcBef>
              <a:spcAft>
                <a:spcPts val="1134"/>
              </a:spcAft>
            </a:pPr>
            <a:r>
              <a:rPr lang="en-US" sz="1800" b="0" strike="noStrike" spc="-1">
                <a:solidFill>
                  <a:srgbClr val="000000"/>
                </a:solidFill>
                <a:latin typeface="Arial"/>
                <a:ea typeface="DejaVu Sans"/>
              </a:rPr>
              <a:t>3. Set Contraints - Free Rotation to true for the Rigidbody 2D component.</a:t>
            </a:r>
            <a:endParaRPr lang="en-US" sz="1800" b="0" strike="noStrike" spc="-1">
              <a:solidFill>
                <a:srgbClr val="000000"/>
              </a:solidFill>
              <a:latin typeface="Arial"/>
            </a:endParaRPr>
          </a:p>
        </p:txBody>
      </p:sp>
      <p:pic>
        <p:nvPicPr>
          <p:cNvPr id="243" name="Picture 242"/>
          <p:cNvPicPr/>
          <p:nvPr/>
        </p:nvPicPr>
        <p:blipFill>
          <a:blip r:embed="rId2"/>
          <a:stretch/>
        </p:blipFill>
        <p:spPr>
          <a:xfrm>
            <a:off x="9144000" y="645840"/>
            <a:ext cx="2918520" cy="5747400"/>
          </a:xfrm>
          <a:prstGeom prst="rect">
            <a:avLst/>
          </a:prstGeom>
          <a:ln w="0">
            <a:noFill/>
          </a:ln>
        </p:spPr>
      </p:pic>
      <p:sp>
        <p:nvSpPr>
          <p:cNvPr id="244" name="Rectangle 243"/>
          <p:cNvSpPr/>
          <p:nvPr/>
        </p:nvSpPr>
        <p:spPr>
          <a:xfrm>
            <a:off x="633240" y="4800600"/>
            <a:ext cx="8510400" cy="1145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spcBef>
                <a:spcPts val="1134"/>
              </a:spcBef>
              <a:spcAft>
                <a:spcPts val="1134"/>
              </a:spcAft>
            </a:pPr>
            <a:r>
              <a:rPr lang="en-US" sz="1800" b="0" strike="noStrike" spc="-1">
                <a:solidFill>
                  <a:srgbClr val="000000"/>
                </a:solidFill>
                <a:latin typeface="Arial"/>
                <a:ea typeface="DejaVu Sans"/>
              </a:rPr>
              <a:t>Press Play and test the falling and stading movements of Ginger.</a:t>
            </a:r>
            <a:endParaRPr lang="en-US" sz="1800" b="0" strike="noStrike" spc="-1">
              <a:solidFill>
                <a:srgbClr val="000000"/>
              </a:solidFill>
              <a:latin typeface="Arial"/>
            </a:endParaRPr>
          </a:p>
        </p:txBody>
      </p:sp>
      <p:sp>
        <p:nvSpPr>
          <p:cNvPr id="2" name="PlaceHolder 1"/>
          <p:cNvSpPr>
            <a:spLocks noGrp="1"/>
          </p:cNvSpPr>
          <p:nvPr>
            <p:ph type="sldNum" idx="2"/>
          </p:nvPr>
        </p:nvSpPr>
        <p:spPr/>
        <p:txBody>
          <a:bodyPr/>
          <a:lstStyle/>
          <a:p>
            <a:fld id="{3A756AA1-6744-4303-905C-64D8BEAF7B1E}" type="slidenum">
              <a:rPr/>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 name="Rectangle 244"/>
          <p:cNvSpPr/>
          <p:nvPr/>
        </p:nvSpPr>
        <p:spPr>
          <a:xfrm>
            <a:off x="194400" y="1455480"/>
            <a:ext cx="10826280" cy="4431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a typeface="DejaVu Sans"/>
            </a:endParaRPr>
          </a:p>
        </p:txBody>
      </p:sp>
      <p:sp>
        <p:nvSpPr>
          <p:cNvPr id="246" name="PlaceHolder 11"/>
          <p:cNvSpPr/>
          <p:nvPr/>
        </p:nvSpPr>
        <p:spPr>
          <a:xfrm>
            <a:off x="228600" y="681120"/>
            <a:ext cx="11811600" cy="70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fontScale="92500" lnSpcReduction="10000"/>
          </a:bodyPr>
          <a:lstStyle/>
          <a:p>
            <a:pPr>
              <a:lnSpc>
                <a:spcPct val="100000"/>
              </a:lnSpc>
            </a:pPr>
            <a:r>
              <a:rPr lang="en-VN" sz="4800" dirty="0"/>
              <a:t>Practice 01, Practice 02: Guideline</a:t>
            </a:r>
            <a:endParaRPr lang="en-US" sz="2400" b="0" strike="noStrike" spc="-1" dirty="0">
              <a:solidFill>
                <a:srgbClr val="000000"/>
              </a:solidFill>
              <a:latin typeface="Arial"/>
            </a:endParaRPr>
          </a:p>
        </p:txBody>
      </p:sp>
      <p:sp>
        <p:nvSpPr>
          <p:cNvPr id="247" name="Rectangle 246"/>
          <p:cNvSpPr/>
          <p:nvPr/>
        </p:nvSpPr>
        <p:spPr>
          <a:xfrm>
            <a:off x="457200" y="1724759"/>
            <a:ext cx="11201040" cy="380258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457200" indent="-457200">
              <a:buFontTx/>
              <a:buChar char="-"/>
            </a:pPr>
            <a:r>
              <a:rPr lang="en-US" sz="3200" dirty="0">
                <a:hlinkClick r:id="rId2"/>
              </a:rPr>
              <a:t>https://1drv.ms/b/c/2a5147f875e28a6c/ERZP95SyC3lKsVwUQDYOjdMB3eXIzinr_9v0AR9bzyWsjQ?e=nalZHw</a:t>
            </a:r>
            <a:endParaRPr lang="en-US" sz="3200"/>
          </a:p>
          <a:p>
            <a:pPr marL="457200" indent="-457200">
              <a:buFontTx/>
              <a:buChar char="-"/>
            </a:pPr>
            <a:endParaRPr lang="en-US" sz="3200" dirty="0"/>
          </a:p>
          <a:p>
            <a:pPr marL="457200" indent="-457200">
              <a:buFontTx/>
              <a:buChar char="-"/>
            </a:pPr>
            <a:endParaRPr lang="en-US" sz="3200" dirty="0"/>
          </a:p>
        </p:txBody>
      </p:sp>
      <p:sp>
        <p:nvSpPr>
          <p:cNvPr id="2" name="PlaceHolder 1"/>
          <p:cNvSpPr>
            <a:spLocks noGrp="1"/>
          </p:cNvSpPr>
          <p:nvPr>
            <p:ph type="sldNum" idx="2"/>
          </p:nvPr>
        </p:nvSpPr>
        <p:spPr/>
        <p:txBody>
          <a:bodyPr/>
          <a:lstStyle/>
          <a:p>
            <a:fld id="{98A29519-7F50-4034-8835-1620C5CB4E44}" type="slidenum">
              <a:rPr/>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BDB01-E598-C15D-074D-2B39C964F420}"/>
            </a:ext>
          </a:extLst>
        </p:cNvPr>
        <p:cNvGrpSpPr/>
        <p:nvPr/>
      </p:nvGrpSpPr>
      <p:grpSpPr>
        <a:xfrm>
          <a:off x="0" y="0"/>
          <a:ext cx="0" cy="0"/>
          <a:chOff x="0" y="0"/>
          <a:chExt cx="0" cy="0"/>
        </a:xfrm>
      </p:grpSpPr>
      <p:sp>
        <p:nvSpPr>
          <p:cNvPr id="245" name="Rectangle 244">
            <a:extLst>
              <a:ext uri="{FF2B5EF4-FFF2-40B4-BE49-F238E27FC236}">
                <a16:creationId xmlns:a16="http://schemas.microsoft.com/office/drawing/2014/main" id="{F650CD81-07F0-99F4-7453-0B18C313AC6A}"/>
              </a:ext>
            </a:extLst>
          </p:cNvPr>
          <p:cNvSpPr/>
          <p:nvPr/>
        </p:nvSpPr>
        <p:spPr>
          <a:xfrm>
            <a:off x="194400" y="1455480"/>
            <a:ext cx="10826280" cy="4431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a typeface="DejaVu Sans"/>
            </a:endParaRPr>
          </a:p>
        </p:txBody>
      </p:sp>
      <p:sp>
        <p:nvSpPr>
          <p:cNvPr id="246" name="PlaceHolder 11">
            <a:extLst>
              <a:ext uri="{FF2B5EF4-FFF2-40B4-BE49-F238E27FC236}">
                <a16:creationId xmlns:a16="http://schemas.microsoft.com/office/drawing/2014/main" id="{8CBDCCC8-807C-C10C-56E8-8DAF40E1E601}"/>
              </a:ext>
            </a:extLst>
          </p:cNvPr>
          <p:cNvSpPr/>
          <p:nvPr/>
        </p:nvSpPr>
        <p:spPr>
          <a:xfrm>
            <a:off x="228600" y="681120"/>
            <a:ext cx="11811600" cy="70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4000" b="1" strike="noStrike" spc="-1">
                <a:solidFill>
                  <a:srgbClr val="000000"/>
                </a:solidFill>
                <a:latin typeface="Arial"/>
                <a:ea typeface="DejaVu Sans"/>
              </a:rPr>
              <a:t>Conclusion and Next Steps</a:t>
            </a:r>
            <a:endParaRPr lang="en-US" sz="4000" b="0" strike="noStrike" spc="-1">
              <a:solidFill>
                <a:srgbClr val="000000"/>
              </a:solidFill>
              <a:latin typeface="Arial"/>
            </a:endParaRPr>
          </a:p>
        </p:txBody>
      </p:sp>
      <p:sp>
        <p:nvSpPr>
          <p:cNvPr id="247" name="Rectangle 246">
            <a:extLst>
              <a:ext uri="{FF2B5EF4-FFF2-40B4-BE49-F238E27FC236}">
                <a16:creationId xmlns:a16="http://schemas.microsoft.com/office/drawing/2014/main" id="{2CF47A53-ABD5-FBD2-86F8-483AA29EE076}"/>
              </a:ext>
            </a:extLst>
          </p:cNvPr>
          <p:cNvSpPr/>
          <p:nvPr/>
        </p:nvSpPr>
        <p:spPr>
          <a:xfrm>
            <a:off x="457200" y="1724760"/>
            <a:ext cx="11201040" cy="238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16000" indent="-216000">
              <a:lnSpc>
                <a:spcPct val="150000"/>
              </a:lnSpc>
              <a:spcBef>
                <a:spcPts val="1134"/>
              </a:spcBef>
              <a:spcAft>
                <a:spcPts val="1134"/>
              </a:spcAft>
              <a:buClr>
                <a:srgbClr val="000000"/>
              </a:buClr>
              <a:buSzPct val="45000"/>
              <a:buFont typeface="Wingdings" charset="2"/>
              <a:buChar char=""/>
            </a:pPr>
            <a:r>
              <a:rPr lang="en-US" sz="2200" b="0" strike="noStrike" spc="-1">
                <a:solidFill>
                  <a:srgbClr val="000000"/>
                </a:solidFill>
                <a:latin typeface="Arial"/>
                <a:ea typeface="DejaVu Sans"/>
              </a:rPr>
              <a:t>We explored Unity's physics engine and the vital use of colliders in collision detection. </a:t>
            </a:r>
            <a:endParaRPr lang="en-US" sz="2200" b="0" strike="noStrike" spc="-1">
              <a:solidFill>
                <a:srgbClr val="000000"/>
              </a:solidFill>
              <a:latin typeface="Arial"/>
            </a:endParaRPr>
          </a:p>
          <a:p>
            <a:pPr marL="216000" indent="-216000">
              <a:lnSpc>
                <a:spcPct val="150000"/>
              </a:lnSpc>
              <a:spcBef>
                <a:spcPts val="1134"/>
              </a:spcBef>
              <a:spcAft>
                <a:spcPts val="1134"/>
              </a:spcAft>
              <a:buClr>
                <a:srgbClr val="000000"/>
              </a:buClr>
              <a:buSzPct val="45000"/>
              <a:buFont typeface="Wingdings" charset="2"/>
              <a:buChar char=""/>
            </a:pPr>
            <a:r>
              <a:rPr lang="en-US" sz="2200" b="0" strike="noStrike" spc="-1">
                <a:solidFill>
                  <a:srgbClr val="000000"/>
                </a:solidFill>
                <a:latin typeface="Arial"/>
                <a:ea typeface="DejaVu Sans"/>
              </a:rPr>
              <a:t>Understanding the importance of physics in gaming.</a:t>
            </a:r>
            <a:endParaRPr lang="en-US" sz="2200" b="0" strike="noStrike" spc="-1">
              <a:solidFill>
                <a:srgbClr val="000000"/>
              </a:solidFill>
              <a:latin typeface="Arial"/>
            </a:endParaRPr>
          </a:p>
          <a:p>
            <a:pPr marL="216000" indent="-216000">
              <a:lnSpc>
                <a:spcPct val="150000"/>
              </a:lnSpc>
              <a:spcBef>
                <a:spcPts val="1134"/>
              </a:spcBef>
              <a:spcAft>
                <a:spcPts val="1134"/>
              </a:spcAft>
              <a:buClr>
                <a:srgbClr val="000000"/>
              </a:buClr>
              <a:buSzPct val="45000"/>
              <a:buFont typeface="Wingdings" charset="2"/>
              <a:buChar char=""/>
            </a:pPr>
            <a:r>
              <a:rPr lang="en-US" sz="2200" b="0" strike="noStrike" spc="-1">
                <a:solidFill>
                  <a:srgbClr val="000000"/>
                </a:solidFill>
                <a:latin typeface="Arial"/>
                <a:ea typeface="DejaVu Sans"/>
              </a:rPr>
              <a:t>Covered key concepts and practical implementations, providing a foundational understanding for creating engaging experiences while emphasizing best practices in Unity's physics integration.</a:t>
            </a:r>
            <a:endParaRPr lang="en-US" sz="2200" b="0" strike="noStrike" spc="-1">
              <a:solidFill>
                <a:srgbClr val="000000"/>
              </a:solidFill>
              <a:latin typeface="Arial"/>
            </a:endParaRPr>
          </a:p>
        </p:txBody>
      </p:sp>
      <p:sp>
        <p:nvSpPr>
          <p:cNvPr id="2" name="PlaceHolder 1">
            <a:extLst>
              <a:ext uri="{FF2B5EF4-FFF2-40B4-BE49-F238E27FC236}">
                <a16:creationId xmlns:a16="http://schemas.microsoft.com/office/drawing/2014/main" id="{CCED1E15-3E05-9C5A-7D5E-8470C3B14A1E}"/>
              </a:ext>
            </a:extLst>
          </p:cNvPr>
          <p:cNvSpPr>
            <a:spLocks noGrp="1"/>
          </p:cNvSpPr>
          <p:nvPr>
            <p:ph type="sldNum" idx="2"/>
          </p:nvPr>
        </p:nvSpPr>
        <p:spPr/>
        <p:txBody>
          <a:bodyPr/>
          <a:lstStyle/>
          <a:p>
            <a:fld id="{98A29519-7F50-4034-8835-1620C5CB4E44}" type="slidenum">
              <a:rPr/>
              <a:t>34</a:t>
            </a:fld>
            <a:endParaRPr/>
          </a:p>
        </p:txBody>
      </p:sp>
    </p:spTree>
    <p:extLst>
      <p:ext uri="{BB962C8B-B14F-4D97-AF65-F5344CB8AC3E}">
        <p14:creationId xmlns:p14="http://schemas.microsoft.com/office/powerpoint/2010/main" val="38998261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 name="Rectangle 247"/>
          <p:cNvSpPr/>
          <p:nvPr/>
        </p:nvSpPr>
        <p:spPr>
          <a:xfrm>
            <a:off x="194400" y="1455480"/>
            <a:ext cx="10826280" cy="4431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a typeface="DejaVu Sans"/>
            </a:endParaRPr>
          </a:p>
        </p:txBody>
      </p:sp>
      <p:sp>
        <p:nvSpPr>
          <p:cNvPr id="249" name="PlaceHolder 12"/>
          <p:cNvSpPr/>
          <p:nvPr/>
        </p:nvSpPr>
        <p:spPr>
          <a:xfrm>
            <a:off x="228600" y="681120"/>
            <a:ext cx="11811600" cy="70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marL="233280">
              <a:lnSpc>
                <a:spcPct val="90000"/>
              </a:lnSpc>
              <a:tabLst>
                <a:tab pos="0" algn="l"/>
              </a:tabLst>
            </a:pPr>
            <a:r>
              <a:rPr lang="en-US" sz="4000" b="1" strike="noStrike" spc="-1">
                <a:solidFill>
                  <a:srgbClr val="000000"/>
                </a:solidFill>
                <a:latin typeface="Arial"/>
                <a:ea typeface="DejaVu Sans"/>
              </a:rPr>
              <a:t>References</a:t>
            </a:r>
            <a:endParaRPr lang="en-US" sz="4000" b="0" strike="noStrike" spc="-1">
              <a:solidFill>
                <a:srgbClr val="000000"/>
              </a:solidFill>
              <a:latin typeface="Arial"/>
            </a:endParaRPr>
          </a:p>
        </p:txBody>
      </p:sp>
      <p:sp>
        <p:nvSpPr>
          <p:cNvPr id="250" name="Rectangle 249"/>
          <p:cNvSpPr/>
          <p:nvPr/>
        </p:nvSpPr>
        <p:spPr>
          <a:xfrm>
            <a:off x="507960" y="1921680"/>
            <a:ext cx="11369520" cy="2640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1800" b="0" strike="noStrike" spc="-1">
                <a:solidFill>
                  <a:srgbClr val="000000"/>
                </a:solidFill>
                <a:latin typeface="Arial"/>
                <a:ea typeface="DejaVu Sans"/>
              </a:rPr>
              <a:t>1: Hocking, Joseph; Schell, Jesse, Unity in action: multiplatform game development in C#, 2022</a:t>
            </a:r>
            <a:endParaRPr lang="en-US" sz="1800" b="0" strike="noStrike" spc="-1">
              <a:solidFill>
                <a:srgbClr val="000000"/>
              </a:solidFill>
              <a:latin typeface="Arial"/>
            </a:endParaRPr>
          </a:p>
          <a:p>
            <a:pPr>
              <a:lnSpc>
                <a:spcPct val="100000"/>
              </a:lnSpc>
            </a:pPr>
            <a:endParaRPr lang="en-US" sz="1800" b="0" strike="noStrike" spc="-1">
              <a:solidFill>
                <a:srgbClr val="000000"/>
              </a:solidFill>
              <a:latin typeface="Arial"/>
            </a:endParaRPr>
          </a:p>
          <a:p>
            <a:pPr>
              <a:lnSpc>
                <a:spcPct val="100000"/>
              </a:lnSpc>
            </a:pPr>
            <a:r>
              <a:rPr lang="en-US" sz="1800" b="0" strike="noStrike" spc="-1">
                <a:solidFill>
                  <a:srgbClr val="000000"/>
                </a:solidFill>
                <a:latin typeface="Arial"/>
                <a:ea typeface="DejaVu Sans"/>
              </a:rPr>
              <a:t>3: Geig, Mike, Sams teach yourself Unity Game development in 24 hours, 2014</a:t>
            </a:r>
            <a:endParaRPr lang="en-US" sz="1800" b="0" strike="noStrike" spc="-1">
              <a:solidFill>
                <a:srgbClr val="000000"/>
              </a:solidFill>
              <a:latin typeface="Arial"/>
            </a:endParaRPr>
          </a:p>
          <a:p>
            <a:pPr>
              <a:lnSpc>
                <a:spcPct val="100000"/>
              </a:lnSpc>
            </a:pPr>
            <a:endParaRPr lang="en-US" sz="1800" b="0" strike="noStrike" spc="-1">
              <a:solidFill>
                <a:srgbClr val="000000"/>
              </a:solidFill>
              <a:latin typeface="Arial"/>
            </a:endParaRPr>
          </a:p>
          <a:p>
            <a:pPr>
              <a:lnSpc>
                <a:spcPct val="100000"/>
              </a:lnSpc>
            </a:pPr>
            <a:r>
              <a:rPr lang="en-US" sz="1800" b="0" strike="noStrike" spc="-1">
                <a:solidFill>
                  <a:srgbClr val="000000"/>
                </a:solidFill>
                <a:latin typeface="Arial"/>
                <a:ea typeface="DejaVu Sans"/>
              </a:rPr>
              <a:t>6: Gibson Bond, Jeremy, Introduction to Game Design, Prototyping, and Development: From Concept to Playable Game with Unity and C, </a:t>
            </a:r>
            <a:endParaRPr lang="en-US" sz="1800" b="0" strike="noStrike" spc="-1">
              <a:solidFill>
                <a:srgbClr val="000000"/>
              </a:solidFill>
              <a:latin typeface="Arial"/>
            </a:endParaRPr>
          </a:p>
          <a:p>
            <a:pPr>
              <a:lnSpc>
                <a:spcPct val="100000"/>
              </a:lnSpc>
            </a:pPr>
            <a:endParaRPr lang="en-US" sz="1800" b="0" strike="noStrike" spc="-1">
              <a:solidFill>
                <a:srgbClr val="000000"/>
              </a:solidFill>
              <a:latin typeface="Arial"/>
            </a:endParaRPr>
          </a:p>
          <a:p>
            <a:pPr>
              <a:lnSpc>
                <a:spcPct val="100000"/>
              </a:lnSpc>
            </a:pPr>
            <a:r>
              <a:rPr lang="en-US" sz="1800" b="0" strike="noStrike" spc="-1">
                <a:solidFill>
                  <a:srgbClr val="000000"/>
                </a:solidFill>
                <a:latin typeface="Arial"/>
                <a:ea typeface="DejaVu Sans"/>
              </a:rPr>
              <a:t>8: Unity Technologies, Unity Manual, 2023</a:t>
            </a:r>
            <a:endParaRPr lang="en-US" sz="1800" b="0" strike="noStrike" spc="-1">
              <a:solidFill>
                <a:srgbClr val="000000"/>
              </a:solidFill>
              <a:latin typeface="Arial"/>
            </a:endParaRPr>
          </a:p>
          <a:p>
            <a:pPr>
              <a:lnSpc>
                <a:spcPct val="100000"/>
              </a:lnSpc>
            </a:pPr>
            <a:endParaRPr lang="en-US" sz="1800" b="0" strike="noStrike" spc="-1">
              <a:solidFill>
                <a:srgbClr val="000000"/>
              </a:solidFill>
              <a:latin typeface="Arial"/>
            </a:endParaRPr>
          </a:p>
          <a:p>
            <a:pPr>
              <a:lnSpc>
                <a:spcPct val="100000"/>
              </a:lnSpc>
            </a:pPr>
            <a:r>
              <a:rPr lang="en-US" sz="1800" b="0" strike="noStrike" spc="-1">
                <a:solidFill>
                  <a:srgbClr val="000000"/>
                </a:solidFill>
                <a:latin typeface="Arial"/>
                <a:ea typeface="DejaVu Sans"/>
              </a:rPr>
              <a:t>10: Goldstone Will, Unity 3.x game development essentials, 2011</a:t>
            </a:r>
            <a:endParaRPr lang="en-US" sz="1800" b="0" strike="noStrike" spc="-1">
              <a:solidFill>
                <a:srgbClr val="000000"/>
              </a:solidFill>
              <a:latin typeface="Arial"/>
            </a:endParaRPr>
          </a:p>
        </p:txBody>
      </p:sp>
      <p:sp>
        <p:nvSpPr>
          <p:cNvPr id="2" name="PlaceHolder 1"/>
          <p:cNvSpPr>
            <a:spLocks noGrp="1"/>
          </p:cNvSpPr>
          <p:nvPr>
            <p:ph type="sldNum" idx="2"/>
          </p:nvPr>
        </p:nvSpPr>
        <p:spPr/>
        <p:txBody>
          <a:bodyPr/>
          <a:lstStyle/>
          <a:p>
            <a:fld id="{FC1F6C11-4231-47D4-ADEC-E7634990B5EE}" type="slidenum">
              <a:rPr/>
              <a:t>35</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3712</TotalTime>
  <Words>4182</Words>
  <Application>Microsoft Macintosh PowerPoint</Application>
  <PresentationFormat>Widescreen</PresentationFormat>
  <Paragraphs>310</Paragraphs>
  <Slides>35</Slides>
  <Notes>18</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35</vt:i4>
      </vt:variant>
    </vt:vector>
  </HeadingPairs>
  <TitlesOfParts>
    <vt:vector size="44" baseType="lpstr">
      <vt:lpstr>Arial</vt:lpstr>
      <vt:lpstr>Calibri</vt:lpstr>
      <vt:lpstr>OpenSymbol</vt:lpstr>
      <vt:lpstr>Symbol</vt:lpstr>
      <vt:lpstr>Times New Roman</vt:lpstr>
      <vt:lpstr>Wingdings</vt:lpstr>
      <vt:lpstr>Office Theme</vt:lpstr>
      <vt:lpstr>Office Theme</vt:lpstr>
      <vt:lpstr>Office Theme</vt:lpstr>
      <vt:lpstr>Introduction to Physics and Colliders</vt:lpstr>
      <vt:lpstr>Learning Objectives</vt:lpstr>
      <vt:lpstr>PowerPoint Presentation</vt:lpstr>
      <vt:lpstr>PowerPoint Presentation</vt:lpstr>
      <vt:lpstr>2D physics</vt:lpstr>
      <vt:lpstr>Introduction to Rigidbody 2D</vt:lpstr>
      <vt:lpstr>Rigidbody 2D body types</vt:lpstr>
      <vt:lpstr>Rigidbody 2D properties: Simulated</vt:lpstr>
      <vt:lpstr>Rigidbody 2D</vt:lpstr>
      <vt:lpstr>Collider 2D</vt:lpstr>
      <vt:lpstr>Collider 2D types</vt:lpstr>
      <vt:lpstr>Circle Collider 2D</vt:lpstr>
      <vt:lpstr>Box Collider 2D</vt:lpstr>
      <vt:lpstr>Capsule Collider 2D</vt:lpstr>
      <vt:lpstr>Composite Collider 2D</vt:lpstr>
      <vt:lpstr>Tilemap Collider 2D</vt:lpstr>
      <vt:lpstr>Tilemap and Composite Colliders</vt:lpstr>
      <vt:lpstr>Collider 2D and Interaction</vt:lpstr>
      <vt:lpstr>Collision Detection Basics</vt:lpstr>
      <vt:lpstr>Handling Collisions - OnCollisionEnter Method</vt:lpstr>
      <vt:lpstr>Trigger Collisions and OnTriggerEnter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Trí Phạm Thanh</dc:creator>
  <dc:description/>
  <cp:lastModifiedBy>Hung Lai</cp:lastModifiedBy>
  <cp:revision>166</cp:revision>
  <dcterms:created xsi:type="dcterms:W3CDTF">2023-12-04T12:54:16Z</dcterms:created>
  <dcterms:modified xsi:type="dcterms:W3CDTF">2026-01-21T11:29:16Z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epartment">
    <vt:lpwstr>FE FPTU HCM</vt:lpwstr>
  </property>
  <property fmtid="{D5CDD505-2E9C-101B-9397-08002B2CF9AE}" pid="3" name="PresentationFormat">
    <vt:lpwstr>Widescreen</vt:lpwstr>
  </property>
  <property fmtid="{D5CDD505-2E9C-101B-9397-08002B2CF9AE}" pid="4" name="Slides">
    <vt:r8>27</vt:r8>
  </property>
</Properties>
</file>